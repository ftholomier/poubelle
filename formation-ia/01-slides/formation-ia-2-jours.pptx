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d'accueil, projetée pendant que les participants s'installent. Se présenter en une minute maximum : votre légitimité viendra des ateliers, pas de votre CV.</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Annoncez le ratio : plus de la moitié du temps, ce sont eux qui manipulent. Prévenez aussi que la journée 1 est plus dense en explications et la journée 2 plus dense en pratique — pour que personne ne décroche le premier après-midi.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Posez ces trois règles debout, en deux minutes. La troisième est la plus importante : un débutant qui n'ose pas demander ce qu'est un token décrochera pour la journée.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Cinq minutes maximum, chronomètre en main. L'objectif n'est pas de faire connaissance mais de calibrer votre niveau de langage pour les deux jours. Notez aussi qui est réticent : vous irez le chercher au premier atelier.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brise-glace le plus efficace de la formation. Il fait rire, il détend, et il pose le sujet des hallucinations par l'expérience plutôt que par un avertissement que personne n'écoute. Choisissez d'abord quelqu'un qui a l'air à l'aise.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Trois questions, posées à la salle, sans donner la réponse. Elles installent le besoin du schéma qui suit. Ne répondez pas : enchaînez sur l'infographie.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Prenez le temps : c'est le schéma le plus important de la journée 1. Faites-le lire de l'extérieur vers l'intérieur. Insistez sur le fait qu'un thermostat intelligent est une IA — cela désamorce beaucoup de fantasmes.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Marquez un silence après avoir dit cette phrase. C'est le pivot de toute la formation : tout ce qui suit — les hallucinations, l'art du prompt, les limites — en découle.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Cinq minutes, et c'est le moment où les visages se détendent. Faites lire deux ou trois phrases : elles sont souvent drôles. La bascule pédagogique se joue ici, pas dans les slides.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Trois étapes, trois arrêts. Sur l'étape 2, insistez sur le mot « probable » et non « vrai ». Sur l'étape 3, faites remarquer que le modèle relit toute la phrase à chaque mot — c'est ce qui explique les temps de réponse et les coûts.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 faites pas apprendre ces mots : faites-les reconnaître. Ils reviendront dans les ateliers, c'est là qu'ils s'ancreront. Le seul qui compte vraiment aujourd'hui est le dernier.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LA slide à ne pas bâcler. Reliez-la à l'atelier 1 du matin : la biographie inventée n'était pas un dysfonctionnement, c'était la machine faisant exactement son travail.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Racontez, ne lisez pas. Trois arrêts : Dartmouth en 1956 pour la promesse initiale, les deux hivers pour la prudence, 2017 pour le vrai point de bascule.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fonction de cet acte est de vacciner contre l'emballement. Dites-le franchement : on a déjà annoncé deux fois que tout allait changer, et deux fois ce fut faux.</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vous ne devez retenir qu'une date à faire retenir, c'est 2017. Notez que dix ans séparent la percée technique de sa diffusion : c'est le délai habituel, et il explique pourquoi l'impression de soudaineté est une illusion.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Terminez sur le dernier point : beaucoup de participants ont déjà de l'IA dans leur messagerie ou leur suite bureautique sans le savoir. Demandez qui a remarqué un bouton nouveau ces derniers mois.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de respiration avant la pause ou l'atelier. Laissez la phrase à l'écran pendant le débat qui suivra forcément.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Circulez pendant l'atelier et repérez deux réponses très différentes à projeter au débrief. Si un participant est bloqué sur la création de compte, mettez-le en binôme immédiatement plutôt que de dépanner.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l'atelier le plus important de la journée 1. Ne le raccourcissez pas si vous avez pris du retard : coupez plutôt dans l'histoire. Un participant qui a vérifié lui-même une erreur ne l'oubliera plus.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Construisez ce tableau AVEC la salle plutôt que de le projeter. Ce qui est écrit ici est votre filet de sécurité si le groupe sèche.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Faites l'exercice en direct sur le vidéoprojecteur : tapez vraiment le prompt paresseux, montrez la réponse tiède, puis la version complète. La comparaison à l'écran vaut tous les arguments.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schéma central de la journée. Construisez-le lettre par lettre avec la salle plutôt que de le projeter d'un coup : demandez à un participant de donner son cas, et remplissez les six lignes en direct.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Une lettre, un exemple, on avance. Ne théorisez pas : les participants retiendront l'acronyme par l'atelier, pas par l'explication.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Insistez sur le N : c'est la lettre que tout le monde oublie et celle qui supprime le plus de réécriture. Faites donner trois interdits par la salle.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Choisissez-en deux à démontrer en direct selon le public : « donnez des exemples » et « imposez le format » sont les plus universelles.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Démontrez-le tout de suite, sur un cas de la salle. C'est souvent le moment de la formation dont les participants reparlent le lendemain matin.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Passez dans les rangs : la faute la plus fréquente est d'oublier l'Audience et les Négations. Gardez deux exemples spectaculaires pour la restitution.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Commencez par le bloc barré en bas à gauche : dites franchement que tout ce qui est rayé sera faux dans six mois, et que c'est pour cela qu'on ne construira pas le choix là-dessus.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Faites voter la salle : « qui pense que la question 1 est bloquante chez vous ? ». Dans une PME, la réponse est souvent non — dans le public ou la santé, souvent oui.</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 citez des noms de modèles que si on vous le demande, et prévenez à chaque fois que la version aura changé. L'important est la famille, pas le nom.</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le groupe vient d'une seule entreprise, remplacez Sophie, Marc et Nadia par trois collègues réels de leur maison. C'est encore plus efficace. Personne n'a besoin de connaître l'informatique pour faire cet atelier : ils conseillent quelqu'un, c'est tout.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Faites-leur classer trois documents qu'ils ont réellement sous la main. Le débat sur ce qui est orange et ce qui est rouge est le cœur de la séquence.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Faites-le vraiment faire, écran par écran. C'est une action concrète, immédiate, et elle rassure les participants les plus inquiets.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Passage très apprécié des dirigeants et des fonctions support. Dites clairement que l'obligation est peu connue des PME et que la formation coche la case.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Terminez sur la responsabilité : c'est la phrase que les participants répéteront à leurs collègues, et elle vaut mieux que dix interdits.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Quinze minutes, dont cinq de lecture. Ne sautez pas la lecture à voix haute : l'engagement public vaut dix fois l'engagement écrit.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Facultatif, et dites-le. Mais annoncez que la journée 2 commencera par ce tour de table : en pratique, les trois quarts le feront.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Trente minutes, c'est beaucoup et c'est voulu. Ce tour de table rattrape ceux qui ont décroché la veille et donne le ton pratique de la journée.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la démonstration dont ils parleront le soir à la maison. Prévoyez du temps : la génération du podcast prend quelques minutes, lancez-la avant d'expliquer le reste.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L'atelier le plus visuel de la journée. Le home staging fait toujours son effet auprès des métiers de l'immobilier, du commerce et de la communication.</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Court, dix minutes maximum. C'est surtout un changement de perception : beaucoup de participants n'ont jamais essayé et découvrent un usage en mobilité.</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moment de rire de la journée, et une transition naturelle vers la question des droits d'auteur. Ne dépassez pas dix minutes.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Placez cet outil après NotebookLM : les deux reposent sur la même idée — ancrer la réponse dans des documents réels — et le rapprochement fait comprendre le principe.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 lancez pas de génération en direct : trop long, trop aléatoire. Préparez vos exemples à l'avance et vérifiez qu'ils passent bien sur la sono de la salle.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Reliez explicitement à C.O.P.A.I.N. : les instructions d'un assistant sont un prompt COPAIN qu'on écrit une fois pour toutes. C'est ce lien qui rend l'atelier accessible.</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Montrez la création en direct, écran partagé, sur un cas donné par la salle. Cinq minutes suffisent — l'important est qu'ils voient que ce n'est pas technique.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L'atelier phare de la journée 2. Prévoyez un assistant en salle si vous êtes seul : à douze participants, vous ne dépannerez pas tout le monde. Gardez dix minutes pour la restitution croisée.</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Faites situer chaque participant : « à quelle marche êtes-vous ce matin ? ». La plupart sont entre 1 et 2 après l'atelier précédent — dites-le, c'est rassurant.</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Simplifiez sans complexe : quatre cases suffisent à des débutants. Le schéma exhaustif de l'IA agentique est illisible en salle.</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Préparez le scénario à l'avance et testez-le le matin même. Une démonstration qui plante sur une intégration détruit la crédibilité de toute la séquence.</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Cinq minutes de démonstration, pas plus. Le message n'est pas « devenez développeur » mais « le coût d'essayer une idée a chuté ».</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Projetez la grille pendant tout l'atelier qui suit. Les participants ont la même en page dédiée dans leur cahier d'exercices.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Insistez au démarrage : ne pas se demander si c'est techniquement faisable. Cette question tue l'exercice en deux minutes. Le comment viendra après.</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de clôture de séquence. Le dernier argument est important : les garde-fous ne freinent pas le déploiement, ils l'autorisent.</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Annoncez le niveau de confiance : élevé. Ces quatre points sont des prolongements de tendances déjà engagées, pas des paris.</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Ton juste : ni catastrophiste ni promotionnel. Beaucoup de participants ont une inquiétude réelle sur leur emploi. La reconnaître explicitement vaut mieux que l'esquiver — et l'honnêteté vous fait gagner la salle.</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Dites explicitement « je ne sais pas ». C'est plus crédible que n'importe quelle courbe, et cela vous distingue de tous les discours qu'ils entendent par ailleurs.</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tour de lecture final est essentiel : c'est là que se nouent les engagements croisés. Ne le sacrifiez pas si vous avez du retard, coupez plutôt l'horizon 3.</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dernier point est celui qu'on oublie systématiquement. Donnez un exemple concret d'une limite qui a sauté au cours des douze derniers mois.</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Générez le quiz devant eux à partir de vos propres supports : ils viennent de passer deux jours à apprendre l'outil qui fabrique leur examen. C'est la meilleure démonstration possible, et elle ne coûte rien.</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Distribuez le kit maintenant et pas avant : remis en début de formation, il détourne l'attention pendant les séquences. Rappelez l'attestation et l'article 4.</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Restez dix minutes après la fin : c'est là que se posent les questions individuelles, et souvent que se décident les missions de suite.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2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3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4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5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777240" y="1371600"/>
            <a:ext cx="2011680" cy="54864"/>
          </a:xfrm>
          <a:prstGeom prst="rect">
            <a:avLst/>
          </a:prstGeom>
          <a:solidFill>
            <a:srgbClr val="0B6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822960"/>
            <a:ext cx="10637215" cy="274320"/>
          </a:xfrm>
          <a:prstGeom prst="rect">
            <a:avLst/>
          </a:prstGeom>
          <a:noFill/>
        </p:spPr>
        <p:txBody>
          <a:bodyPr wrap="square" lIns="0" rIns="0" tIns="0" bIns="0" anchor="t">
            <a:spAutoFit/>
          </a:bodyPr>
          <a:lstStyle/>
          <a:p>
            <a:pPr algn="l">
              <a:lnSpc>
                <a:spcPct val="112000"/>
              </a:lnSpc>
              <a:spcAft>
                <a:spcPts val="0"/>
              </a:spcAft>
            </a:pPr>
            <a:r>
              <a:rPr sz="1100" b="1" i="0" spc="180">
                <a:solidFill>
                  <a:srgbClr val="8A959D"/>
                </a:solidFill>
                <a:latin typeface="Consolas"/>
              </a:rPr>
              <a:t>FORMATION · NIVEAU DÉBUTANT</a:t>
            </a:r>
          </a:p>
        </p:txBody>
      </p:sp>
      <p:sp>
        <p:nvSpPr>
          <p:cNvPr id="5" name="TextBox 4"/>
          <p:cNvSpPr txBox="1"/>
          <p:nvPr/>
        </p:nvSpPr>
        <p:spPr>
          <a:xfrm>
            <a:off x="777240" y="1783080"/>
            <a:ext cx="9692640" cy="2194560"/>
          </a:xfrm>
          <a:prstGeom prst="rect">
            <a:avLst/>
          </a:prstGeom>
          <a:noFill/>
        </p:spPr>
        <p:txBody>
          <a:bodyPr wrap="square" lIns="0" rIns="0" tIns="0" bIns="0" anchor="t">
            <a:spAutoFit/>
          </a:bodyPr>
          <a:lstStyle/>
          <a:p>
            <a:pPr algn="l">
              <a:lnSpc>
                <a:spcPct val="92000"/>
              </a:lnSpc>
              <a:spcAft>
                <a:spcPts val="0"/>
              </a:spcAft>
            </a:pPr>
            <a:r>
              <a:rPr sz="5800" b="1" i="0">
                <a:solidFill>
                  <a:srgbClr val="FFFFFF"/>
                </a:solidFill>
                <a:latin typeface="Trebuchet MS"/>
              </a:rPr>
              <a:t>Deux jours pour</a:t>
            </a:r>
          </a:p>
          <a:p>
            <a:pPr algn="l">
              <a:lnSpc>
                <a:spcPct val="92000"/>
              </a:lnSpc>
              <a:spcAft>
                <a:spcPts val="0"/>
              </a:spcAft>
            </a:pPr>
            <a:r>
              <a:rPr sz="5800" b="1" i="0">
                <a:solidFill>
                  <a:srgbClr val="FFFFFF"/>
                </a:solidFill>
                <a:latin typeface="Trebuchet MS"/>
              </a:rPr>
              <a:t>apprivoiser l'IA</a:t>
            </a:r>
          </a:p>
        </p:txBody>
      </p:sp>
      <p:sp>
        <p:nvSpPr>
          <p:cNvPr id="6" name="TextBox 5"/>
          <p:cNvSpPr txBox="1"/>
          <p:nvPr/>
        </p:nvSpPr>
        <p:spPr>
          <a:xfrm>
            <a:off x="777240" y="4160520"/>
            <a:ext cx="7863840" cy="914400"/>
          </a:xfrm>
          <a:prstGeom prst="rect">
            <a:avLst/>
          </a:prstGeom>
          <a:noFill/>
        </p:spPr>
        <p:txBody>
          <a:bodyPr wrap="square" lIns="0" rIns="0" tIns="0" bIns="0" anchor="t">
            <a:spAutoFit/>
          </a:bodyPr>
          <a:lstStyle/>
          <a:p>
            <a:pPr algn="l">
              <a:lnSpc>
                <a:spcPct val="130000"/>
              </a:lnSpc>
              <a:spcAft>
                <a:spcPts val="0"/>
              </a:spcAft>
            </a:pPr>
            <a:r>
              <a:rPr sz="1900" b="0" i="0">
                <a:solidFill>
                  <a:srgbClr val="A8B4BC"/>
                </a:solidFill>
                <a:latin typeface="Calibri"/>
              </a:rPr>
              <a:t>Comprendre ce que c'est, savoir lui parler, s'en servir tous les jours</a:t>
            </a:r>
          </a:p>
          <a:p>
            <a:pPr algn="l">
              <a:lnSpc>
                <a:spcPct val="130000"/>
              </a:lnSpc>
              <a:spcAft>
                <a:spcPts val="0"/>
              </a:spcAft>
            </a:pPr>
            <a:r>
              <a:rPr sz="1900" b="0" i="0">
                <a:solidFill>
                  <a:srgbClr val="A8B4BC"/>
                </a:solidFill>
                <a:latin typeface="Calibri"/>
              </a:rPr>
              <a:t>— et savoir ce qu'il ne faut jamais lui confier.</a:t>
            </a:r>
          </a:p>
        </p:txBody>
      </p:sp>
      <p:sp>
        <p:nvSpPr>
          <p:cNvPr id="7" name="TextBox 6"/>
          <p:cNvSpPr txBox="1"/>
          <p:nvPr/>
        </p:nvSpPr>
        <p:spPr>
          <a:xfrm>
            <a:off x="777240" y="5532120"/>
            <a:ext cx="2468880" cy="228600"/>
          </a:xfrm>
          <a:prstGeom prst="rect">
            <a:avLst/>
          </a:prstGeom>
          <a:noFill/>
        </p:spPr>
        <p:txBody>
          <a:bodyPr wrap="square" lIns="0" rIns="0" tIns="0" bIns="0" anchor="t">
            <a:spAutoFit/>
          </a:bodyPr>
          <a:lstStyle/>
          <a:p>
            <a:pPr algn="l">
              <a:lnSpc>
                <a:spcPct val="112000"/>
              </a:lnSpc>
              <a:spcAft>
                <a:spcPts val="0"/>
              </a:spcAft>
            </a:pPr>
            <a:r>
              <a:rPr sz="950" b="1" i="0" spc="140">
                <a:solidFill>
                  <a:srgbClr val="8A959D"/>
                </a:solidFill>
                <a:latin typeface="Consolas"/>
              </a:rPr>
              <a:t>DURÉE</a:t>
            </a:r>
          </a:p>
        </p:txBody>
      </p:sp>
      <p:sp>
        <p:nvSpPr>
          <p:cNvPr id="8" name="TextBox 7"/>
          <p:cNvSpPr txBox="1"/>
          <p:nvPr/>
        </p:nvSpPr>
        <p:spPr>
          <a:xfrm>
            <a:off x="777240" y="5806440"/>
            <a:ext cx="2468880" cy="365760"/>
          </a:xfrm>
          <a:prstGeom prst="rect">
            <a:avLst/>
          </a:prstGeom>
          <a:noFill/>
        </p:spPr>
        <p:txBody>
          <a:bodyPr wrap="square" lIns="0" rIns="0" tIns="0" bIns="0" anchor="t">
            <a:spAutoFit/>
          </a:bodyPr>
          <a:lstStyle/>
          <a:p>
            <a:pPr algn="l">
              <a:lnSpc>
                <a:spcPct val="112000"/>
              </a:lnSpc>
              <a:spcAft>
                <a:spcPts val="0"/>
              </a:spcAft>
            </a:pPr>
            <a:r>
              <a:rPr sz="1700" b="1" i="0">
                <a:solidFill>
                  <a:srgbClr val="FFFFFF"/>
                </a:solidFill>
                <a:latin typeface="Trebuchet MS"/>
              </a:rPr>
              <a:t>2 jours · 13 h 30</a:t>
            </a:r>
          </a:p>
        </p:txBody>
      </p:sp>
      <p:sp>
        <p:nvSpPr>
          <p:cNvPr id="9" name="TextBox 8"/>
          <p:cNvSpPr txBox="1"/>
          <p:nvPr/>
        </p:nvSpPr>
        <p:spPr>
          <a:xfrm>
            <a:off x="3474720" y="5532120"/>
            <a:ext cx="2468880" cy="228600"/>
          </a:xfrm>
          <a:prstGeom prst="rect">
            <a:avLst/>
          </a:prstGeom>
          <a:noFill/>
        </p:spPr>
        <p:txBody>
          <a:bodyPr wrap="square" lIns="0" rIns="0" tIns="0" bIns="0" anchor="t">
            <a:spAutoFit/>
          </a:bodyPr>
          <a:lstStyle/>
          <a:p>
            <a:pPr algn="l">
              <a:lnSpc>
                <a:spcPct val="112000"/>
              </a:lnSpc>
              <a:spcAft>
                <a:spcPts val="0"/>
              </a:spcAft>
            </a:pPr>
            <a:r>
              <a:rPr sz="950" b="1" i="0" spc="140">
                <a:solidFill>
                  <a:srgbClr val="8A959D"/>
                </a:solidFill>
                <a:latin typeface="Consolas"/>
              </a:rPr>
              <a:t>FORMAT</a:t>
            </a:r>
          </a:p>
        </p:txBody>
      </p:sp>
      <p:sp>
        <p:nvSpPr>
          <p:cNvPr id="10" name="TextBox 9"/>
          <p:cNvSpPr txBox="1"/>
          <p:nvPr/>
        </p:nvSpPr>
        <p:spPr>
          <a:xfrm>
            <a:off x="3474720" y="5806440"/>
            <a:ext cx="2468880" cy="365760"/>
          </a:xfrm>
          <a:prstGeom prst="rect">
            <a:avLst/>
          </a:prstGeom>
          <a:noFill/>
        </p:spPr>
        <p:txBody>
          <a:bodyPr wrap="square" lIns="0" rIns="0" tIns="0" bIns="0" anchor="t">
            <a:spAutoFit/>
          </a:bodyPr>
          <a:lstStyle/>
          <a:p>
            <a:pPr algn="l">
              <a:lnSpc>
                <a:spcPct val="112000"/>
              </a:lnSpc>
              <a:spcAft>
                <a:spcPts val="0"/>
              </a:spcAft>
            </a:pPr>
            <a:r>
              <a:rPr sz="1700" b="1" i="0">
                <a:solidFill>
                  <a:srgbClr val="FFFFFF"/>
                </a:solidFill>
                <a:latin typeface="Trebuchet MS"/>
              </a:rPr>
              <a:t>Intra-entreprise</a:t>
            </a:r>
          </a:p>
        </p:txBody>
      </p:sp>
      <p:sp>
        <p:nvSpPr>
          <p:cNvPr id="11" name="TextBox 10"/>
          <p:cNvSpPr txBox="1"/>
          <p:nvPr/>
        </p:nvSpPr>
        <p:spPr>
          <a:xfrm>
            <a:off x="6172200" y="5532120"/>
            <a:ext cx="2468880" cy="228600"/>
          </a:xfrm>
          <a:prstGeom prst="rect">
            <a:avLst/>
          </a:prstGeom>
          <a:noFill/>
        </p:spPr>
        <p:txBody>
          <a:bodyPr wrap="square" lIns="0" rIns="0" tIns="0" bIns="0" anchor="t">
            <a:spAutoFit/>
          </a:bodyPr>
          <a:lstStyle/>
          <a:p>
            <a:pPr algn="l">
              <a:lnSpc>
                <a:spcPct val="112000"/>
              </a:lnSpc>
              <a:spcAft>
                <a:spcPts val="0"/>
              </a:spcAft>
            </a:pPr>
            <a:r>
              <a:rPr sz="950" b="1" i="0" spc="140">
                <a:solidFill>
                  <a:srgbClr val="8A959D"/>
                </a:solidFill>
                <a:latin typeface="Consolas"/>
              </a:rPr>
              <a:t>EFFECTIF</a:t>
            </a:r>
          </a:p>
        </p:txBody>
      </p:sp>
      <p:sp>
        <p:nvSpPr>
          <p:cNvPr id="12" name="TextBox 11"/>
          <p:cNvSpPr txBox="1"/>
          <p:nvPr/>
        </p:nvSpPr>
        <p:spPr>
          <a:xfrm>
            <a:off x="6172200" y="5806440"/>
            <a:ext cx="2468880" cy="365760"/>
          </a:xfrm>
          <a:prstGeom prst="rect">
            <a:avLst/>
          </a:prstGeom>
          <a:noFill/>
        </p:spPr>
        <p:txBody>
          <a:bodyPr wrap="square" lIns="0" rIns="0" tIns="0" bIns="0" anchor="t">
            <a:spAutoFit/>
          </a:bodyPr>
          <a:lstStyle/>
          <a:p>
            <a:pPr algn="l">
              <a:lnSpc>
                <a:spcPct val="112000"/>
              </a:lnSpc>
              <a:spcAft>
                <a:spcPts val="0"/>
              </a:spcAft>
            </a:pPr>
            <a:r>
              <a:rPr sz="1700" b="1" i="0">
                <a:solidFill>
                  <a:srgbClr val="FFFFFF"/>
                </a:solidFill>
                <a:latin typeface="Trebuchet MS"/>
              </a:rPr>
              <a:t>8 à 12 personnes</a:t>
            </a:r>
          </a:p>
        </p:txBody>
      </p:sp>
      <p:sp>
        <p:nvSpPr>
          <p:cNvPr id="13" name="TextBox 12"/>
          <p:cNvSpPr txBox="1"/>
          <p:nvPr/>
        </p:nvSpPr>
        <p:spPr>
          <a:xfrm>
            <a:off x="8869680" y="5532120"/>
            <a:ext cx="2468880" cy="228600"/>
          </a:xfrm>
          <a:prstGeom prst="rect">
            <a:avLst/>
          </a:prstGeom>
          <a:noFill/>
        </p:spPr>
        <p:txBody>
          <a:bodyPr wrap="square" lIns="0" rIns="0" tIns="0" bIns="0" anchor="t">
            <a:spAutoFit/>
          </a:bodyPr>
          <a:lstStyle/>
          <a:p>
            <a:pPr algn="l">
              <a:lnSpc>
                <a:spcPct val="112000"/>
              </a:lnSpc>
              <a:spcAft>
                <a:spcPts val="0"/>
              </a:spcAft>
            </a:pPr>
            <a:r>
              <a:rPr sz="950" b="1" i="0" spc="140">
                <a:solidFill>
                  <a:srgbClr val="8A959D"/>
                </a:solidFill>
                <a:latin typeface="Consolas"/>
              </a:rPr>
              <a:t>PRATIQUE</a:t>
            </a:r>
          </a:p>
        </p:txBody>
      </p:sp>
      <p:sp>
        <p:nvSpPr>
          <p:cNvPr id="14" name="TextBox 13"/>
          <p:cNvSpPr txBox="1"/>
          <p:nvPr/>
        </p:nvSpPr>
        <p:spPr>
          <a:xfrm>
            <a:off x="8869680" y="5806440"/>
            <a:ext cx="2468880" cy="365760"/>
          </a:xfrm>
          <a:prstGeom prst="rect">
            <a:avLst/>
          </a:prstGeom>
          <a:noFill/>
        </p:spPr>
        <p:txBody>
          <a:bodyPr wrap="square" lIns="0" rIns="0" tIns="0" bIns="0" anchor="t">
            <a:spAutoFit/>
          </a:bodyPr>
          <a:lstStyle/>
          <a:p>
            <a:pPr algn="l">
              <a:lnSpc>
                <a:spcPct val="112000"/>
              </a:lnSpc>
              <a:spcAft>
                <a:spcPts val="0"/>
              </a:spcAft>
            </a:pPr>
            <a:r>
              <a:rPr sz="1700" b="1" i="0">
                <a:solidFill>
                  <a:srgbClr val="FFFFFF"/>
                </a:solidFill>
                <a:latin typeface="Trebuchet MS"/>
              </a:rPr>
              <a:t>Environ 60 %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77240" y="402336"/>
            <a:ext cx="10637215" cy="32004"/>
          </a:xfrm>
          <a:prstGeom prst="rect">
            <a:avLst/>
          </a:prstGeom>
          <a:solidFill>
            <a:srgbClr val="12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77240" y="502920"/>
            <a:ext cx="10637215" cy="274320"/>
          </a:xfrm>
          <a:prstGeom prst="rect">
            <a:avLst/>
          </a:prstGeom>
          <a:noFill/>
        </p:spPr>
        <p:txBody>
          <a:bodyPr wrap="square" lIns="0" rIns="0" tIns="0" bIns="0" anchor="t">
            <a:spAutoFit/>
          </a:bodyPr>
          <a:lstStyle/>
          <a:p>
            <a:pPr algn="l">
              <a:lnSpc>
                <a:spcPct val="112000"/>
              </a:lnSpc>
              <a:spcAft>
                <a:spcPts val="0"/>
              </a:spcAft>
            </a:pPr>
            <a:r>
              <a:rPr sz="1050" b="1" i="0" spc="150">
                <a:solidFill>
                  <a:srgbClr val="12181D"/>
                </a:solidFill>
                <a:latin typeface="Consolas"/>
              </a:rPr>
              <a:t>PROGRAMME</a:t>
            </a:r>
          </a:p>
        </p:txBody>
      </p:sp>
      <p:sp>
        <p:nvSpPr>
          <p:cNvPr id="4" name="TextBox 3"/>
          <p:cNvSpPr txBox="1"/>
          <p:nvPr/>
        </p:nvSpPr>
        <p:spPr>
          <a:xfrm>
            <a:off x="777240" y="868680"/>
            <a:ext cx="10637215" cy="1371600"/>
          </a:xfrm>
          <a:prstGeom prst="rect">
            <a:avLst/>
          </a:prstGeom>
          <a:noFill/>
        </p:spPr>
        <p:txBody>
          <a:bodyPr wrap="square" lIns="0" rIns="0" tIns="0" bIns="0" anchor="t">
            <a:spAutoFit/>
          </a:bodyPr>
          <a:lstStyle/>
          <a:p>
            <a:pPr algn="l">
              <a:lnSpc>
                <a:spcPct val="95000"/>
              </a:lnSpc>
              <a:spcAft>
                <a:spcPts val="0"/>
              </a:spcAft>
            </a:pPr>
            <a:r>
              <a:rPr sz="3800" b="1" i="0">
                <a:solidFill>
                  <a:srgbClr val="12181D"/>
                </a:solidFill>
                <a:latin typeface="Trebuchet MS"/>
              </a:rPr>
              <a:t>Ce que nous allons faire ensemble</a:t>
            </a:r>
          </a:p>
        </p:txBody>
      </p:sp>
      <p:sp>
        <p:nvSpPr>
          <p:cNvPr id="5" name="Rectangle 4"/>
          <p:cNvSpPr/>
          <p:nvPr/>
        </p:nvSpPr>
        <p:spPr>
          <a:xfrm>
            <a:off x="777240" y="2148840"/>
            <a:ext cx="5394960" cy="45720"/>
          </a:xfrm>
          <a:prstGeom prst="rect">
            <a:avLst/>
          </a:prstGeom>
          <a:solidFill>
            <a:srgbClr val="0B6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77240" y="2331720"/>
            <a:ext cx="5120640" cy="365760"/>
          </a:xfrm>
          <a:prstGeom prst="rect">
            <a:avLst/>
          </a:prstGeom>
          <a:noFill/>
        </p:spPr>
        <p:txBody>
          <a:bodyPr wrap="square" lIns="0" rIns="0" tIns="0" bIns="0" anchor="t">
            <a:spAutoFit/>
          </a:bodyPr>
          <a:lstStyle/>
          <a:p>
            <a:pPr algn="l">
              <a:lnSpc>
                <a:spcPct val="112000"/>
              </a:lnSpc>
              <a:spcAft>
                <a:spcPts val="0"/>
              </a:spcAft>
            </a:pPr>
            <a:r>
              <a:rPr sz="1200" b="1" i="0" spc="150">
                <a:solidFill>
                  <a:srgbClr val="0B655E"/>
                </a:solidFill>
                <a:latin typeface="Consolas"/>
              </a:rPr>
              <a:t>JOUR 1 — COMPRENDRE &amp; DIALOGUER</a:t>
            </a:r>
          </a:p>
        </p:txBody>
      </p:sp>
      <p:sp>
        <p:nvSpPr>
          <p:cNvPr id="7" name="TextBox 6"/>
          <p:cNvSpPr txBox="1"/>
          <p:nvPr/>
        </p:nvSpPr>
        <p:spPr>
          <a:xfrm>
            <a:off x="777240" y="2788920"/>
            <a:ext cx="274320" cy="274320"/>
          </a:xfrm>
          <a:prstGeom prst="rect">
            <a:avLst/>
          </a:prstGeom>
          <a:noFill/>
        </p:spPr>
        <p:txBody>
          <a:bodyPr wrap="square" lIns="0" rIns="0" tIns="0" bIns="0" anchor="t">
            <a:spAutoFit/>
          </a:bodyPr>
          <a:lstStyle/>
          <a:p>
            <a:pPr algn="l">
              <a:lnSpc>
                <a:spcPct val="112000"/>
              </a:lnSpc>
              <a:spcAft>
                <a:spcPts val="0"/>
              </a:spcAft>
            </a:pPr>
            <a:r>
              <a:rPr sz="1550" b="1" i="0">
                <a:solidFill>
                  <a:srgbClr val="0B655E"/>
                </a:solidFill>
                <a:latin typeface="Calibri"/>
              </a:rPr>
              <a:t>—</a:t>
            </a:r>
          </a:p>
        </p:txBody>
      </p:sp>
      <p:sp>
        <p:nvSpPr>
          <p:cNvPr id="8" name="TextBox 7"/>
          <p:cNvSpPr txBox="1"/>
          <p:nvPr/>
        </p:nvSpPr>
        <p:spPr>
          <a:xfrm>
            <a:off x="1088136" y="2788920"/>
            <a:ext cx="4809744" cy="365760"/>
          </a:xfrm>
          <a:prstGeom prst="rect">
            <a:avLst/>
          </a:prstGeom>
          <a:noFill/>
        </p:spPr>
        <p:txBody>
          <a:bodyPr wrap="square" lIns="0" rIns="0" tIns="0" bIns="0" anchor="t">
            <a:spAutoFit/>
          </a:bodyPr>
          <a:lstStyle/>
          <a:p>
            <a:pPr algn="l">
              <a:lnSpc>
                <a:spcPct val="114000"/>
              </a:lnSpc>
              <a:spcAft>
                <a:spcPts val="0"/>
              </a:spcAft>
            </a:pPr>
            <a:r>
              <a:rPr sz="1550" b="0" i="0">
                <a:solidFill>
                  <a:srgbClr val="545F69"/>
                </a:solidFill>
                <a:latin typeface="Calibri"/>
              </a:rPr>
              <a:t>L'IA sans le brouillard : </a:t>
            </a:r>
            <a:r>
              <a:rPr sz="1550" b="1" i="0">
                <a:solidFill>
                  <a:srgbClr val="12181D"/>
                </a:solidFill>
                <a:latin typeface="Calibri"/>
              </a:rPr>
              <a:t>ce que c'est, ce que ce n'est pas</a:t>
            </a:r>
          </a:p>
        </p:txBody>
      </p:sp>
      <p:sp>
        <p:nvSpPr>
          <p:cNvPr id="9" name="TextBox 8"/>
          <p:cNvSpPr txBox="1"/>
          <p:nvPr/>
        </p:nvSpPr>
        <p:spPr>
          <a:xfrm>
            <a:off x="777240" y="3567175"/>
            <a:ext cx="274320" cy="274320"/>
          </a:xfrm>
          <a:prstGeom prst="rect">
            <a:avLst/>
          </a:prstGeom>
          <a:noFill/>
        </p:spPr>
        <p:txBody>
          <a:bodyPr wrap="square" lIns="0" rIns="0" tIns="0" bIns="0" anchor="t">
            <a:spAutoFit/>
          </a:bodyPr>
          <a:lstStyle/>
          <a:p>
            <a:pPr algn="l">
              <a:lnSpc>
                <a:spcPct val="112000"/>
              </a:lnSpc>
              <a:spcAft>
                <a:spcPts val="0"/>
              </a:spcAft>
            </a:pPr>
            <a:r>
              <a:rPr sz="1550" b="1" i="0">
                <a:solidFill>
                  <a:srgbClr val="0B655E"/>
                </a:solidFill>
                <a:latin typeface="Calibri"/>
              </a:rPr>
              <a:t>—</a:t>
            </a:r>
          </a:p>
        </p:txBody>
      </p:sp>
      <p:sp>
        <p:nvSpPr>
          <p:cNvPr id="10" name="TextBox 9"/>
          <p:cNvSpPr txBox="1"/>
          <p:nvPr/>
        </p:nvSpPr>
        <p:spPr>
          <a:xfrm>
            <a:off x="1088136" y="3567175"/>
            <a:ext cx="4809744" cy="365760"/>
          </a:xfrm>
          <a:prstGeom prst="rect">
            <a:avLst/>
          </a:prstGeom>
          <a:noFill/>
        </p:spPr>
        <p:txBody>
          <a:bodyPr wrap="square" lIns="0" rIns="0" tIns="0" bIns="0" anchor="t">
            <a:spAutoFit/>
          </a:bodyPr>
          <a:lstStyle/>
          <a:p>
            <a:pPr algn="l">
              <a:lnSpc>
                <a:spcPct val="114000"/>
              </a:lnSpc>
              <a:spcAft>
                <a:spcPts val="0"/>
              </a:spcAft>
            </a:pPr>
            <a:r>
              <a:rPr sz="1550" b="0" i="0">
                <a:solidFill>
                  <a:srgbClr val="545F69"/>
                </a:solidFill>
                <a:latin typeface="Calibri"/>
              </a:rPr>
              <a:t>Soixante-dix ans d'histoire en quarante-cinq minutes</a:t>
            </a:r>
          </a:p>
        </p:txBody>
      </p:sp>
      <p:sp>
        <p:nvSpPr>
          <p:cNvPr id="11" name="TextBox 10"/>
          <p:cNvSpPr txBox="1"/>
          <p:nvPr/>
        </p:nvSpPr>
        <p:spPr>
          <a:xfrm>
            <a:off x="777240" y="4345431"/>
            <a:ext cx="274320" cy="274320"/>
          </a:xfrm>
          <a:prstGeom prst="rect">
            <a:avLst/>
          </a:prstGeom>
          <a:noFill/>
        </p:spPr>
        <p:txBody>
          <a:bodyPr wrap="square" lIns="0" rIns="0" tIns="0" bIns="0" anchor="t">
            <a:spAutoFit/>
          </a:bodyPr>
          <a:lstStyle/>
          <a:p>
            <a:pPr algn="l">
              <a:lnSpc>
                <a:spcPct val="112000"/>
              </a:lnSpc>
              <a:spcAft>
                <a:spcPts val="0"/>
              </a:spcAft>
            </a:pPr>
            <a:r>
              <a:rPr sz="1550" b="1" i="0">
                <a:solidFill>
                  <a:srgbClr val="0B655E"/>
                </a:solidFill>
                <a:latin typeface="Calibri"/>
              </a:rPr>
              <a:t>—</a:t>
            </a:r>
          </a:p>
        </p:txBody>
      </p:sp>
      <p:sp>
        <p:nvSpPr>
          <p:cNvPr id="12" name="TextBox 11"/>
          <p:cNvSpPr txBox="1"/>
          <p:nvPr/>
        </p:nvSpPr>
        <p:spPr>
          <a:xfrm>
            <a:off x="1088136" y="4345431"/>
            <a:ext cx="4809744" cy="365760"/>
          </a:xfrm>
          <a:prstGeom prst="rect">
            <a:avLst/>
          </a:prstGeom>
          <a:noFill/>
        </p:spPr>
        <p:txBody>
          <a:bodyPr wrap="square" lIns="0" rIns="0" tIns="0" bIns="0" anchor="t">
            <a:spAutoFit/>
          </a:bodyPr>
          <a:lstStyle/>
          <a:p>
            <a:pPr algn="l">
              <a:lnSpc>
                <a:spcPct val="114000"/>
              </a:lnSpc>
              <a:spcAft>
                <a:spcPts val="0"/>
              </a:spcAft>
            </a:pPr>
            <a:r>
              <a:rPr sz="1550" b="0" i="0">
                <a:solidFill>
                  <a:srgbClr val="545F69"/>
                </a:solidFill>
                <a:latin typeface="Calibri"/>
              </a:rPr>
              <a:t>Premier contact et </a:t>
            </a:r>
            <a:r>
              <a:rPr sz="1550" b="1" i="0">
                <a:solidFill>
                  <a:srgbClr val="12181D"/>
                </a:solidFill>
                <a:latin typeface="Calibri"/>
              </a:rPr>
              <a:t>chasse aux hallucinations</a:t>
            </a:r>
          </a:p>
        </p:txBody>
      </p:sp>
      <p:sp>
        <p:nvSpPr>
          <p:cNvPr id="13" name="TextBox 12"/>
          <p:cNvSpPr txBox="1"/>
          <p:nvPr/>
        </p:nvSpPr>
        <p:spPr>
          <a:xfrm>
            <a:off x="777240" y="4871720"/>
            <a:ext cx="274320" cy="274320"/>
          </a:xfrm>
          <a:prstGeom prst="rect">
            <a:avLst/>
          </a:prstGeom>
          <a:noFill/>
        </p:spPr>
        <p:txBody>
          <a:bodyPr wrap="square" lIns="0" rIns="0" tIns="0" bIns="0" anchor="t">
            <a:spAutoFit/>
          </a:bodyPr>
          <a:lstStyle/>
          <a:p>
            <a:pPr algn="l">
              <a:lnSpc>
                <a:spcPct val="112000"/>
              </a:lnSpc>
              <a:spcAft>
                <a:spcPts val="0"/>
              </a:spcAft>
            </a:pPr>
            <a:r>
              <a:rPr sz="1550" b="1" i="0">
                <a:solidFill>
                  <a:srgbClr val="0B655E"/>
                </a:solidFill>
                <a:latin typeface="Calibri"/>
              </a:rPr>
              <a:t>—</a:t>
            </a:r>
          </a:p>
        </p:txBody>
      </p:sp>
      <p:sp>
        <p:nvSpPr>
          <p:cNvPr id="14" name="TextBox 13"/>
          <p:cNvSpPr txBox="1"/>
          <p:nvPr/>
        </p:nvSpPr>
        <p:spPr>
          <a:xfrm>
            <a:off x="1088136" y="4871720"/>
            <a:ext cx="4809744" cy="365760"/>
          </a:xfrm>
          <a:prstGeom prst="rect">
            <a:avLst/>
          </a:prstGeom>
          <a:noFill/>
        </p:spPr>
        <p:txBody>
          <a:bodyPr wrap="square" lIns="0" rIns="0" tIns="0" bIns="0" anchor="t">
            <a:spAutoFit/>
          </a:bodyPr>
          <a:lstStyle/>
          <a:p>
            <a:pPr algn="l">
              <a:lnSpc>
                <a:spcPct val="114000"/>
              </a:lnSpc>
              <a:spcAft>
                <a:spcPts val="0"/>
              </a:spcAft>
            </a:pPr>
            <a:r>
              <a:rPr sz="1550" b="0" i="0">
                <a:solidFill>
                  <a:srgbClr val="545F69"/>
                </a:solidFill>
                <a:latin typeface="Calibri"/>
              </a:rPr>
              <a:t>L'art de parler aux machines : la méthode </a:t>
            </a:r>
            <a:r>
              <a:rPr sz="1550" b="1" i="0">
                <a:solidFill>
                  <a:srgbClr val="12181D"/>
                </a:solidFill>
                <a:latin typeface="Calibri"/>
              </a:rPr>
              <a:t>C.O.P.A.I.N.</a:t>
            </a:r>
          </a:p>
        </p:txBody>
      </p:sp>
      <p:sp>
        <p:nvSpPr>
          <p:cNvPr id="15" name="TextBox 14"/>
          <p:cNvSpPr txBox="1"/>
          <p:nvPr/>
        </p:nvSpPr>
        <p:spPr>
          <a:xfrm>
            <a:off x="777240" y="5649976"/>
            <a:ext cx="274320" cy="274320"/>
          </a:xfrm>
          <a:prstGeom prst="rect">
            <a:avLst/>
          </a:prstGeom>
          <a:noFill/>
        </p:spPr>
        <p:txBody>
          <a:bodyPr wrap="square" lIns="0" rIns="0" tIns="0" bIns="0" anchor="t">
            <a:spAutoFit/>
          </a:bodyPr>
          <a:lstStyle/>
          <a:p>
            <a:pPr algn="l">
              <a:lnSpc>
                <a:spcPct val="112000"/>
              </a:lnSpc>
              <a:spcAft>
                <a:spcPts val="0"/>
              </a:spcAft>
            </a:pPr>
            <a:r>
              <a:rPr sz="1550" b="1" i="0">
                <a:solidFill>
                  <a:srgbClr val="0B655E"/>
                </a:solidFill>
                <a:latin typeface="Calibri"/>
              </a:rPr>
              <a:t>—</a:t>
            </a:r>
          </a:p>
        </p:txBody>
      </p:sp>
      <p:sp>
        <p:nvSpPr>
          <p:cNvPr id="16" name="TextBox 15"/>
          <p:cNvSpPr txBox="1"/>
          <p:nvPr/>
        </p:nvSpPr>
        <p:spPr>
          <a:xfrm>
            <a:off x="1088136" y="5649976"/>
            <a:ext cx="4809744" cy="365760"/>
          </a:xfrm>
          <a:prstGeom prst="rect">
            <a:avLst/>
          </a:prstGeom>
          <a:noFill/>
        </p:spPr>
        <p:txBody>
          <a:bodyPr wrap="square" lIns="0" rIns="0" tIns="0" bIns="0" anchor="t">
            <a:spAutoFit/>
          </a:bodyPr>
          <a:lstStyle/>
          <a:p>
            <a:pPr algn="l">
              <a:lnSpc>
                <a:spcPct val="114000"/>
              </a:lnSpc>
              <a:spcAft>
                <a:spcPts val="0"/>
              </a:spcAft>
            </a:pPr>
            <a:r>
              <a:rPr sz="1550" b="0" i="0">
                <a:solidFill>
                  <a:srgbClr val="545F69"/>
                </a:solidFill>
                <a:latin typeface="Calibri"/>
              </a:rPr>
              <a:t>Cartographie des modèles : lequel choisir, et pourquoi</a:t>
            </a:r>
          </a:p>
        </p:txBody>
      </p:sp>
      <p:sp>
        <p:nvSpPr>
          <p:cNvPr id="17" name="TextBox 16"/>
          <p:cNvSpPr txBox="1"/>
          <p:nvPr/>
        </p:nvSpPr>
        <p:spPr>
          <a:xfrm>
            <a:off x="777240" y="6428231"/>
            <a:ext cx="274320" cy="274320"/>
          </a:xfrm>
          <a:prstGeom prst="rect">
            <a:avLst/>
          </a:prstGeom>
          <a:noFill/>
        </p:spPr>
        <p:txBody>
          <a:bodyPr wrap="square" lIns="0" rIns="0" tIns="0" bIns="0" anchor="t">
            <a:spAutoFit/>
          </a:bodyPr>
          <a:lstStyle/>
          <a:p>
            <a:pPr algn="l">
              <a:lnSpc>
                <a:spcPct val="112000"/>
              </a:lnSpc>
              <a:spcAft>
                <a:spcPts val="0"/>
              </a:spcAft>
            </a:pPr>
            <a:r>
              <a:rPr sz="1550" b="1" i="0">
                <a:solidFill>
                  <a:srgbClr val="0B655E"/>
                </a:solidFill>
                <a:latin typeface="Calibri"/>
              </a:rPr>
              <a:t>—</a:t>
            </a:r>
          </a:p>
        </p:txBody>
      </p:sp>
      <p:sp>
        <p:nvSpPr>
          <p:cNvPr id="18" name="TextBox 17"/>
          <p:cNvSpPr txBox="1"/>
          <p:nvPr/>
        </p:nvSpPr>
        <p:spPr>
          <a:xfrm>
            <a:off x="1088136" y="6428231"/>
            <a:ext cx="4809744" cy="365760"/>
          </a:xfrm>
          <a:prstGeom prst="rect">
            <a:avLst/>
          </a:prstGeom>
          <a:noFill/>
        </p:spPr>
        <p:txBody>
          <a:bodyPr wrap="square" lIns="0" rIns="0" tIns="0" bIns="0" anchor="t">
            <a:spAutoFit/>
          </a:bodyPr>
          <a:lstStyle/>
          <a:p>
            <a:pPr algn="l">
              <a:lnSpc>
                <a:spcPct val="114000"/>
              </a:lnSpc>
              <a:spcAft>
                <a:spcPts val="0"/>
              </a:spcAft>
            </a:pPr>
            <a:r>
              <a:rPr sz="1550" b="0" i="0">
                <a:solidFill>
                  <a:srgbClr val="545F69"/>
                </a:solidFill>
                <a:latin typeface="Calibri"/>
              </a:rPr>
              <a:t>Données, droit et cadre légal</a:t>
            </a:r>
          </a:p>
        </p:txBody>
      </p:sp>
      <p:sp>
        <p:nvSpPr>
          <p:cNvPr id="19" name="Rectangle 18"/>
          <p:cNvSpPr/>
          <p:nvPr/>
        </p:nvSpPr>
        <p:spPr>
          <a:xfrm>
            <a:off x="6720840" y="2148840"/>
            <a:ext cx="4663440" cy="45720"/>
          </a:xfrm>
          <a:prstGeom prst="rect">
            <a:avLst/>
          </a:prstGeom>
          <a:solidFill>
            <a:srgbClr val="A32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720840" y="2331720"/>
            <a:ext cx="4572000" cy="365760"/>
          </a:xfrm>
          <a:prstGeom prst="rect">
            <a:avLst/>
          </a:prstGeom>
          <a:noFill/>
        </p:spPr>
        <p:txBody>
          <a:bodyPr wrap="square" lIns="0" rIns="0" tIns="0" bIns="0" anchor="t">
            <a:spAutoFit/>
          </a:bodyPr>
          <a:lstStyle/>
          <a:p>
            <a:pPr algn="l">
              <a:lnSpc>
                <a:spcPct val="112000"/>
              </a:lnSpc>
              <a:spcAft>
                <a:spcPts val="0"/>
              </a:spcAft>
            </a:pPr>
            <a:r>
              <a:rPr sz="1200" b="1" i="0" spc="150">
                <a:solidFill>
                  <a:srgbClr val="A32B57"/>
                </a:solidFill>
                <a:latin typeface="Consolas"/>
              </a:rPr>
              <a:t>JOUR 2 — PRODUIRE &amp; AUTOMATISER</a:t>
            </a:r>
          </a:p>
        </p:txBody>
      </p:sp>
      <p:sp>
        <p:nvSpPr>
          <p:cNvPr id="21" name="TextBox 20"/>
          <p:cNvSpPr txBox="1"/>
          <p:nvPr/>
        </p:nvSpPr>
        <p:spPr>
          <a:xfrm>
            <a:off x="6720840" y="2788920"/>
            <a:ext cx="274320" cy="274320"/>
          </a:xfrm>
          <a:prstGeom prst="rect">
            <a:avLst/>
          </a:prstGeom>
          <a:noFill/>
        </p:spPr>
        <p:txBody>
          <a:bodyPr wrap="square" lIns="0" rIns="0" tIns="0" bIns="0" anchor="t">
            <a:spAutoFit/>
          </a:bodyPr>
          <a:lstStyle/>
          <a:p>
            <a:pPr algn="l">
              <a:lnSpc>
                <a:spcPct val="112000"/>
              </a:lnSpc>
              <a:spcAft>
                <a:spcPts val="0"/>
              </a:spcAft>
            </a:pPr>
            <a:r>
              <a:rPr sz="1550" b="1" i="0">
                <a:solidFill>
                  <a:srgbClr val="A32B57"/>
                </a:solidFill>
                <a:latin typeface="Calibri"/>
              </a:rPr>
              <a:t>—</a:t>
            </a:r>
          </a:p>
        </p:txBody>
      </p:sp>
      <p:sp>
        <p:nvSpPr>
          <p:cNvPr id="22" name="TextBox 21"/>
          <p:cNvSpPr txBox="1"/>
          <p:nvPr/>
        </p:nvSpPr>
        <p:spPr>
          <a:xfrm>
            <a:off x="7031736" y="2788920"/>
            <a:ext cx="4261104" cy="365760"/>
          </a:xfrm>
          <a:prstGeom prst="rect">
            <a:avLst/>
          </a:prstGeom>
          <a:noFill/>
        </p:spPr>
        <p:txBody>
          <a:bodyPr wrap="square" lIns="0" rIns="0" tIns="0" bIns="0" anchor="t">
            <a:spAutoFit/>
          </a:bodyPr>
          <a:lstStyle/>
          <a:p>
            <a:pPr algn="l">
              <a:lnSpc>
                <a:spcPct val="114000"/>
              </a:lnSpc>
              <a:spcAft>
                <a:spcPts val="0"/>
              </a:spcAft>
            </a:pPr>
            <a:r>
              <a:rPr sz="1550" b="0" i="0">
                <a:solidFill>
                  <a:srgbClr val="545F69"/>
                </a:solidFill>
                <a:latin typeface="Calibri"/>
              </a:rPr>
              <a:t>Le laboratoire : </a:t>
            </a:r>
            <a:r>
              <a:rPr sz="1550" b="1" i="0">
                <a:solidFill>
                  <a:srgbClr val="12181D"/>
                </a:solidFill>
                <a:latin typeface="Calibri"/>
              </a:rPr>
              <a:t>six outils, six effets</a:t>
            </a:r>
          </a:p>
        </p:txBody>
      </p:sp>
      <p:sp>
        <p:nvSpPr>
          <p:cNvPr id="23" name="TextBox 22"/>
          <p:cNvSpPr txBox="1"/>
          <p:nvPr/>
        </p:nvSpPr>
        <p:spPr>
          <a:xfrm>
            <a:off x="6720840" y="3315208"/>
            <a:ext cx="274320" cy="274320"/>
          </a:xfrm>
          <a:prstGeom prst="rect">
            <a:avLst/>
          </a:prstGeom>
          <a:noFill/>
        </p:spPr>
        <p:txBody>
          <a:bodyPr wrap="square" lIns="0" rIns="0" tIns="0" bIns="0" anchor="t">
            <a:spAutoFit/>
          </a:bodyPr>
          <a:lstStyle/>
          <a:p>
            <a:pPr algn="l">
              <a:lnSpc>
                <a:spcPct val="112000"/>
              </a:lnSpc>
              <a:spcAft>
                <a:spcPts val="0"/>
              </a:spcAft>
            </a:pPr>
            <a:r>
              <a:rPr sz="1550" b="1" i="0">
                <a:solidFill>
                  <a:srgbClr val="A32B57"/>
                </a:solidFill>
                <a:latin typeface="Calibri"/>
              </a:rPr>
              <a:t>—</a:t>
            </a:r>
          </a:p>
        </p:txBody>
      </p:sp>
      <p:sp>
        <p:nvSpPr>
          <p:cNvPr id="24" name="TextBox 23"/>
          <p:cNvSpPr txBox="1"/>
          <p:nvPr/>
        </p:nvSpPr>
        <p:spPr>
          <a:xfrm>
            <a:off x="7031736" y="3315208"/>
            <a:ext cx="4261104" cy="365760"/>
          </a:xfrm>
          <a:prstGeom prst="rect">
            <a:avLst/>
          </a:prstGeom>
          <a:noFill/>
        </p:spPr>
        <p:txBody>
          <a:bodyPr wrap="square" lIns="0" rIns="0" tIns="0" bIns="0" anchor="t">
            <a:spAutoFit/>
          </a:bodyPr>
          <a:lstStyle/>
          <a:p>
            <a:pPr algn="l">
              <a:lnSpc>
                <a:spcPct val="114000"/>
              </a:lnSpc>
              <a:spcAft>
                <a:spcPts val="0"/>
              </a:spcAft>
            </a:pPr>
            <a:r>
              <a:rPr sz="1550" b="0" i="0">
                <a:solidFill>
                  <a:srgbClr val="545F69"/>
                </a:solidFill>
                <a:latin typeface="Calibri"/>
              </a:rPr>
              <a:t>Fabriquer son propre assistant</a:t>
            </a:r>
          </a:p>
        </p:txBody>
      </p:sp>
      <p:sp>
        <p:nvSpPr>
          <p:cNvPr id="25" name="TextBox 24"/>
          <p:cNvSpPr txBox="1"/>
          <p:nvPr/>
        </p:nvSpPr>
        <p:spPr>
          <a:xfrm>
            <a:off x="6720840" y="3841496"/>
            <a:ext cx="274320" cy="274320"/>
          </a:xfrm>
          <a:prstGeom prst="rect">
            <a:avLst/>
          </a:prstGeom>
          <a:noFill/>
        </p:spPr>
        <p:txBody>
          <a:bodyPr wrap="square" lIns="0" rIns="0" tIns="0" bIns="0" anchor="t">
            <a:spAutoFit/>
          </a:bodyPr>
          <a:lstStyle/>
          <a:p>
            <a:pPr algn="l">
              <a:lnSpc>
                <a:spcPct val="112000"/>
              </a:lnSpc>
              <a:spcAft>
                <a:spcPts val="0"/>
              </a:spcAft>
            </a:pPr>
            <a:r>
              <a:rPr sz="1550" b="1" i="0">
                <a:solidFill>
                  <a:srgbClr val="A32B57"/>
                </a:solidFill>
                <a:latin typeface="Calibri"/>
              </a:rPr>
              <a:t>—</a:t>
            </a:r>
          </a:p>
        </p:txBody>
      </p:sp>
      <p:sp>
        <p:nvSpPr>
          <p:cNvPr id="26" name="TextBox 25"/>
          <p:cNvSpPr txBox="1"/>
          <p:nvPr/>
        </p:nvSpPr>
        <p:spPr>
          <a:xfrm>
            <a:off x="7031736" y="3841496"/>
            <a:ext cx="4261104" cy="365760"/>
          </a:xfrm>
          <a:prstGeom prst="rect">
            <a:avLst/>
          </a:prstGeom>
          <a:noFill/>
        </p:spPr>
        <p:txBody>
          <a:bodyPr wrap="square" lIns="0" rIns="0" tIns="0" bIns="0" anchor="t">
            <a:spAutoFit/>
          </a:bodyPr>
          <a:lstStyle/>
          <a:p>
            <a:pPr algn="l">
              <a:lnSpc>
                <a:spcPct val="114000"/>
              </a:lnSpc>
              <a:spcAft>
                <a:spcPts val="0"/>
              </a:spcAft>
            </a:pPr>
            <a:r>
              <a:rPr sz="1550" b="0" i="0">
                <a:solidFill>
                  <a:srgbClr val="545F69"/>
                </a:solidFill>
                <a:latin typeface="Calibri"/>
              </a:rPr>
              <a:t>Agents et automatisation</a:t>
            </a:r>
          </a:p>
        </p:txBody>
      </p:sp>
      <p:sp>
        <p:nvSpPr>
          <p:cNvPr id="27" name="TextBox 26"/>
          <p:cNvSpPr txBox="1"/>
          <p:nvPr/>
        </p:nvSpPr>
        <p:spPr>
          <a:xfrm>
            <a:off x="6720840" y="4367784"/>
            <a:ext cx="274320" cy="274320"/>
          </a:xfrm>
          <a:prstGeom prst="rect">
            <a:avLst/>
          </a:prstGeom>
          <a:noFill/>
        </p:spPr>
        <p:txBody>
          <a:bodyPr wrap="square" lIns="0" rIns="0" tIns="0" bIns="0" anchor="t">
            <a:spAutoFit/>
          </a:bodyPr>
          <a:lstStyle/>
          <a:p>
            <a:pPr algn="l">
              <a:lnSpc>
                <a:spcPct val="112000"/>
              </a:lnSpc>
              <a:spcAft>
                <a:spcPts val="0"/>
              </a:spcAft>
            </a:pPr>
            <a:r>
              <a:rPr sz="1550" b="1" i="0">
                <a:solidFill>
                  <a:srgbClr val="A32B57"/>
                </a:solidFill>
                <a:latin typeface="Calibri"/>
              </a:rPr>
              <a:t>—</a:t>
            </a:r>
          </a:p>
        </p:txBody>
      </p:sp>
      <p:sp>
        <p:nvSpPr>
          <p:cNvPr id="28" name="TextBox 27"/>
          <p:cNvSpPr txBox="1"/>
          <p:nvPr/>
        </p:nvSpPr>
        <p:spPr>
          <a:xfrm>
            <a:off x="7031736" y="4367784"/>
            <a:ext cx="4261104" cy="365760"/>
          </a:xfrm>
          <a:prstGeom prst="rect">
            <a:avLst/>
          </a:prstGeom>
          <a:noFill/>
        </p:spPr>
        <p:txBody>
          <a:bodyPr wrap="square" lIns="0" rIns="0" tIns="0" bIns="0" anchor="t">
            <a:spAutoFit/>
          </a:bodyPr>
          <a:lstStyle/>
          <a:p>
            <a:pPr algn="l">
              <a:lnSpc>
                <a:spcPct val="114000"/>
              </a:lnSpc>
              <a:spcAft>
                <a:spcPts val="0"/>
              </a:spcAft>
            </a:pPr>
            <a:r>
              <a:rPr sz="1550" b="0" i="0">
                <a:solidFill>
                  <a:srgbClr val="545F69"/>
                </a:solidFill>
                <a:latin typeface="Calibri"/>
              </a:rPr>
              <a:t>La grille : </a:t>
            </a:r>
            <a:r>
              <a:rPr sz="1550" b="1" i="0">
                <a:solidFill>
                  <a:srgbClr val="12181D"/>
                </a:solidFill>
                <a:latin typeface="Calibri"/>
              </a:rPr>
              <a:t>quoi automatiser en premier</a:t>
            </a:r>
          </a:p>
        </p:txBody>
      </p:sp>
      <p:sp>
        <p:nvSpPr>
          <p:cNvPr id="29" name="TextBox 28"/>
          <p:cNvSpPr txBox="1"/>
          <p:nvPr/>
        </p:nvSpPr>
        <p:spPr>
          <a:xfrm>
            <a:off x="6720840" y="4894072"/>
            <a:ext cx="274320" cy="274320"/>
          </a:xfrm>
          <a:prstGeom prst="rect">
            <a:avLst/>
          </a:prstGeom>
          <a:noFill/>
        </p:spPr>
        <p:txBody>
          <a:bodyPr wrap="square" lIns="0" rIns="0" tIns="0" bIns="0" anchor="t">
            <a:spAutoFit/>
          </a:bodyPr>
          <a:lstStyle/>
          <a:p>
            <a:pPr algn="l">
              <a:lnSpc>
                <a:spcPct val="112000"/>
              </a:lnSpc>
              <a:spcAft>
                <a:spcPts val="0"/>
              </a:spcAft>
            </a:pPr>
            <a:r>
              <a:rPr sz="1550" b="1" i="0">
                <a:solidFill>
                  <a:srgbClr val="A32B57"/>
                </a:solidFill>
                <a:latin typeface="Calibri"/>
              </a:rPr>
              <a:t>—</a:t>
            </a:r>
          </a:p>
        </p:txBody>
      </p:sp>
      <p:sp>
        <p:nvSpPr>
          <p:cNvPr id="30" name="TextBox 29"/>
          <p:cNvSpPr txBox="1"/>
          <p:nvPr/>
        </p:nvSpPr>
        <p:spPr>
          <a:xfrm>
            <a:off x="7031736" y="4894072"/>
            <a:ext cx="4261104" cy="365760"/>
          </a:xfrm>
          <a:prstGeom prst="rect">
            <a:avLst/>
          </a:prstGeom>
          <a:noFill/>
        </p:spPr>
        <p:txBody>
          <a:bodyPr wrap="square" lIns="0" rIns="0" tIns="0" bIns="0" anchor="t">
            <a:spAutoFit/>
          </a:bodyPr>
          <a:lstStyle/>
          <a:p>
            <a:pPr algn="l">
              <a:lnSpc>
                <a:spcPct val="114000"/>
              </a:lnSpc>
              <a:spcAft>
                <a:spcPts val="0"/>
              </a:spcAft>
            </a:pPr>
            <a:r>
              <a:rPr sz="1550" b="0" i="0">
                <a:solidFill>
                  <a:srgbClr val="545F69"/>
                </a:solidFill>
                <a:latin typeface="Calibri"/>
              </a:rPr>
              <a:t>Le futur, en trois horizons</a:t>
            </a:r>
          </a:p>
        </p:txBody>
      </p:sp>
      <p:sp>
        <p:nvSpPr>
          <p:cNvPr id="31" name="TextBox 30"/>
          <p:cNvSpPr txBox="1"/>
          <p:nvPr/>
        </p:nvSpPr>
        <p:spPr>
          <a:xfrm>
            <a:off x="6720840" y="5420360"/>
            <a:ext cx="274320" cy="274320"/>
          </a:xfrm>
          <a:prstGeom prst="rect">
            <a:avLst/>
          </a:prstGeom>
          <a:noFill/>
        </p:spPr>
        <p:txBody>
          <a:bodyPr wrap="square" lIns="0" rIns="0" tIns="0" bIns="0" anchor="t">
            <a:spAutoFit/>
          </a:bodyPr>
          <a:lstStyle/>
          <a:p>
            <a:pPr algn="l">
              <a:lnSpc>
                <a:spcPct val="112000"/>
              </a:lnSpc>
              <a:spcAft>
                <a:spcPts val="0"/>
              </a:spcAft>
            </a:pPr>
            <a:r>
              <a:rPr sz="1550" b="1" i="0">
                <a:solidFill>
                  <a:srgbClr val="A32B57"/>
                </a:solidFill>
                <a:latin typeface="Calibri"/>
              </a:rPr>
              <a:t>—</a:t>
            </a:r>
          </a:p>
        </p:txBody>
      </p:sp>
      <p:sp>
        <p:nvSpPr>
          <p:cNvPr id="32" name="TextBox 31"/>
          <p:cNvSpPr txBox="1"/>
          <p:nvPr/>
        </p:nvSpPr>
        <p:spPr>
          <a:xfrm>
            <a:off x="7031736" y="5420360"/>
            <a:ext cx="4261104" cy="365760"/>
          </a:xfrm>
          <a:prstGeom prst="rect">
            <a:avLst/>
          </a:prstGeom>
          <a:noFill/>
        </p:spPr>
        <p:txBody>
          <a:bodyPr wrap="square" lIns="0" rIns="0" tIns="0" bIns="0" anchor="t">
            <a:spAutoFit/>
          </a:bodyPr>
          <a:lstStyle/>
          <a:p>
            <a:pPr algn="l">
              <a:lnSpc>
                <a:spcPct val="114000"/>
              </a:lnSpc>
              <a:spcAft>
                <a:spcPts val="0"/>
              </a:spcAft>
            </a:pPr>
            <a:r>
              <a:rPr sz="1550" b="0" i="0">
                <a:solidFill>
                  <a:srgbClr val="545F69"/>
                </a:solidFill>
                <a:latin typeface="Calibri"/>
              </a:rPr>
              <a:t>Mon plan à trente jours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77240" y="402336"/>
            <a:ext cx="10637215" cy="32004"/>
          </a:xfrm>
          <a:prstGeom prst="rect">
            <a:avLst/>
          </a:prstGeom>
          <a:solidFill>
            <a:srgbClr val="12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77240" y="502920"/>
            <a:ext cx="10637215" cy="274320"/>
          </a:xfrm>
          <a:prstGeom prst="rect">
            <a:avLst/>
          </a:prstGeom>
          <a:noFill/>
        </p:spPr>
        <p:txBody>
          <a:bodyPr wrap="square" lIns="0" rIns="0" tIns="0" bIns="0" anchor="t">
            <a:spAutoFit/>
          </a:bodyPr>
          <a:lstStyle/>
          <a:p>
            <a:pPr algn="l">
              <a:lnSpc>
                <a:spcPct val="112000"/>
              </a:lnSpc>
              <a:spcAft>
                <a:spcPts val="0"/>
              </a:spcAft>
            </a:pPr>
            <a:r>
              <a:rPr sz="1050" b="1" i="0" spc="150">
                <a:solidFill>
                  <a:srgbClr val="12181D"/>
                </a:solidFill>
                <a:latin typeface="Consolas"/>
              </a:rPr>
              <a:t>RÈGLES DU JEU</a:t>
            </a:r>
          </a:p>
        </p:txBody>
      </p:sp>
      <p:sp>
        <p:nvSpPr>
          <p:cNvPr id="4" name="TextBox 3"/>
          <p:cNvSpPr txBox="1"/>
          <p:nvPr/>
        </p:nvSpPr>
        <p:spPr>
          <a:xfrm>
            <a:off x="777240" y="868680"/>
            <a:ext cx="10637215" cy="1371600"/>
          </a:xfrm>
          <a:prstGeom prst="rect">
            <a:avLst/>
          </a:prstGeom>
          <a:noFill/>
        </p:spPr>
        <p:txBody>
          <a:bodyPr wrap="square" lIns="0" rIns="0" tIns="0" bIns="0" anchor="t">
            <a:spAutoFit/>
          </a:bodyPr>
          <a:lstStyle/>
          <a:p>
            <a:pPr algn="l">
              <a:lnSpc>
                <a:spcPct val="95000"/>
              </a:lnSpc>
              <a:spcAft>
                <a:spcPts val="0"/>
              </a:spcAft>
            </a:pPr>
            <a:r>
              <a:rPr sz="3800" b="1" i="0">
                <a:solidFill>
                  <a:srgbClr val="12181D"/>
                </a:solidFill>
                <a:latin typeface="Trebuchet MS"/>
              </a:rPr>
              <a:t>Trois règles, et on n'en parle plus</a:t>
            </a:r>
          </a:p>
        </p:txBody>
      </p:sp>
      <p:sp>
        <p:nvSpPr>
          <p:cNvPr id="5" name="TextBox 4"/>
          <p:cNvSpPr txBox="1"/>
          <p:nvPr/>
        </p:nvSpPr>
        <p:spPr>
          <a:xfrm>
            <a:off x="777240" y="2331720"/>
            <a:ext cx="274320" cy="274320"/>
          </a:xfrm>
          <a:prstGeom prst="rect">
            <a:avLst/>
          </a:prstGeom>
          <a:noFill/>
        </p:spPr>
        <p:txBody>
          <a:bodyPr wrap="square" lIns="0" rIns="0" tIns="0" bIns="0" anchor="t">
            <a:spAutoFit/>
          </a:bodyPr>
          <a:lstStyle/>
          <a:p>
            <a:pPr algn="l">
              <a:lnSpc>
                <a:spcPct val="112000"/>
              </a:lnSpc>
              <a:spcAft>
                <a:spcPts val="0"/>
              </a:spcAft>
            </a:pPr>
            <a:r>
              <a:rPr sz="1800" b="1" i="0">
                <a:solidFill>
                  <a:srgbClr val="12181D"/>
                </a:solidFill>
                <a:latin typeface="Calibri"/>
              </a:rPr>
              <a:t>—</a:t>
            </a:r>
          </a:p>
        </p:txBody>
      </p:sp>
      <p:sp>
        <p:nvSpPr>
          <p:cNvPr id="6" name="TextBox 5"/>
          <p:cNvSpPr txBox="1"/>
          <p:nvPr/>
        </p:nvSpPr>
        <p:spPr>
          <a:xfrm>
            <a:off x="1088136" y="2331720"/>
            <a:ext cx="5724144" cy="365760"/>
          </a:xfrm>
          <a:prstGeom prst="rect">
            <a:avLst/>
          </a:prstGeom>
          <a:noFill/>
        </p:spPr>
        <p:txBody>
          <a:bodyPr wrap="square" lIns="0" rIns="0" tIns="0" bIns="0" anchor="t">
            <a:spAutoFit/>
          </a:bodyPr>
          <a:lstStyle/>
          <a:p>
            <a:pPr algn="l">
              <a:lnSpc>
                <a:spcPct val="114000"/>
              </a:lnSpc>
              <a:spcAft>
                <a:spcPts val="0"/>
              </a:spcAft>
            </a:pPr>
            <a:r>
              <a:rPr sz="1800" b="1" i="0">
                <a:solidFill>
                  <a:srgbClr val="12181D"/>
                </a:solidFill>
                <a:latin typeface="Calibri"/>
              </a:rPr>
              <a:t>On teste tout.</a:t>
            </a:r>
            <a:r>
              <a:rPr sz="1800" b="0" i="0">
                <a:solidFill>
                  <a:srgbClr val="545F69"/>
                </a:solidFill>
                <a:latin typeface="Calibri"/>
              </a:rPr>
              <a:t> Rien de ce qui est dit ici ne vaut une minute passée à l'essayer vous-même. Vos ordinateurs restent ouverts.</a:t>
            </a:r>
          </a:p>
        </p:txBody>
      </p:sp>
      <p:sp>
        <p:nvSpPr>
          <p:cNvPr id="7" name="TextBox 6"/>
          <p:cNvSpPr txBox="1"/>
          <p:nvPr/>
        </p:nvSpPr>
        <p:spPr>
          <a:xfrm>
            <a:off x="777240" y="3483863"/>
            <a:ext cx="274320" cy="274320"/>
          </a:xfrm>
          <a:prstGeom prst="rect">
            <a:avLst/>
          </a:prstGeom>
          <a:noFill/>
        </p:spPr>
        <p:txBody>
          <a:bodyPr wrap="square" lIns="0" rIns="0" tIns="0" bIns="0" anchor="t">
            <a:spAutoFit/>
          </a:bodyPr>
          <a:lstStyle/>
          <a:p>
            <a:pPr algn="l">
              <a:lnSpc>
                <a:spcPct val="112000"/>
              </a:lnSpc>
              <a:spcAft>
                <a:spcPts val="0"/>
              </a:spcAft>
            </a:pPr>
            <a:r>
              <a:rPr sz="1800" b="1" i="0">
                <a:solidFill>
                  <a:srgbClr val="12181D"/>
                </a:solidFill>
                <a:latin typeface="Calibri"/>
              </a:rPr>
              <a:t>—</a:t>
            </a:r>
          </a:p>
        </p:txBody>
      </p:sp>
      <p:sp>
        <p:nvSpPr>
          <p:cNvPr id="8" name="TextBox 7"/>
          <p:cNvSpPr txBox="1"/>
          <p:nvPr/>
        </p:nvSpPr>
        <p:spPr>
          <a:xfrm>
            <a:off x="1088136" y="3483863"/>
            <a:ext cx="5724144" cy="365760"/>
          </a:xfrm>
          <a:prstGeom prst="rect">
            <a:avLst/>
          </a:prstGeom>
          <a:noFill/>
        </p:spPr>
        <p:txBody>
          <a:bodyPr wrap="square" lIns="0" rIns="0" tIns="0" bIns="0" anchor="t">
            <a:spAutoFit/>
          </a:bodyPr>
          <a:lstStyle/>
          <a:p>
            <a:pPr algn="l">
              <a:lnSpc>
                <a:spcPct val="114000"/>
              </a:lnSpc>
              <a:spcAft>
                <a:spcPts val="0"/>
              </a:spcAft>
            </a:pPr>
            <a:r>
              <a:rPr sz="1800" b="1" i="0">
                <a:solidFill>
                  <a:srgbClr val="12181D"/>
                </a:solidFill>
                <a:latin typeface="Calibri"/>
              </a:rPr>
              <a:t>Se tromper fait partie du programme.</a:t>
            </a:r>
            <a:r>
              <a:rPr sz="1800" b="0" i="0">
                <a:solidFill>
                  <a:srgbClr val="545F69"/>
                </a:solidFill>
                <a:latin typeface="Calibri"/>
              </a:rPr>
              <a:t> Une IA qui vous répond n'importe quoi est un moment pédagogique, pas un échec. Signalez-le, on l'analyse ensemble.</a:t>
            </a:r>
          </a:p>
        </p:txBody>
      </p:sp>
      <p:sp>
        <p:nvSpPr>
          <p:cNvPr id="9" name="TextBox 8"/>
          <p:cNvSpPr txBox="1"/>
          <p:nvPr/>
        </p:nvSpPr>
        <p:spPr>
          <a:xfrm>
            <a:off x="777240" y="4636007"/>
            <a:ext cx="274320" cy="274320"/>
          </a:xfrm>
          <a:prstGeom prst="rect">
            <a:avLst/>
          </a:prstGeom>
          <a:noFill/>
        </p:spPr>
        <p:txBody>
          <a:bodyPr wrap="square" lIns="0" rIns="0" tIns="0" bIns="0" anchor="t">
            <a:spAutoFit/>
          </a:bodyPr>
          <a:lstStyle/>
          <a:p>
            <a:pPr algn="l">
              <a:lnSpc>
                <a:spcPct val="112000"/>
              </a:lnSpc>
              <a:spcAft>
                <a:spcPts val="0"/>
              </a:spcAft>
            </a:pPr>
            <a:r>
              <a:rPr sz="1800" b="1" i="0">
                <a:solidFill>
                  <a:srgbClr val="12181D"/>
                </a:solidFill>
                <a:latin typeface="Calibri"/>
              </a:rPr>
              <a:t>—</a:t>
            </a:r>
          </a:p>
        </p:txBody>
      </p:sp>
      <p:sp>
        <p:nvSpPr>
          <p:cNvPr id="10" name="TextBox 9"/>
          <p:cNvSpPr txBox="1"/>
          <p:nvPr/>
        </p:nvSpPr>
        <p:spPr>
          <a:xfrm>
            <a:off x="1088136" y="4636007"/>
            <a:ext cx="5724144" cy="365760"/>
          </a:xfrm>
          <a:prstGeom prst="rect">
            <a:avLst/>
          </a:prstGeom>
          <a:noFill/>
        </p:spPr>
        <p:txBody>
          <a:bodyPr wrap="square" lIns="0" rIns="0" tIns="0" bIns="0" anchor="t">
            <a:spAutoFit/>
          </a:bodyPr>
          <a:lstStyle/>
          <a:p>
            <a:pPr algn="l">
              <a:lnSpc>
                <a:spcPct val="114000"/>
              </a:lnSpc>
              <a:spcAft>
                <a:spcPts val="0"/>
              </a:spcAft>
            </a:pPr>
            <a:r>
              <a:rPr sz="1800" b="1" i="0">
                <a:solidFill>
                  <a:srgbClr val="12181D"/>
                </a:solidFill>
                <a:latin typeface="Calibri"/>
              </a:rPr>
              <a:t>Aucune question n'est bête.</a:t>
            </a:r>
            <a:r>
              <a:rPr sz="1800" b="0" i="0">
                <a:solidFill>
                  <a:srgbClr val="545F69"/>
                </a:solidFill>
                <a:latin typeface="Calibri"/>
              </a:rPr>
              <a:t> Celle que vous n'osez pas poser, la moitié de la salle se la pose aussi. Coupez-moi quand vous voulez.</a:t>
            </a:r>
          </a:p>
        </p:txBody>
      </p:sp>
      <p:sp>
        <p:nvSpPr>
          <p:cNvPr id="11" name="Rectangle 10"/>
          <p:cNvSpPr/>
          <p:nvPr/>
        </p:nvSpPr>
        <p:spPr>
          <a:xfrm>
            <a:off x="7269479" y="2286000"/>
            <a:ext cx="4144975" cy="3291840"/>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269479" y="2286000"/>
            <a:ext cx="41148" cy="3291840"/>
          </a:xfrm>
          <a:prstGeom prst="rect">
            <a:avLst/>
          </a:prstGeom>
          <a:solidFill>
            <a:srgbClr val="12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525511" y="2487168"/>
            <a:ext cx="3687775" cy="228600"/>
          </a:xfrm>
          <a:prstGeom prst="rect">
            <a:avLst/>
          </a:prstGeom>
          <a:noFill/>
        </p:spPr>
        <p:txBody>
          <a:bodyPr wrap="square" lIns="0" rIns="0" tIns="0" bIns="0" anchor="t">
            <a:spAutoFit/>
          </a:bodyPr>
          <a:lstStyle/>
          <a:p>
            <a:pPr algn="l">
              <a:lnSpc>
                <a:spcPct val="112000"/>
              </a:lnSpc>
              <a:spcAft>
                <a:spcPts val="0"/>
              </a:spcAft>
            </a:pPr>
            <a:r>
              <a:rPr sz="1000" b="1" i="0" spc="140">
                <a:solidFill>
                  <a:srgbClr val="12181D"/>
                </a:solidFill>
                <a:latin typeface="Consolas"/>
              </a:rPr>
              <a:t>CE QU'ON NE FERA PAS</a:t>
            </a:r>
          </a:p>
        </p:txBody>
      </p:sp>
      <p:sp>
        <p:nvSpPr>
          <p:cNvPr id="14" name="TextBox 13"/>
          <p:cNvSpPr txBox="1"/>
          <p:nvPr/>
        </p:nvSpPr>
        <p:spPr>
          <a:xfrm>
            <a:off x="7525511" y="2816352"/>
            <a:ext cx="3687775" cy="2560320"/>
          </a:xfrm>
          <a:prstGeom prst="rect">
            <a:avLst/>
          </a:prstGeom>
          <a:noFill/>
        </p:spPr>
        <p:txBody>
          <a:bodyPr wrap="square" lIns="0" rIns="0" tIns="0" bIns="0" anchor="t">
            <a:spAutoFit/>
          </a:bodyPr>
          <a:lstStyle/>
          <a:p>
            <a:pPr algn="l">
              <a:lnSpc>
                <a:spcPct val="120000"/>
              </a:lnSpc>
              <a:spcAft>
                <a:spcPts val="0"/>
              </a:spcAft>
            </a:pPr>
            <a:r>
              <a:rPr sz="1500" b="0" i="0">
                <a:solidFill>
                  <a:srgbClr val="545F69"/>
                </a:solidFill>
                <a:latin typeface="Calibri"/>
              </a:rPr>
              <a:t>Pas de mathématiques.</a:t>
            </a:r>
          </a:p>
          <a:p>
            <a:pPr algn="l">
              <a:lnSpc>
                <a:spcPct val="120000"/>
              </a:lnSpc>
              <a:spcAft>
                <a:spcPts val="0"/>
              </a:spcAft>
            </a:pPr>
            <a:r>
              <a:rPr sz="1500" b="0" i="0">
                <a:solidFill>
                  <a:srgbClr val="545F69"/>
                </a:solidFill>
                <a:latin typeface="Calibri"/>
              </a:rPr>
              <a:t>Pas d'installation compliquée.</a:t>
            </a:r>
          </a:p>
          <a:p>
            <a:pPr algn="l">
              <a:lnSpc>
                <a:spcPct val="120000"/>
              </a:lnSpc>
              <a:spcAft>
                <a:spcPts val="0"/>
              </a:spcAft>
            </a:pPr>
            <a:r>
              <a:rPr sz="1500" b="0" i="0">
                <a:solidFill>
                  <a:srgbClr val="545F69"/>
                </a:solidFill>
                <a:latin typeface="Calibri"/>
              </a:rPr>
              <a:t>Pas de vente d'outil.</a:t>
            </a:r>
          </a:p>
          <a:p>
            <a:pPr algn="l">
              <a:lnSpc>
                <a:spcPct val="120000"/>
              </a:lnSpc>
              <a:spcAft>
                <a:spcPts val="0"/>
              </a:spcAft>
            </a:pPr>
          </a:p>
          <a:p>
            <a:pPr algn="l">
              <a:lnSpc>
                <a:spcPct val="120000"/>
              </a:lnSpc>
              <a:spcAft>
                <a:spcPts val="0"/>
              </a:spcAft>
            </a:pPr>
            <a:r>
              <a:rPr sz="1500" b="0" i="0">
                <a:solidFill>
                  <a:srgbClr val="545F69"/>
                </a:solidFill>
                <a:latin typeface="Calibri"/>
              </a:rPr>
              <a:t>Et aucune donnée confidentielle ne sera saisie pendant les ateliers.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77240" y="402336"/>
            <a:ext cx="10637215" cy="32004"/>
          </a:xfrm>
          <a:prstGeom prst="rect">
            <a:avLst/>
          </a:prstGeom>
          <a:solidFill>
            <a:srgbClr val="12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77240" y="502920"/>
            <a:ext cx="10637215" cy="274320"/>
          </a:xfrm>
          <a:prstGeom prst="rect">
            <a:avLst/>
          </a:prstGeom>
          <a:noFill/>
        </p:spPr>
        <p:txBody>
          <a:bodyPr wrap="square" lIns="0" rIns="0" tIns="0" bIns="0" anchor="t">
            <a:spAutoFit/>
          </a:bodyPr>
          <a:lstStyle/>
          <a:p>
            <a:pPr algn="l">
              <a:lnSpc>
                <a:spcPct val="112000"/>
              </a:lnSpc>
              <a:spcAft>
                <a:spcPts val="0"/>
              </a:spcAft>
            </a:pPr>
            <a:r>
              <a:rPr sz="1050" b="1" i="0" spc="150">
                <a:solidFill>
                  <a:srgbClr val="12181D"/>
                </a:solidFill>
                <a:latin typeface="Consolas"/>
              </a:rPr>
              <a:t>TOUR DE TABLE</a:t>
            </a:r>
          </a:p>
        </p:txBody>
      </p:sp>
      <p:sp>
        <p:nvSpPr>
          <p:cNvPr id="4" name="TextBox 3"/>
          <p:cNvSpPr txBox="1"/>
          <p:nvPr/>
        </p:nvSpPr>
        <p:spPr>
          <a:xfrm>
            <a:off x="777240" y="868680"/>
            <a:ext cx="10637215" cy="1371600"/>
          </a:xfrm>
          <a:prstGeom prst="rect">
            <a:avLst/>
          </a:prstGeom>
          <a:noFill/>
        </p:spPr>
        <p:txBody>
          <a:bodyPr wrap="square" lIns="0" rIns="0" tIns="0" bIns="0" anchor="t">
            <a:spAutoFit/>
          </a:bodyPr>
          <a:lstStyle/>
          <a:p>
            <a:pPr algn="l">
              <a:lnSpc>
                <a:spcPct val="95000"/>
              </a:lnSpc>
              <a:spcAft>
                <a:spcPts val="0"/>
              </a:spcAft>
            </a:pPr>
            <a:r>
              <a:rPr sz="3800" b="1" i="0">
                <a:solidFill>
                  <a:srgbClr val="12181D"/>
                </a:solidFill>
                <a:latin typeface="Trebuchet MS"/>
              </a:rPr>
              <a:t>Où en êtes-vous, ce matin ?</a:t>
            </a:r>
          </a:p>
        </p:txBody>
      </p:sp>
      <p:sp>
        <p:nvSpPr>
          <p:cNvPr id="5" name="TextBox 4"/>
          <p:cNvSpPr txBox="1"/>
          <p:nvPr/>
        </p:nvSpPr>
        <p:spPr>
          <a:xfrm>
            <a:off x="777240" y="2331720"/>
            <a:ext cx="274320" cy="274320"/>
          </a:xfrm>
          <a:prstGeom prst="rect">
            <a:avLst/>
          </a:prstGeom>
          <a:noFill/>
        </p:spPr>
        <p:txBody>
          <a:bodyPr wrap="square" lIns="0" rIns="0" tIns="0" bIns="0" anchor="t">
            <a:spAutoFit/>
          </a:bodyPr>
          <a:lstStyle/>
          <a:p>
            <a:pPr algn="l">
              <a:lnSpc>
                <a:spcPct val="112000"/>
              </a:lnSpc>
              <a:spcAft>
                <a:spcPts val="0"/>
              </a:spcAft>
            </a:pPr>
            <a:r>
              <a:rPr sz="1800" b="1" i="0">
                <a:solidFill>
                  <a:srgbClr val="12181D"/>
                </a:solidFill>
                <a:latin typeface="Calibri"/>
              </a:rPr>
              <a:t>—</a:t>
            </a:r>
          </a:p>
        </p:txBody>
      </p:sp>
      <p:sp>
        <p:nvSpPr>
          <p:cNvPr id="6" name="TextBox 5"/>
          <p:cNvSpPr txBox="1"/>
          <p:nvPr/>
        </p:nvSpPr>
        <p:spPr>
          <a:xfrm>
            <a:off x="1088136" y="2331720"/>
            <a:ext cx="5724144" cy="365760"/>
          </a:xfrm>
          <a:prstGeom prst="rect">
            <a:avLst/>
          </a:prstGeom>
          <a:noFill/>
        </p:spPr>
        <p:txBody>
          <a:bodyPr wrap="square" lIns="0" rIns="0" tIns="0" bIns="0" anchor="t">
            <a:spAutoFit/>
          </a:bodyPr>
          <a:lstStyle/>
          <a:p>
            <a:pPr algn="l">
              <a:lnSpc>
                <a:spcPct val="114000"/>
              </a:lnSpc>
              <a:spcAft>
                <a:spcPts val="0"/>
              </a:spcAft>
            </a:pPr>
            <a:r>
              <a:rPr sz="1800" b="0" i="0">
                <a:solidFill>
                  <a:srgbClr val="545F69"/>
                </a:solidFill>
                <a:latin typeface="Calibri"/>
              </a:rPr>
              <a:t>Votre prénom, votre métier, et </a:t>
            </a:r>
            <a:r>
              <a:rPr sz="1800" b="1" i="0">
                <a:solidFill>
                  <a:srgbClr val="12181D"/>
                </a:solidFill>
                <a:latin typeface="Calibri"/>
              </a:rPr>
              <a:t>votre usage actuel de l'IA en un seul mot</a:t>
            </a:r>
            <a:r>
              <a:rPr sz="1800" b="0" i="0">
                <a:solidFill>
                  <a:srgbClr val="545F69"/>
                </a:solidFill>
                <a:latin typeface="Calibri"/>
              </a:rPr>
              <a:t>.</a:t>
            </a:r>
          </a:p>
        </p:txBody>
      </p:sp>
      <p:sp>
        <p:nvSpPr>
          <p:cNvPr id="7" name="TextBox 6"/>
          <p:cNvSpPr txBox="1"/>
          <p:nvPr/>
        </p:nvSpPr>
        <p:spPr>
          <a:xfrm>
            <a:off x="777240" y="3191256"/>
            <a:ext cx="274320" cy="274320"/>
          </a:xfrm>
          <a:prstGeom prst="rect">
            <a:avLst/>
          </a:prstGeom>
          <a:noFill/>
        </p:spPr>
        <p:txBody>
          <a:bodyPr wrap="square" lIns="0" rIns="0" tIns="0" bIns="0" anchor="t">
            <a:spAutoFit/>
          </a:bodyPr>
          <a:lstStyle/>
          <a:p>
            <a:pPr algn="l">
              <a:lnSpc>
                <a:spcPct val="112000"/>
              </a:lnSpc>
              <a:spcAft>
                <a:spcPts val="0"/>
              </a:spcAft>
            </a:pPr>
            <a:r>
              <a:rPr sz="1800" b="1" i="0">
                <a:solidFill>
                  <a:srgbClr val="12181D"/>
                </a:solidFill>
                <a:latin typeface="Calibri"/>
              </a:rPr>
              <a:t>—</a:t>
            </a:r>
          </a:p>
        </p:txBody>
      </p:sp>
      <p:sp>
        <p:nvSpPr>
          <p:cNvPr id="8" name="TextBox 7"/>
          <p:cNvSpPr txBox="1"/>
          <p:nvPr/>
        </p:nvSpPr>
        <p:spPr>
          <a:xfrm>
            <a:off x="1088136" y="3191256"/>
            <a:ext cx="5724144" cy="365760"/>
          </a:xfrm>
          <a:prstGeom prst="rect">
            <a:avLst/>
          </a:prstGeom>
          <a:noFill/>
        </p:spPr>
        <p:txBody>
          <a:bodyPr wrap="square" lIns="0" rIns="0" tIns="0" bIns="0" anchor="t">
            <a:spAutoFit/>
          </a:bodyPr>
          <a:lstStyle/>
          <a:p>
            <a:pPr algn="l">
              <a:lnSpc>
                <a:spcPct val="114000"/>
              </a:lnSpc>
              <a:spcAft>
                <a:spcPts val="0"/>
              </a:spcAft>
            </a:pPr>
            <a:r>
              <a:rPr sz="1800" b="0" i="0">
                <a:solidFill>
                  <a:srgbClr val="545F69"/>
                </a:solidFill>
                <a:latin typeface="Calibri"/>
              </a:rPr>
              <a:t>À main levée : qui l'utilise déjà ? Qui s'en sert </a:t>
            </a:r>
            <a:r>
              <a:rPr sz="1800" b="1" i="0">
                <a:solidFill>
                  <a:srgbClr val="12181D"/>
                </a:solidFill>
                <a:latin typeface="Calibri"/>
              </a:rPr>
              <a:t>tous les jours</a:t>
            </a:r>
            <a:r>
              <a:rPr sz="1800" b="0" i="0">
                <a:solidFill>
                  <a:srgbClr val="545F69"/>
                </a:solidFill>
                <a:latin typeface="Calibri"/>
              </a:rPr>
              <a:t> ? Qui paie un abonnement ?</a:t>
            </a:r>
          </a:p>
        </p:txBody>
      </p:sp>
      <p:sp>
        <p:nvSpPr>
          <p:cNvPr id="9" name="TextBox 8"/>
          <p:cNvSpPr txBox="1"/>
          <p:nvPr/>
        </p:nvSpPr>
        <p:spPr>
          <a:xfrm>
            <a:off x="777240" y="4050791"/>
            <a:ext cx="274320" cy="274320"/>
          </a:xfrm>
          <a:prstGeom prst="rect">
            <a:avLst/>
          </a:prstGeom>
          <a:noFill/>
        </p:spPr>
        <p:txBody>
          <a:bodyPr wrap="square" lIns="0" rIns="0" tIns="0" bIns="0" anchor="t">
            <a:spAutoFit/>
          </a:bodyPr>
          <a:lstStyle/>
          <a:p>
            <a:pPr algn="l">
              <a:lnSpc>
                <a:spcPct val="112000"/>
              </a:lnSpc>
              <a:spcAft>
                <a:spcPts val="0"/>
              </a:spcAft>
            </a:pPr>
            <a:r>
              <a:rPr sz="1800" b="1" i="0">
                <a:solidFill>
                  <a:srgbClr val="12181D"/>
                </a:solidFill>
                <a:latin typeface="Calibri"/>
              </a:rPr>
              <a:t>—</a:t>
            </a:r>
          </a:p>
        </p:txBody>
      </p:sp>
      <p:sp>
        <p:nvSpPr>
          <p:cNvPr id="10" name="TextBox 9"/>
          <p:cNvSpPr txBox="1"/>
          <p:nvPr/>
        </p:nvSpPr>
        <p:spPr>
          <a:xfrm>
            <a:off x="1088136" y="4050791"/>
            <a:ext cx="5724144" cy="365760"/>
          </a:xfrm>
          <a:prstGeom prst="rect">
            <a:avLst/>
          </a:prstGeom>
          <a:noFill/>
        </p:spPr>
        <p:txBody>
          <a:bodyPr wrap="square" lIns="0" rIns="0" tIns="0" bIns="0" anchor="t">
            <a:spAutoFit/>
          </a:bodyPr>
          <a:lstStyle/>
          <a:p>
            <a:pPr algn="l">
              <a:lnSpc>
                <a:spcPct val="114000"/>
              </a:lnSpc>
              <a:spcAft>
                <a:spcPts val="0"/>
              </a:spcAft>
            </a:pPr>
            <a:r>
              <a:rPr sz="1800" b="0" i="0">
                <a:solidFill>
                  <a:srgbClr val="545F69"/>
                </a:solidFill>
                <a:latin typeface="Calibri"/>
              </a:rPr>
              <a:t>Et la question qui compte : </a:t>
            </a:r>
            <a:r>
              <a:rPr sz="1800" b="1" i="0">
                <a:solidFill>
                  <a:srgbClr val="12181D"/>
                </a:solidFill>
                <a:latin typeface="Calibri"/>
              </a:rPr>
              <a:t>qu'est-ce qui vous a amené ici aujourd'hui ?</a:t>
            </a:r>
          </a:p>
        </p:txBody>
      </p:sp>
      <p:sp>
        <p:nvSpPr>
          <p:cNvPr id="11" name="Rectangle 10"/>
          <p:cNvSpPr/>
          <p:nvPr/>
        </p:nvSpPr>
        <p:spPr>
          <a:xfrm>
            <a:off x="7269479" y="2286000"/>
            <a:ext cx="4144975" cy="3291840"/>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269479" y="2286000"/>
            <a:ext cx="41148" cy="3291840"/>
          </a:xfrm>
          <a:prstGeom prst="rect">
            <a:avLst/>
          </a:prstGeom>
          <a:solidFill>
            <a:srgbClr val="12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525511" y="2487168"/>
            <a:ext cx="3687775" cy="228600"/>
          </a:xfrm>
          <a:prstGeom prst="rect">
            <a:avLst/>
          </a:prstGeom>
          <a:noFill/>
        </p:spPr>
        <p:txBody>
          <a:bodyPr wrap="square" lIns="0" rIns="0" tIns="0" bIns="0" anchor="t">
            <a:spAutoFit/>
          </a:bodyPr>
          <a:lstStyle/>
          <a:p>
            <a:pPr algn="l">
              <a:lnSpc>
                <a:spcPct val="112000"/>
              </a:lnSpc>
              <a:spcAft>
                <a:spcPts val="0"/>
              </a:spcAft>
            </a:pPr>
            <a:r>
              <a:rPr sz="1000" b="1" i="0" spc="140">
                <a:solidFill>
                  <a:srgbClr val="12181D"/>
                </a:solidFill>
                <a:latin typeface="Consolas"/>
              </a:rPr>
              <a:t>POUR LE FORMATEUR</a:t>
            </a:r>
          </a:p>
        </p:txBody>
      </p:sp>
      <p:sp>
        <p:nvSpPr>
          <p:cNvPr id="14" name="TextBox 13"/>
          <p:cNvSpPr txBox="1"/>
          <p:nvPr/>
        </p:nvSpPr>
        <p:spPr>
          <a:xfrm>
            <a:off x="7525511" y="2816352"/>
            <a:ext cx="3687775" cy="2560320"/>
          </a:xfrm>
          <a:prstGeom prst="rect">
            <a:avLst/>
          </a:prstGeom>
          <a:noFill/>
        </p:spPr>
        <p:txBody>
          <a:bodyPr wrap="square" lIns="0" rIns="0" tIns="0" bIns="0" anchor="t">
            <a:spAutoFit/>
          </a:bodyPr>
          <a:lstStyle/>
          <a:p>
            <a:pPr algn="l">
              <a:lnSpc>
                <a:spcPct val="120000"/>
              </a:lnSpc>
              <a:spcAft>
                <a:spcPts val="0"/>
              </a:spcAft>
            </a:pPr>
            <a:r>
              <a:rPr sz="1500" b="0" i="0">
                <a:solidFill>
                  <a:srgbClr val="545F69"/>
                </a:solidFill>
                <a:latin typeface="Calibri"/>
              </a:rPr>
              <a:t>Notez au tableau les trois métiers les plus représentés.</a:t>
            </a:r>
          </a:p>
          <a:p>
            <a:pPr algn="l">
              <a:lnSpc>
                <a:spcPct val="120000"/>
              </a:lnSpc>
              <a:spcAft>
                <a:spcPts val="0"/>
              </a:spcAft>
            </a:pPr>
          </a:p>
          <a:p>
            <a:pPr algn="l">
              <a:lnSpc>
                <a:spcPct val="120000"/>
              </a:lnSpc>
              <a:spcAft>
                <a:spcPts val="0"/>
              </a:spcAft>
            </a:pPr>
            <a:r>
              <a:rPr sz="1500" b="0" i="0">
                <a:solidFill>
                  <a:srgbClr val="545F69"/>
                </a:solidFill>
                <a:latin typeface="Calibri"/>
              </a:rPr>
              <a:t>Tous les exemples de la journée seront tirés de ces trois-là.</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01168" cy="6858000"/>
          </a:xfrm>
          <a:prstGeom prst="rect">
            <a:avLst/>
          </a:prstGeom>
          <a:solidFill>
            <a:srgbClr val="12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548640"/>
            <a:ext cx="2651760" cy="384048"/>
          </a:xfrm>
          <a:prstGeom prst="rect">
            <a:avLst/>
          </a:prstGeom>
          <a:solidFill>
            <a:srgbClr val="12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41832" y="621792"/>
            <a:ext cx="2377440" cy="274320"/>
          </a:xfrm>
          <a:prstGeom prst="rect">
            <a:avLst/>
          </a:prstGeom>
          <a:noFill/>
        </p:spPr>
        <p:txBody>
          <a:bodyPr wrap="square" lIns="0" rIns="0" tIns="0" bIns="0" anchor="t">
            <a:spAutoFit/>
          </a:bodyPr>
          <a:lstStyle/>
          <a:p>
            <a:pPr algn="l">
              <a:lnSpc>
                <a:spcPct val="112000"/>
              </a:lnSpc>
              <a:spcAft>
                <a:spcPts val="0"/>
              </a:spcAft>
            </a:pPr>
            <a:r>
              <a:rPr sz="1150" b="1" i="0" spc="150">
                <a:solidFill>
                  <a:srgbClr val="FFFFFF"/>
                </a:solidFill>
                <a:latin typeface="Consolas"/>
              </a:rPr>
              <a:t>ATELIER 1 · 15 MIN</a:t>
            </a:r>
          </a:p>
        </p:txBody>
      </p:sp>
      <p:sp>
        <p:nvSpPr>
          <p:cNvPr id="6" name="TextBox 5"/>
          <p:cNvSpPr txBox="1"/>
          <p:nvPr/>
        </p:nvSpPr>
        <p:spPr>
          <a:xfrm>
            <a:off x="777240" y="1143000"/>
            <a:ext cx="10637215" cy="1371600"/>
          </a:xfrm>
          <a:prstGeom prst="rect">
            <a:avLst/>
          </a:prstGeom>
          <a:noFill/>
        </p:spPr>
        <p:txBody>
          <a:bodyPr wrap="square" lIns="0" rIns="0" tIns="0" bIns="0" anchor="t">
            <a:spAutoFit/>
          </a:bodyPr>
          <a:lstStyle/>
          <a:p>
            <a:pPr algn="l">
              <a:lnSpc>
                <a:spcPct val="95000"/>
              </a:lnSpc>
              <a:spcAft>
                <a:spcPts val="0"/>
              </a:spcAft>
            </a:pPr>
            <a:r>
              <a:rPr sz="3600" b="1" i="0">
                <a:solidFill>
                  <a:srgbClr val="12181D"/>
                </a:solidFill>
                <a:latin typeface="Trebuchet MS"/>
              </a:rPr>
              <a:t>La première hallucination, dans les dix premières minutes</a:t>
            </a:r>
          </a:p>
        </p:txBody>
      </p:sp>
      <p:sp>
        <p:nvSpPr>
          <p:cNvPr id="7" name="TextBox 6"/>
          <p:cNvSpPr txBox="1"/>
          <p:nvPr/>
        </p:nvSpPr>
        <p:spPr>
          <a:xfrm>
            <a:off x="777240" y="2606040"/>
            <a:ext cx="2743200" cy="274320"/>
          </a:xfrm>
          <a:prstGeom prst="rect">
            <a:avLst/>
          </a:prstGeom>
          <a:noFill/>
        </p:spPr>
        <p:txBody>
          <a:bodyPr wrap="square" lIns="0" rIns="0" tIns="0" bIns="0" anchor="t">
            <a:spAutoFit/>
          </a:bodyPr>
          <a:lstStyle/>
          <a:p>
            <a:pPr algn="l">
              <a:lnSpc>
                <a:spcPct val="112000"/>
              </a:lnSpc>
              <a:spcAft>
                <a:spcPts val="0"/>
              </a:spcAft>
            </a:pPr>
            <a:r>
              <a:rPr sz="1000" b="1" i="0" spc="140">
                <a:solidFill>
                  <a:srgbClr val="12181D"/>
                </a:solidFill>
                <a:latin typeface="Consolas"/>
              </a:rPr>
              <a:t>CONSIGNE</a:t>
            </a:r>
          </a:p>
        </p:txBody>
      </p:sp>
      <p:sp>
        <p:nvSpPr>
          <p:cNvPr id="8" name="TextBox 7"/>
          <p:cNvSpPr txBox="1"/>
          <p:nvPr/>
        </p:nvSpPr>
        <p:spPr>
          <a:xfrm>
            <a:off x="777240" y="2944368"/>
            <a:ext cx="274320" cy="274320"/>
          </a:xfrm>
          <a:prstGeom prst="rect">
            <a:avLst/>
          </a:prstGeom>
          <a:noFill/>
        </p:spPr>
        <p:txBody>
          <a:bodyPr wrap="square" lIns="0" rIns="0" tIns="0" bIns="0" anchor="t">
            <a:spAutoFit/>
          </a:bodyPr>
          <a:lstStyle/>
          <a:p>
            <a:pPr algn="l">
              <a:lnSpc>
                <a:spcPct val="112000"/>
              </a:lnSpc>
              <a:spcAft>
                <a:spcPts val="0"/>
              </a:spcAft>
            </a:pPr>
            <a:r>
              <a:rPr sz="1700" b="1" i="0">
                <a:solidFill>
                  <a:srgbClr val="12181D"/>
                </a:solidFill>
                <a:latin typeface="Calibri"/>
              </a:rPr>
              <a:t>—</a:t>
            </a:r>
          </a:p>
        </p:txBody>
      </p:sp>
      <p:sp>
        <p:nvSpPr>
          <p:cNvPr id="9" name="TextBox 8"/>
          <p:cNvSpPr txBox="1"/>
          <p:nvPr/>
        </p:nvSpPr>
        <p:spPr>
          <a:xfrm>
            <a:off x="1088136" y="2944368"/>
            <a:ext cx="5632704" cy="365760"/>
          </a:xfrm>
          <a:prstGeom prst="rect">
            <a:avLst/>
          </a:prstGeom>
          <a:noFill/>
        </p:spPr>
        <p:txBody>
          <a:bodyPr wrap="square" lIns="0" rIns="0" tIns="0" bIns="0" anchor="t">
            <a:spAutoFit/>
          </a:bodyPr>
          <a:lstStyle/>
          <a:p>
            <a:pPr algn="l">
              <a:lnSpc>
                <a:spcPct val="114000"/>
              </a:lnSpc>
              <a:spcAft>
                <a:spcPts val="0"/>
              </a:spcAft>
            </a:pPr>
            <a:r>
              <a:rPr sz="1700" b="0" i="0">
                <a:solidFill>
                  <a:srgbClr val="12181D"/>
                </a:solidFill>
                <a:latin typeface="Calibri"/>
              </a:rPr>
              <a:t>Je demande à l'IA, devant vous, une courte biographie de l'un d'entre vous — en ne lui donnant que le prénom et le métier.</a:t>
            </a:r>
          </a:p>
        </p:txBody>
      </p:sp>
      <p:sp>
        <p:nvSpPr>
          <p:cNvPr id="10" name="TextBox 9"/>
          <p:cNvSpPr txBox="1"/>
          <p:nvPr/>
        </p:nvSpPr>
        <p:spPr>
          <a:xfrm>
            <a:off x="777240" y="4047744"/>
            <a:ext cx="274320" cy="274320"/>
          </a:xfrm>
          <a:prstGeom prst="rect">
            <a:avLst/>
          </a:prstGeom>
          <a:noFill/>
        </p:spPr>
        <p:txBody>
          <a:bodyPr wrap="square" lIns="0" rIns="0" tIns="0" bIns="0" anchor="t">
            <a:spAutoFit/>
          </a:bodyPr>
          <a:lstStyle/>
          <a:p>
            <a:pPr algn="l">
              <a:lnSpc>
                <a:spcPct val="112000"/>
              </a:lnSpc>
              <a:spcAft>
                <a:spcPts val="0"/>
              </a:spcAft>
            </a:pPr>
            <a:r>
              <a:rPr sz="1700" b="1" i="0">
                <a:solidFill>
                  <a:srgbClr val="12181D"/>
                </a:solidFill>
                <a:latin typeface="Calibri"/>
              </a:rPr>
              <a:t>—</a:t>
            </a:r>
          </a:p>
        </p:txBody>
      </p:sp>
      <p:sp>
        <p:nvSpPr>
          <p:cNvPr id="11" name="TextBox 10"/>
          <p:cNvSpPr txBox="1"/>
          <p:nvPr/>
        </p:nvSpPr>
        <p:spPr>
          <a:xfrm>
            <a:off x="1088136" y="4047744"/>
            <a:ext cx="5632704" cy="365760"/>
          </a:xfrm>
          <a:prstGeom prst="rect">
            <a:avLst/>
          </a:prstGeom>
          <a:noFill/>
        </p:spPr>
        <p:txBody>
          <a:bodyPr wrap="square" lIns="0" rIns="0" tIns="0" bIns="0" anchor="t">
            <a:spAutoFit/>
          </a:bodyPr>
          <a:lstStyle/>
          <a:p>
            <a:pPr algn="l">
              <a:lnSpc>
                <a:spcPct val="114000"/>
              </a:lnSpc>
              <a:spcAft>
                <a:spcPts val="0"/>
              </a:spcAft>
            </a:pPr>
            <a:r>
              <a:rPr sz="1700" b="0" i="0">
                <a:solidFill>
                  <a:srgbClr val="12181D"/>
                </a:solidFill>
                <a:latin typeface="Calibri"/>
              </a:rPr>
              <a:t>On lit le résultat à voix haute.</a:t>
            </a:r>
          </a:p>
        </p:txBody>
      </p:sp>
      <p:sp>
        <p:nvSpPr>
          <p:cNvPr id="12" name="TextBox 11"/>
          <p:cNvSpPr txBox="1"/>
          <p:nvPr/>
        </p:nvSpPr>
        <p:spPr>
          <a:xfrm>
            <a:off x="777240" y="4598416"/>
            <a:ext cx="274320" cy="274320"/>
          </a:xfrm>
          <a:prstGeom prst="rect">
            <a:avLst/>
          </a:prstGeom>
          <a:noFill/>
        </p:spPr>
        <p:txBody>
          <a:bodyPr wrap="square" lIns="0" rIns="0" tIns="0" bIns="0" anchor="t">
            <a:spAutoFit/>
          </a:bodyPr>
          <a:lstStyle/>
          <a:p>
            <a:pPr algn="l">
              <a:lnSpc>
                <a:spcPct val="112000"/>
              </a:lnSpc>
              <a:spcAft>
                <a:spcPts val="0"/>
              </a:spcAft>
            </a:pPr>
            <a:r>
              <a:rPr sz="1700" b="1" i="0">
                <a:solidFill>
                  <a:srgbClr val="12181D"/>
                </a:solidFill>
                <a:latin typeface="Calibri"/>
              </a:rPr>
              <a:t>—</a:t>
            </a:r>
          </a:p>
        </p:txBody>
      </p:sp>
      <p:sp>
        <p:nvSpPr>
          <p:cNvPr id="13" name="TextBox 12"/>
          <p:cNvSpPr txBox="1"/>
          <p:nvPr/>
        </p:nvSpPr>
        <p:spPr>
          <a:xfrm>
            <a:off x="1088136" y="4598416"/>
            <a:ext cx="5632704" cy="365760"/>
          </a:xfrm>
          <a:prstGeom prst="rect">
            <a:avLst/>
          </a:prstGeom>
          <a:noFill/>
        </p:spPr>
        <p:txBody>
          <a:bodyPr wrap="square" lIns="0" rIns="0" tIns="0" bIns="0" anchor="t">
            <a:spAutoFit/>
          </a:bodyPr>
          <a:lstStyle/>
          <a:p>
            <a:pPr algn="l">
              <a:lnSpc>
                <a:spcPct val="114000"/>
              </a:lnSpc>
              <a:spcAft>
                <a:spcPts val="0"/>
              </a:spcAft>
            </a:pPr>
            <a:r>
              <a:rPr sz="1700" b="0" i="0">
                <a:solidFill>
                  <a:srgbClr val="12181D"/>
                </a:solidFill>
                <a:latin typeface="Calibri"/>
              </a:rPr>
              <a:t>La personne concernée corrige : qu'est-ce qui est vrai, qu'est-ce qui est inventé ?</a:t>
            </a:r>
          </a:p>
        </p:txBody>
      </p:sp>
      <p:sp>
        <p:nvSpPr>
          <p:cNvPr id="14" name="TextBox 13"/>
          <p:cNvSpPr txBox="1"/>
          <p:nvPr/>
        </p:nvSpPr>
        <p:spPr>
          <a:xfrm>
            <a:off x="777240" y="5425440"/>
            <a:ext cx="274320" cy="274320"/>
          </a:xfrm>
          <a:prstGeom prst="rect">
            <a:avLst/>
          </a:prstGeom>
          <a:noFill/>
        </p:spPr>
        <p:txBody>
          <a:bodyPr wrap="square" lIns="0" rIns="0" tIns="0" bIns="0" anchor="t">
            <a:spAutoFit/>
          </a:bodyPr>
          <a:lstStyle/>
          <a:p>
            <a:pPr algn="l">
              <a:lnSpc>
                <a:spcPct val="112000"/>
              </a:lnSpc>
              <a:spcAft>
                <a:spcPts val="0"/>
              </a:spcAft>
            </a:pPr>
            <a:r>
              <a:rPr sz="1700" b="1" i="0">
                <a:solidFill>
                  <a:srgbClr val="12181D"/>
                </a:solidFill>
                <a:latin typeface="Calibri"/>
              </a:rPr>
              <a:t>—</a:t>
            </a:r>
          </a:p>
        </p:txBody>
      </p:sp>
      <p:sp>
        <p:nvSpPr>
          <p:cNvPr id="15" name="TextBox 14"/>
          <p:cNvSpPr txBox="1"/>
          <p:nvPr/>
        </p:nvSpPr>
        <p:spPr>
          <a:xfrm>
            <a:off x="1088136" y="5425440"/>
            <a:ext cx="5632704" cy="365760"/>
          </a:xfrm>
          <a:prstGeom prst="rect">
            <a:avLst/>
          </a:prstGeom>
          <a:noFill/>
        </p:spPr>
        <p:txBody>
          <a:bodyPr wrap="square" lIns="0" rIns="0" tIns="0" bIns="0" anchor="t">
            <a:spAutoFit/>
          </a:bodyPr>
          <a:lstStyle/>
          <a:p>
            <a:pPr algn="l">
              <a:lnSpc>
                <a:spcPct val="114000"/>
              </a:lnSpc>
              <a:spcAft>
                <a:spcPts val="0"/>
              </a:spcAft>
            </a:pPr>
            <a:r>
              <a:rPr sz="1700" b="0" i="0">
                <a:solidFill>
                  <a:srgbClr val="12181D"/>
                </a:solidFill>
                <a:latin typeface="Calibri"/>
              </a:rPr>
              <a:t>On recommence avec deux autres participants.</a:t>
            </a:r>
          </a:p>
        </p:txBody>
      </p:sp>
      <p:sp>
        <p:nvSpPr>
          <p:cNvPr id="16" name="Rectangle 15"/>
          <p:cNvSpPr/>
          <p:nvPr/>
        </p:nvSpPr>
        <p:spPr>
          <a:xfrm>
            <a:off x="7269479" y="2286000"/>
            <a:ext cx="4144975" cy="3383280"/>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269479" y="2286000"/>
            <a:ext cx="41148" cy="3383280"/>
          </a:xfrm>
          <a:prstGeom prst="rect">
            <a:avLst/>
          </a:prstGeom>
          <a:solidFill>
            <a:srgbClr val="12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525511" y="2487168"/>
            <a:ext cx="3687775" cy="228600"/>
          </a:xfrm>
          <a:prstGeom prst="rect">
            <a:avLst/>
          </a:prstGeom>
          <a:noFill/>
        </p:spPr>
        <p:txBody>
          <a:bodyPr wrap="square" lIns="0" rIns="0" tIns="0" bIns="0" anchor="t">
            <a:spAutoFit/>
          </a:bodyPr>
          <a:lstStyle/>
          <a:p>
            <a:pPr algn="l">
              <a:lnSpc>
                <a:spcPct val="112000"/>
              </a:lnSpc>
              <a:spcAft>
                <a:spcPts val="0"/>
              </a:spcAft>
            </a:pPr>
            <a:r>
              <a:rPr sz="1000" b="1" i="0" spc="140">
                <a:solidFill>
                  <a:srgbClr val="12181D"/>
                </a:solidFill>
                <a:latin typeface="Consolas"/>
              </a:rPr>
              <a:t>DÉBRIEF EN GRAND GROUPE</a:t>
            </a:r>
          </a:p>
        </p:txBody>
      </p:sp>
      <p:sp>
        <p:nvSpPr>
          <p:cNvPr id="19" name="TextBox 18"/>
          <p:cNvSpPr txBox="1"/>
          <p:nvPr/>
        </p:nvSpPr>
        <p:spPr>
          <a:xfrm>
            <a:off x="7525511" y="2816352"/>
            <a:ext cx="3687775" cy="2651760"/>
          </a:xfrm>
          <a:prstGeom prst="rect">
            <a:avLst/>
          </a:prstGeom>
          <a:noFill/>
        </p:spPr>
        <p:txBody>
          <a:bodyPr wrap="square" lIns="0" rIns="0" tIns="0" bIns="0" anchor="t">
            <a:spAutoFit/>
          </a:bodyPr>
          <a:lstStyle/>
          <a:p>
            <a:pPr algn="l">
              <a:lnSpc>
                <a:spcPct val="120000"/>
              </a:lnSpc>
              <a:spcAft>
                <a:spcPts val="0"/>
              </a:spcAft>
            </a:pPr>
            <a:r>
              <a:rPr sz="1600" b="0" i="0">
                <a:solidFill>
                  <a:srgbClr val="545F69"/>
                </a:solidFill>
                <a:latin typeface="Calibri"/>
              </a:rPr>
              <a:t>Combien d'affirmations fausses ? Étaient-elles </a:t>
            </a:r>
            <a:r>
              <a:rPr sz="1600" b="1" i="0">
                <a:solidFill>
                  <a:srgbClr val="12181D"/>
                </a:solidFill>
                <a:latin typeface="Calibri"/>
              </a:rPr>
              <a:t>plausibles</a:t>
            </a:r>
            <a:r>
              <a:rPr sz="1600" b="0" i="0">
                <a:solidFill>
                  <a:srgbClr val="545F69"/>
                </a:solidFill>
                <a:latin typeface="Calibri"/>
              </a:rPr>
              <a:t> ? C'est exactement le problème : l'IA n'écrit pas n'importe quoi, elle écrit quelque chose de crédible. C'est ce qui la rend utile — et dangereuse.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4EF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0B6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60120" y="1463040"/>
            <a:ext cx="7315200" cy="274320"/>
          </a:xfrm>
          <a:prstGeom prst="rect">
            <a:avLst/>
          </a:prstGeom>
          <a:noFill/>
        </p:spPr>
        <p:txBody>
          <a:bodyPr wrap="square" lIns="0" rIns="0" tIns="0" bIns="0" anchor="t">
            <a:spAutoFit/>
          </a:bodyPr>
          <a:lstStyle/>
          <a:p>
            <a:pPr algn="l">
              <a:lnSpc>
                <a:spcPct val="112000"/>
              </a:lnSpc>
              <a:spcAft>
                <a:spcPts val="0"/>
              </a:spcAft>
            </a:pPr>
            <a:r>
              <a:rPr sz="1200" b="1" i="0" spc="180">
                <a:solidFill>
                  <a:srgbClr val="0B655E"/>
                </a:solidFill>
                <a:latin typeface="Consolas"/>
              </a:rPr>
              <a:t>JOUR 1 · SÉQUENCE 2</a:t>
            </a:r>
          </a:p>
        </p:txBody>
      </p:sp>
      <p:sp>
        <p:nvSpPr>
          <p:cNvPr id="5" name="TextBox 4"/>
          <p:cNvSpPr txBox="1"/>
          <p:nvPr/>
        </p:nvSpPr>
        <p:spPr>
          <a:xfrm>
            <a:off x="960120" y="1965960"/>
            <a:ext cx="9601200" cy="2011680"/>
          </a:xfrm>
          <a:prstGeom prst="rect">
            <a:avLst/>
          </a:prstGeom>
          <a:noFill/>
        </p:spPr>
        <p:txBody>
          <a:bodyPr wrap="square" lIns="0" rIns="0" tIns="0" bIns="0" anchor="t">
            <a:spAutoFit/>
          </a:bodyPr>
          <a:lstStyle/>
          <a:p>
            <a:pPr algn="l">
              <a:lnSpc>
                <a:spcPct val="95000"/>
              </a:lnSpc>
              <a:spcAft>
                <a:spcPts val="0"/>
              </a:spcAft>
            </a:pPr>
            <a:r>
              <a:rPr sz="5000" b="1" i="0">
                <a:solidFill>
                  <a:srgbClr val="12181D"/>
                </a:solidFill>
                <a:latin typeface="Trebuchet MS"/>
              </a:rPr>
              <a:t>L'IA sans le brouillard</a:t>
            </a:r>
          </a:p>
        </p:txBody>
      </p:sp>
      <p:sp>
        <p:nvSpPr>
          <p:cNvPr id="6" name="Rectangle 5"/>
          <p:cNvSpPr/>
          <p:nvPr/>
        </p:nvSpPr>
        <p:spPr>
          <a:xfrm>
            <a:off x="960120" y="4114800"/>
            <a:ext cx="1463040" cy="41148"/>
          </a:xfrm>
          <a:prstGeom prst="rect">
            <a:avLst/>
          </a:prstGeom>
          <a:solidFill>
            <a:srgbClr val="0B6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60120" y="4480560"/>
            <a:ext cx="8595360" cy="1097280"/>
          </a:xfrm>
          <a:prstGeom prst="rect">
            <a:avLst/>
          </a:prstGeom>
          <a:noFill/>
        </p:spPr>
        <p:txBody>
          <a:bodyPr wrap="square" lIns="0" rIns="0" tIns="0" bIns="0" anchor="t">
            <a:spAutoFit/>
          </a:bodyPr>
          <a:lstStyle/>
          <a:p>
            <a:pPr algn="l">
              <a:lnSpc>
                <a:spcPct val="132000"/>
              </a:lnSpc>
              <a:spcAft>
                <a:spcPts val="0"/>
              </a:spcAft>
            </a:pPr>
            <a:r>
              <a:rPr sz="2000" b="0" i="0">
                <a:solidFill>
                  <a:srgbClr val="545F69"/>
                </a:solidFill>
                <a:latin typeface="Calibri"/>
              </a:rPr>
              <a:t>Comprendre ce qu'il y a derrière le mot, et pourquoi cette machine invente.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77240" y="402336"/>
            <a:ext cx="10637215" cy="32004"/>
          </a:xfrm>
          <a:prstGeom prst="rect">
            <a:avLst/>
          </a:prstGeom>
          <a:solidFill>
            <a:srgbClr val="12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77240" y="502920"/>
            <a:ext cx="10637215" cy="274320"/>
          </a:xfrm>
          <a:prstGeom prst="rect">
            <a:avLst/>
          </a:prstGeom>
          <a:noFill/>
        </p:spPr>
        <p:txBody>
          <a:bodyPr wrap="square" lIns="0" rIns="0" tIns="0" bIns="0" anchor="t">
            <a:spAutoFit/>
          </a:bodyPr>
          <a:lstStyle/>
          <a:p>
            <a:pPr algn="l">
              <a:lnSpc>
                <a:spcPct val="112000"/>
              </a:lnSpc>
              <a:spcAft>
                <a:spcPts val="0"/>
              </a:spcAft>
            </a:pPr>
            <a:r>
              <a:rPr sz="1050" b="1" i="0" spc="150">
                <a:solidFill>
                  <a:srgbClr val="0B655E"/>
                </a:solidFill>
                <a:latin typeface="Consolas"/>
              </a:rPr>
              <a:t>SÉQUENCE 2</a:t>
            </a:r>
          </a:p>
        </p:txBody>
      </p:sp>
      <p:sp>
        <p:nvSpPr>
          <p:cNvPr id="4" name="TextBox 3"/>
          <p:cNvSpPr txBox="1"/>
          <p:nvPr/>
        </p:nvSpPr>
        <p:spPr>
          <a:xfrm>
            <a:off x="777240" y="868680"/>
            <a:ext cx="10637215" cy="1371600"/>
          </a:xfrm>
          <a:prstGeom prst="rect">
            <a:avLst/>
          </a:prstGeom>
          <a:noFill/>
        </p:spPr>
        <p:txBody>
          <a:bodyPr wrap="square" lIns="0" rIns="0" tIns="0" bIns="0" anchor="t">
            <a:spAutoFit/>
          </a:bodyPr>
          <a:lstStyle/>
          <a:p>
            <a:pPr algn="l">
              <a:lnSpc>
                <a:spcPct val="95000"/>
              </a:lnSpc>
              <a:spcAft>
                <a:spcPts val="0"/>
              </a:spcAft>
            </a:pPr>
            <a:r>
              <a:rPr sz="3800" b="1" i="0">
                <a:solidFill>
                  <a:srgbClr val="12181D"/>
                </a:solidFill>
                <a:latin typeface="Trebuchet MS"/>
              </a:rPr>
              <a:t>Le mot « IA » ne veut rien dire tout seul</a:t>
            </a:r>
          </a:p>
        </p:txBody>
      </p:sp>
      <p:sp>
        <p:nvSpPr>
          <p:cNvPr id="5" name="TextBox 4"/>
          <p:cNvSpPr txBox="1"/>
          <p:nvPr/>
        </p:nvSpPr>
        <p:spPr>
          <a:xfrm>
            <a:off x="777240" y="2240280"/>
            <a:ext cx="9052560" cy="914400"/>
          </a:xfrm>
          <a:prstGeom prst="rect">
            <a:avLst/>
          </a:prstGeom>
          <a:noFill/>
        </p:spPr>
        <p:txBody>
          <a:bodyPr wrap="square" lIns="0" rIns="0" tIns="0" bIns="0" anchor="t">
            <a:spAutoFit/>
          </a:bodyPr>
          <a:lstStyle/>
          <a:p>
            <a:pPr algn="l">
              <a:lnSpc>
                <a:spcPct val="110000"/>
              </a:lnSpc>
              <a:spcAft>
                <a:spcPts val="0"/>
              </a:spcAft>
            </a:pPr>
            <a:r>
              <a:rPr sz="2400" b="1" i="0">
                <a:solidFill>
                  <a:srgbClr val="0B655E"/>
                </a:solidFill>
                <a:latin typeface="Trebuchet MS"/>
              </a:rPr>
              <a:t>Six technologies différentes se cachent derrière trois lettres.</a:t>
            </a:r>
          </a:p>
        </p:txBody>
      </p:sp>
      <p:sp>
        <p:nvSpPr>
          <p:cNvPr id="6" name="TextBox 5"/>
          <p:cNvSpPr txBox="1"/>
          <p:nvPr/>
        </p:nvSpPr>
        <p:spPr>
          <a:xfrm>
            <a:off x="777240" y="3154680"/>
            <a:ext cx="274320" cy="274320"/>
          </a:xfrm>
          <a:prstGeom prst="rect">
            <a:avLst/>
          </a:prstGeom>
          <a:noFill/>
        </p:spPr>
        <p:txBody>
          <a:bodyPr wrap="square" lIns="0" rIns="0" tIns="0" bIns="0" anchor="t">
            <a:spAutoFit/>
          </a:bodyPr>
          <a:lstStyle/>
          <a:p>
            <a:pPr algn="l">
              <a:lnSpc>
                <a:spcPct val="112000"/>
              </a:lnSpc>
              <a:spcAft>
                <a:spcPts val="0"/>
              </a:spcAft>
            </a:pPr>
            <a:r>
              <a:rPr sz="1700" b="1" i="0">
                <a:solidFill>
                  <a:srgbClr val="0B655E"/>
                </a:solidFill>
                <a:latin typeface="Calibri"/>
              </a:rPr>
              <a:t>—</a:t>
            </a:r>
          </a:p>
        </p:txBody>
      </p:sp>
      <p:sp>
        <p:nvSpPr>
          <p:cNvPr id="7" name="TextBox 6"/>
          <p:cNvSpPr txBox="1"/>
          <p:nvPr/>
        </p:nvSpPr>
        <p:spPr>
          <a:xfrm>
            <a:off x="1088136" y="3154680"/>
            <a:ext cx="8741664" cy="365760"/>
          </a:xfrm>
          <a:prstGeom prst="rect">
            <a:avLst/>
          </a:prstGeom>
          <a:noFill/>
        </p:spPr>
        <p:txBody>
          <a:bodyPr wrap="square" lIns="0" rIns="0" tIns="0" bIns="0" anchor="t">
            <a:spAutoFit/>
          </a:bodyPr>
          <a:lstStyle/>
          <a:p>
            <a:pPr algn="l">
              <a:lnSpc>
                <a:spcPct val="114000"/>
              </a:lnSpc>
              <a:spcAft>
                <a:spcPts val="0"/>
              </a:spcAft>
            </a:pPr>
            <a:r>
              <a:rPr sz="1700" b="0" i="0">
                <a:solidFill>
                  <a:srgbClr val="545F69"/>
                </a:solidFill>
                <a:latin typeface="Calibri"/>
              </a:rPr>
              <a:t>Quand un journal écrit « l'IA va supprimer des emplois », de quoi parle-t-il exactement ?</a:t>
            </a:r>
          </a:p>
        </p:txBody>
      </p:sp>
      <p:sp>
        <p:nvSpPr>
          <p:cNvPr id="8" name="TextBox 7"/>
          <p:cNvSpPr txBox="1"/>
          <p:nvPr/>
        </p:nvSpPr>
        <p:spPr>
          <a:xfrm>
            <a:off x="777240" y="3705352"/>
            <a:ext cx="274320" cy="274320"/>
          </a:xfrm>
          <a:prstGeom prst="rect">
            <a:avLst/>
          </a:prstGeom>
          <a:noFill/>
        </p:spPr>
        <p:txBody>
          <a:bodyPr wrap="square" lIns="0" rIns="0" tIns="0" bIns="0" anchor="t">
            <a:spAutoFit/>
          </a:bodyPr>
          <a:lstStyle/>
          <a:p>
            <a:pPr algn="l">
              <a:lnSpc>
                <a:spcPct val="112000"/>
              </a:lnSpc>
              <a:spcAft>
                <a:spcPts val="0"/>
              </a:spcAft>
            </a:pPr>
            <a:r>
              <a:rPr sz="1700" b="1" i="0">
                <a:solidFill>
                  <a:srgbClr val="0B655E"/>
                </a:solidFill>
                <a:latin typeface="Calibri"/>
              </a:rPr>
              <a:t>—</a:t>
            </a:r>
          </a:p>
        </p:txBody>
      </p:sp>
      <p:sp>
        <p:nvSpPr>
          <p:cNvPr id="9" name="TextBox 8"/>
          <p:cNvSpPr txBox="1"/>
          <p:nvPr/>
        </p:nvSpPr>
        <p:spPr>
          <a:xfrm>
            <a:off x="1088136" y="3705352"/>
            <a:ext cx="8741664" cy="365760"/>
          </a:xfrm>
          <a:prstGeom prst="rect">
            <a:avLst/>
          </a:prstGeom>
          <a:noFill/>
        </p:spPr>
        <p:txBody>
          <a:bodyPr wrap="square" lIns="0" rIns="0" tIns="0" bIns="0" anchor="t">
            <a:spAutoFit/>
          </a:bodyPr>
          <a:lstStyle/>
          <a:p>
            <a:pPr algn="l">
              <a:lnSpc>
                <a:spcPct val="114000"/>
              </a:lnSpc>
              <a:spcAft>
                <a:spcPts val="0"/>
              </a:spcAft>
            </a:pPr>
            <a:r>
              <a:rPr sz="1700" b="0" i="0">
                <a:solidFill>
                  <a:srgbClr val="545F69"/>
                </a:solidFill>
                <a:latin typeface="Calibri"/>
              </a:rPr>
              <a:t>Quand votre banque dit « nous utilisons l'IA », est-ce la même chose que ChatGPT ?</a:t>
            </a:r>
          </a:p>
        </p:txBody>
      </p:sp>
      <p:sp>
        <p:nvSpPr>
          <p:cNvPr id="10" name="TextBox 9"/>
          <p:cNvSpPr txBox="1"/>
          <p:nvPr/>
        </p:nvSpPr>
        <p:spPr>
          <a:xfrm>
            <a:off x="777240" y="4256024"/>
            <a:ext cx="274320" cy="274320"/>
          </a:xfrm>
          <a:prstGeom prst="rect">
            <a:avLst/>
          </a:prstGeom>
          <a:noFill/>
        </p:spPr>
        <p:txBody>
          <a:bodyPr wrap="square" lIns="0" rIns="0" tIns="0" bIns="0" anchor="t">
            <a:spAutoFit/>
          </a:bodyPr>
          <a:lstStyle/>
          <a:p>
            <a:pPr algn="l">
              <a:lnSpc>
                <a:spcPct val="112000"/>
              </a:lnSpc>
              <a:spcAft>
                <a:spcPts val="0"/>
              </a:spcAft>
            </a:pPr>
            <a:r>
              <a:rPr sz="1700" b="1" i="0">
                <a:solidFill>
                  <a:srgbClr val="0B655E"/>
                </a:solidFill>
                <a:latin typeface="Calibri"/>
              </a:rPr>
              <a:t>—</a:t>
            </a:r>
          </a:p>
        </p:txBody>
      </p:sp>
      <p:sp>
        <p:nvSpPr>
          <p:cNvPr id="11" name="TextBox 10"/>
          <p:cNvSpPr txBox="1"/>
          <p:nvPr/>
        </p:nvSpPr>
        <p:spPr>
          <a:xfrm>
            <a:off x="1088136" y="4256024"/>
            <a:ext cx="8741664" cy="365760"/>
          </a:xfrm>
          <a:prstGeom prst="rect">
            <a:avLst/>
          </a:prstGeom>
          <a:noFill/>
        </p:spPr>
        <p:txBody>
          <a:bodyPr wrap="square" lIns="0" rIns="0" tIns="0" bIns="0" anchor="t">
            <a:spAutoFit/>
          </a:bodyPr>
          <a:lstStyle/>
          <a:p>
            <a:pPr algn="l">
              <a:lnSpc>
                <a:spcPct val="114000"/>
              </a:lnSpc>
              <a:spcAft>
                <a:spcPts val="0"/>
              </a:spcAft>
            </a:pPr>
            <a:r>
              <a:rPr sz="1700" b="0" i="0">
                <a:solidFill>
                  <a:srgbClr val="545F69"/>
                </a:solidFill>
                <a:latin typeface="Calibri"/>
              </a:rPr>
              <a:t>Quand un fournisseur vous vend « une solution IA », que vous vend-il réellement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poupees-russes.png"/>
          <p:cNvPicPr>
            <a:picLocks noChangeAspect="1"/>
          </p:cNvPicPr>
          <p:nvPr/>
        </p:nvPicPr>
        <p:blipFill>
          <a:blip r:embed="rId2"/>
          <a:stretch>
            <a:fillRect/>
          </a:stretch>
        </p:blipFill>
        <p:spPr>
          <a:xfrm>
            <a:off x="0" y="0"/>
            <a:ext cx="12191695" cy="6857828"/>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777240" y="1828800"/>
            <a:ext cx="1280160" cy="45720"/>
          </a:xfrm>
          <a:prstGeom prst="rect">
            <a:avLst/>
          </a:prstGeom>
          <a:solidFill>
            <a:srgbClr val="0B6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2286000"/>
            <a:ext cx="10241280" cy="2194560"/>
          </a:xfrm>
          <a:prstGeom prst="rect">
            <a:avLst/>
          </a:prstGeom>
          <a:noFill/>
        </p:spPr>
        <p:txBody>
          <a:bodyPr wrap="square" lIns="0" rIns="0" tIns="0" bIns="0" anchor="t">
            <a:spAutoFit/>
          </a:bodyPr>
          <a:lstStyle/>
          <a:p>
            <a:pPr algn="l">
              <a:lnSpc>
                <a:spcPct val="100000"/>
              </a:lnSpc>
              <a:spcAft>
                <a:spcPts val="0"/>
              </a:spcAft>
            </a:pPr>
            <a:r>
              <a:rPr sz="4400" b="1" i="0">
                <a:solidFill>
                  <a:srgbClr val="12181D"/>
                </a:solidFill>
                <a:latin typeface="Trebuchet MS"/>
              </a:rPr>
              <a:t>Un LLM ne comprend pas</a:t>
            </a:r>
          </a:p>
          <a:p>
            <a:pPr algn="l">
              <a:lnSpc>
                <a:spcPct val="100000"/>
              </a:lnSpc>
              <a:spcAft>
                <a:spcPts val="0"/>
              </a:spcAft>
            </a:pPr>
            <a:r>
              <a:rPr sz="4400" b="1" i="0">
                <a:solidFill>
                  <a:srgbClr val="12181D"/>
                </a:solidFill>
                <a:latin typeface="Trebuchet MS"/>
              </a:rPr>
              <a:t>ce que vous lui dites.</a:t>
            </a:r>
          </a:p>
        </p:txBody>
      </p:sp>
      <p:sp>
        <p:nvSpPr>
          <p:cNvPr id="5" name="TextBox 4"/>
          <p:cNvSpPr txBox="1"/>
          <p:nvPr/>
        </p:nvSpPr>
        <p:spPr>
          <a:xfrm>
            <a:off x="777240" y="4709160"/>
            <a:ext cx="9144000" cy="914400"/>
          </a:xfrm>
          <a:prstGeom prst="rect">
            <a:avLst/>
          </a:prstGeom>
          <a:noFill/>
        </p:spPr>
        <p:txBody>
          <a:bodyPr wrap="square" lIns="0" rIns="0" tIns="0" bIns="0" anchor="t">
            <a:spAutoFit/>
          </a:bodyPr>
          <a:lstStyle/>
          <a:p>
            <a:pPr algn="l">
              <a:lnSpc>
                <a:spcPct val="130000"/>
              </a:lnSpc>
              <a:spcAft>
                <a:spcPts val="0"/>
              </a:spcAft>
            </a:pPr>
            <a:r>
              <a:rPr sz="1900" b="0" i="0">
                <a:solidFill>
                  <a:srgbClr val="545F69"/>
                </a:solidFill>
                <a:latin typeface="Calibri"/>
              </a:rPr>
              <a:t>Il calcule, mot après mot, la suite la plus probable. C'est tout. Et c'est déjà suffisant pour faire quatre-vingts pour cent de ce qu'on lui demande.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77240" y="402336"/>
            <a:ext cx="10637215" cy="32004"/>
          </a:xfrm>
          <a:prstGeom prst="rect">
            <a:avLst/>
          </a:prstGeom>
          <a:solidFill>
            <a:srgbClr val="12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77240" y="502920"/>
            <a:ext cx="10637215" cy="274320"/>
          </a:xfrm>
          <a:prstGeom prst="rect">
            <a:avLst/>
          </a:prstGeom>
          <a:noFill/>
        </p:spPr>
        <p:txBody>
          <a:bodyPr wrap="square" lIns="0" rIns="0" tIns="0" bIns="0" anchor="t">
            <a:spAutoFit/>
          </a:bodyPr>
          <a:lstStyle/>
          <a:p>
            <a:pPr algn="l">
              <a:lnSpc>
                <a:spcPct val="112000"/>
              </a:lnSpc>
              <a:spcAft>
                <a:spcPts val="0"/>
              </a:spcAft>
            </a:pPr>
            <a:r>
              <a:rPr sz="1050" b="1" i="0" spc="150">
                <a:solidFill>
                  <a:srgbClr val="0B655E"/>
                </a:solidFill>
                <a:latin typeface="Consolas"/>
              </a:rPr>
              <a:t>DÉMONSTRATION</a:t>
            </a:r>
          </a:p>
        </p:txBody>
      </p:sp>
      <p:sp>
        <p:nvSpPr>
          <p:cNvPr id="4" name="TextBox 3"/>
          <p:cNvSpPr txBox="1"/>
          <p:nvPr/>
        </p:nvSpPr>
        <p:spPr>
          <a:xfrm>
            <a:off x="777240" y="868680"/>
            <a:ext cx="10637215" cy="1371600"/>
          </a:xfrm>
          <a:prstGeom prst="rect">
            <a:avLst/>
          </a:prstGeom>
          <a:noFill/>
        </p:spPr>
        <p:txBody>
          <a:bodyPr wrap="square" lIns="0" rIns="0" tIns="0" bIns="0" anchor="t">
            <a:spAutoFit/>
          </a:bodyPr>
          <a:lstStyle/>
          <a:p>
            <a:pPr algn="l">
              <a:lnSpc>
                <a:spcPct val="95000"/>
              </a:lnSpc>
              <a:spcAft>
                <a:spcPts val="0"/>
              </a:spcAft>
            </a:pPr>
            <a:r>
              <a:rPr sz="3800" b="1" i="0">
                <a:solidFill>
                  <a:srgbClr val="12181D"/>
                </a:solidFill>
                <a:latin typeface="Trebuchet MS"/>
              </a:rPr>
              <a:t>Faisons tourner un LLM à trois neurones</a:t>
            </a:r>
          </a:p>
        </p:txBody>
      </p:sp>
      <p:sp>
        <p:nvSpPr>
          <p:cNvPr id="5" name="TextBox 4"/>
          <p:cNvSpPr txBox="1"/>
          <p:nvPr/>
        </p:nvSpPr>
        <p:spPr>
          <a:xfrm>
            <a:off x="777240" y="2331720"/>
            <a:ext cx="274320" cy="274320"/>
          </a:xfrm>
          <a:prstGeom prst="rect">
            <a:avLst/>
          </a:prstGeom>
          <a:noFill/>
        </p:spPr>
        <p:txBody>
          <a:bodyPr wrap="square" lIns="0" rIns="0" tIns="0" bIns="0" anchor="t">
            <a:spAutoFit/>
          </a:bodyPr>
          <a:lstStyle/>
          <a:p>
            <a:pPr algn="l">
              <a:lnSpc>
                <a:spcPct val="112000"/>
              </a:lnSpc>
              <a:spcAft>
                <a:spcPts val="0"/>
              </a:spcAft>
            </a:pPr>
            <a:r>
              <a:rPr sz="1800" b="1" i="0">
                <a:solidFill>
                  <a:srgbClr val="0B655E"/>
                </a:solidFill>
                <a:latin typeface="Calibri"/>
              </a:rPr>
              <a:t>—</a:t>
            </a:r>
          </a:p>
        </p:txBody>
      </p:sp>
      <p:sp>
        <p:nvSpPr>
          <p:cNvPr id="6" name="TextBox 5"/>
          <p:cNvSpPr txBox="1"/>
          <p:nvPr/>
        </p:nvSpPr>
        <p:spPr>
          <a:xfrm>
            <a:off x="1088136" y="2331720"/>
            <a:ext cx="5724144" cy="365760"/>
          </a:xfrm>
          <a:prstGeom prst="rect">
            <a:avLst/>
          </a:prstGeom>
          <a:noFill/>
        </p:spPr>
        <p:txBody>
          <a:bodyPr wrap="square" lIns="0" rIns="0" tIns="0" bIns="0" anchor="t">
            <a:spAutoFit/>
          </a:bodyPr>
          <a:lstStyle/>
          <a:p>
            <a:pPr algn="l">
              <a:lnSpc>
                <a:spcPct val="114000"/>
              </a:lnSpc>
              <a:spcAft>
                <a:spcPts val="0"/>
              </a:spcAft>
            </a:pPr>
            <a:r>
              <a:rPr sz="1800" b="0" i="0">
                <a:solidFill>
                  <a:srgbClr val="545F69"/>
                </a:solidFill>
                <a:latin typeface="Calibri"/>
              </a:rPr>
              <a:t>Sortez votre téléphone et ouvrez n'importe quelle application où vous écrivez du texte.</a:t>
            </a:r>
          </a:p>
        </p:txBody>
      </p:sp>
      <p:sp>
        <p:nvSpPr>
          <p:cNvPr id="7" name="TextBox 6"/>
          <p:cNvSpPr txBox="1"/>
          <p:nvPr/>
        </p:nvSpPr>
        <p:spPr>
          <a:xfrm>
            <a:off x="777240" y="3191256"/>
            <a:ext cx="274320" cy="274320"/>
          </a:xfrm>
          <a:prstGeom prst="rect">
            <a:avLst/>
          </a:prstGeom>
          <a:noFill/>
        </p:spPr>
        <p:txBody>
          <a:bodyPr wrap="square" lIns="0" rIns="0" tIns="0" bIns="0" anchor="t">
            <a:spAutoFit/>
          </a:bodyPr>
          <a:lstStyle/>
          <a:p>
            <a:pPr algn="l">
              <a:lnSpc>
                <a:spcPct val="112000"/>
              </a:lnSpc>
              <a:spcAft>
                <a:spcPts val="0"/>
              </a:spcAft>
            </a:pPr>
            <a:r>
              <a:rPr sz="1800" b="1" i="0">
                <a:solidFill>
                  <a:srgbClr val="0B655E"/>
                </a:solidFill>
                <a:latin typeface="Calibri"/>
              </a:rPr>
              <a:t>—</a:t>
            </a:r>
          </a:p>
        </p:txBody>
      </p:sp>
      <p:sp>
        <p:nvSpPr>
          <p:cNvPr id="8" name="TextBox 7"/>
          <p:cNvSpPr txBox="1"/>
          <p:nvPr/>
        </p:nvSpPr>
        <p:spPr>
          <a:xfrm>
            <a:off x="1088136" y="3191256"/>
            <a:ext cx="5724144" cy="365760"/>
          </a:xfrm>
          <a:prstGeom prst="rect">
            <a:avLst/>
          </a:prstGeom>
          <a:noFill/>
        </p:spPr>
        <p:txBody>
          <a:bodyPr wrap="square" lIns="0" rIns="0" tIns="0" bIns="0" anchor="t">
            <a:spAutoFit/>
          </a:bodyPr>
          <a:lstStyle/>
          <a:p>
            <a:pPr algn="l">
              <a:lnSpc>
                <a:spcPct val="114000"/>
              </a:lnSpc>
              <a:spcAft>
                <a:spcPts val="0"/>
              </a:spcAft>
            </a:pPr>
            <a:r>
              <a:rPr sz="1800" b="0" i="0">
                <a:solidFill>
                  <a:srgbClr val="545F69"/>
                </a:solidFill>
                <a:latin typeface="Calibri"/>
              </a:rPr>
              <a:t>Tapez « Je vais » — puis </a:t>
            </a:r>
            <a:r>
              <a:rPr sz="1800" b="1" i="0">
                <a:solidFill>
                  <a:srgbClr val="12181D"/>
                </a:solidFill>
                <a:latin typeface="Calibri"/>
              </a:rPr>
              <a:t>n'acceptez plus que les mots proposés par le clavier</a:t>
            </a:r>
            <a:r>
              <a:rPr sz="1800" b="0" i="0">
                <a:solidFill>
                  <a:srgbClr val="545F69"/>
                </a:solidFill>
                <a:latin typeface="Calibri"/>
              </a:rPr>
              <a:t>. Une dizaine de fois de suite.</a:t>
            </a:r>
          </a:p>
        </p:txBody>
      </p:sp>
      <p:sp>
        <p:nvSpPr>
          <p:cNvPr id="9" name="TextBox 8"/>
          <p:cNvSpPr txBox="1"/>
          <p:nvPr/>
        </p:nvSpPr>
        <p:spPr>
          <a:xfrm>
            <a:off x="777240" y="4050791"/>
            <a:ext cx="274320" cy="274320"/>
          </a:xfrm>
          <a:prstGeom prst="rect">
            <a:avLst/>
          </a:prstGeom>
          <a:noFill/>
        </p:spPr>
        <p:txBody>
          <a:bodyPr wrap="square" lIns="0" rIns="0" tIns="0" bIns="0" anchor="t">
            <a:spAutoFit/>
          </a:bodyPr>
          <a:lstStyle/>
          <a:p>
            <a:pPr algn="l">
              <a:lnSpc>
                <a:spcPct val="112000"/>
              </a:lnSpc>
              <a:spcAft>
                <a:spcPts val="0"/>
              </a:spcAft>
            </a:pPr>
            <a:r>
              <a:rPr sz="1800" b="1" i="0">
                <a:solidFill>
                  <a:srgbClr val="0B655E"/>
                </a:solidFill>
                <a:latin typeface="Calibri"/>
              </a:rPr>
              <a:t>—</a:t>
            </a:r>
          </a:p>
        </p:txBody>
      </p:sp>
      <p:sp>
        <p:nvSpPr>
          <p:cNvPr id="10" name="TextBox 9"/>
          <p:cNvSpPr txBox="1"/>
          <p:nvPr/>
        </p:nvSpPr>
        <p:spPr>
          <a:xfrm>
            <a:off x="1088136" y="4050791"/>
            <a:ext cx="5724144" cy="365760"/>
          </a:xfrm>
          <a:prstGeom prst="rect">
            <a:avLst/>
          </a:prstGeom>
          <a:noFill/>
        </p:spPr>
        <p:txBody>
          <a:bodyPr wrap="square" lIns="0" rIns="0" tIns="0" bIns="0" anchor="t">
            <a:spAutoFit/>
          </a:bodyPr>
          <a:lstStyle/>
          <a:p>
            <a:pPr algn="l">
              <a:lnSpc>
                <a:spcPct val="114000"/>
              </a:lnSpc>
              <a:spcAft>
                <a:spcPts val="0"/>
              </a:spcAft>
            </a:pPr>
            <a:r>
              <a:rPr sz="1800" b="0" i="0">
                <a:solidFill>
                  <a:srgbClr val="545F69"/>
                </a:solidFill>
                <a:latin typeface="Calibri"/>
              </a:rPr>
              <a:t>Lisez votre phrase à voix haute.</a:t>
            </a:r>
          </a:p>
        </p:txBody>
      </p:sp>
      <p:sp>
        <p:nvSpPr>
          <p:cNvPr id="11" name="Rectangle 10"/>
          <p:cNvSpPr/>
          <p:nvPr/>
        </p:nvSpPr>
        <p:spPr>
          <a:xfrm>
            <a:off x="7269479" y="2286000"/>
            <a:ext cx="4144975" cy="3291840"/>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269479" y="2286000"/>
            <a:ext cx="41148" cy="3291840"/>
          </a:xfrm>
          <a:prstGeom prst="rect">
            <a:avLst/>
          </a:prstGeom>
          <a:solidFill>
            <a:srgbClr val="0B6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525511" y="2487168"/>
            <a:ext cx="3687775" cy="228600"/>
          </a:xfrm>
          <a:prstGeom prst="rect">
            <a:avLst/>
          </a:prstGeom>
          <a:noFill/>
        </p:spPr>
        <p:txBody>
          <a:bodyPr wrap="square" lIns="0" rIns="0" tIns="0" bIns="0" anchor="t">
            <a:spAutoFit/>
          </a:bodyPr>
          <a:lstStyle/>
          <a:p>
            <a:pPr algn="l">
              <a:lnSpc>
                <a:spcPct val="112000"/>
              </a:lnSpc>
              <a:spcAft>
                <a:spcPts val="0"/>
              </a:spcAft>
            </a:pPr>
            <a:r>
              <a:rPr sz="1000" b="1" i="0" spc="140">
                <a:solidFill>
                  <a:srgbClr val="0B655E"/>
                </a:solidFill>
                <a:latin typeface="Consolas"/>
              </a:rPr>
              <a:t>CE QU'ON VIENT DE FAIRE</a:t>
            </a:r>
          </a:p>
        </p:txBody>
      </p:sp>
      <p:sp>
        <p:nvSpPr>
          <p:cNvPr id="14" name="TextBox 13"/>
          <p:cNvSpPr txBox="1"/>
          <p:nvPr/>
        </p:nvSpPr>
        <p:spPr>
          <a:xfrm>
            <a:off x="7525511" y="2816352"/>
            <a:ext cx="3687775" cy="2560320"/>
          </a:xfrm>
          <a:prstGeom prst="rect">
            <a:avLst/>
          </a:prstGeom>
          <a:noFill/>
        </p:spPr>
        <p:txBody>
          <a:bodyPr wrap="square" lIns="0" rIns="0" tIns="0" bIns="0" anchor="t">
            <a:spAutoFit/>
          </a:bodyPr>
          <a:lstStyle/>
          <a:p>
            <a:pPr algn="l">
              <a:lnSpc>
                <a:spcPct val="120000"/>
              </a:lnSpc>
              <a:spcAft>
                <a:spcPts val="0"/>
              </a:spcAft>
            </a:pPr>
            <a:r>
              <a:rPr sz="1500" b="0" i="0">
                <a:solidFill>
                  <a:srgbClr val="545F69"/>
                </a:solidFill>
                <a:latin typeface="Calibri"/>
              </a:rPr>
              <a:t>Exactement ce que fait un grand modèle de langage, avec un vocabulaire minuscule et aucune mémoire du contexte.</a:t>
            </a:r>
          </a:p>
          <a:p>
            <a:pPr algn="l">
              <a:lnSpc>
                <a:spcPct val="120000"/>
              </a:lnSpc>
              <a:spcAft>
                <a:spcPts val="0"/>
              </a:spcAft>
            </a:pPr>
          </a:p>
          <a:p>
            <a:pPr algn="l">
              <a:lnSpc>
                <a:spcPct val="120000"/>
              </a:lnSpc>
              <a:spcAft>
                <a:spcPts val="0"/>
              </a:spcAft>
            </a:pPr>
            <a:r>
              <a:rPr sz="1500" b="0" i="0">
                <a:solidFill>
                  <a:srgbClr val="545F69"/>
                </a:solidFill>
                <a:latin typeface="Calibri"/>
              </a:rPr>
              <a:t>La phrase est grammaticalement correcte — et vide de sens.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2-comment-marche-un-llm.png"/>
          <p:cNvPicPr>
            <a:picLocks noChangeAspect="1"/>
          </p:cNvPicPr>
          <p:nvPr/>
        </p:nvPicPr>
        <p:blipFill>
          <a:blip r:embed="rId2"/>
          <a:stretch>
            <a:fillRect/>
          </a:stretch>
        </p:blipFill>
        <p:spPr>
          <a:xfrm>
            <a:off x="0" y="0"/>
            <a:ext cx="12191695" cy="6857828"/>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77240" y="402336"/>
            <a:ext cx="10637215" cy="32004"/>
          </a:xfrm>
          <a:prstGeom prst="rect">
            <a:avLst/>
          </a:prstGeom>
          <a:solidFill>
            <a:srgbClr val="12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77240" y="502920"/>
            <a:ext cx="10637215" cy="274320"/>
          </a:xfrm>
          <a:prstGeom prst="rect">
            <a:avLst/>
          </a:prstGeom>
          <a:noFill/>
        </p:spPr>
        <p:txBody>
          <a:bodyPr wrap="square" lIns="0" rIns="0" tIns="0" bIns="0" anchor="t">
            <a:spAutoFit/>
          </a:bodyPr>
          <a:lstStyle/>
          <a:p>
            <a:pPr algn="l">
              <a:lnSpc>
                <a:spcPct val="112000"/>
              </a:lnSpc>
              <a:spcAft>
                <a:spcPts val="0"/>
              </a:spcAft>
            </a:pPr>
            <a:r>
              <a:rPr sz="1050" b="1" i="0" spc="150">
                <a:solidFill>
                  <a:srgbClr val="0B655E"/>
                </a:solidFill>
                <a:latin typeface="Consolas"/>
              </a:rPr>
              <a:t>VOCABULAIRE</a:t>
            </a:r>
          </a:p>
        </p:txBody>
      </p:sp>
      <p:sp>
        <p:nvSpPr>
          <p:cNvPr id="4" name="TextBox 3"/>
          <p:cNvSpPr txBox="1"/>
          <p:nvPr/>
        </p:nvSpPr>
        <p:spPr>
          <a:xfrm>
            <a:off x="777240" y="868680"/>
            <a:ext cx="10637215" cy="1371600"/>
          </a:xfrm>
          <a:prstGeom prst="rect">
            <a:avLst/>
          </a:prstGeom>
          <a:noFill/>
        </p:spPr>
        <p:txBody>
          <a:bodyPr wrap="square" lIns="0" rIns="0" tIns="0" bIns="0" anchor="t">
            <a:spAutoFit/>
          </a:bodyPr>
          <a:lstStyle/>
          <a:p>
            <a:pPr algn="l">
              <a:lnSpc>
                <a:spcPct val="95000"/>
              </a:lnSpc>
              <a:spcAft>
                <a:spcPts val="0"/>
              </a:spcAft>
            </a:pPr>
            <a:r>
              <a:rPr sz="3800" b="1" i="0">
                <a:solidFill>
                  <a:srgbClr val="12181D"/>
                </a:solidFill>
                <a:latin typeface="Trebuchet MS"/>
              </a:rPr>
              <a:t>Quatre mots qui reviendront sans arrêt</a:t>
            </a:r>
          </a:p>
        </p:txBody>
      </p:sp>
      <p:sp>
        <p:nvSpPr>
          <p:cNvPr id="5" name="TextBox 4"/>
          <p:cNvSpPr txBox="1"/>
          <p:nvPr/>
        </p:nvSpPr>
        <p:spPr>
          <a:xfrm>
            <a:off x="777240" y="2331720"/>
            <a:ext cx="274320" cy="274320"/>
          </a:xfrm>
          <a:prstGeom prst="rect">
            <a:avLst/>
          </a:prstGeom>
          <a:noFill/>
        </p:spPr>
        <p:txBody>
          <a:bodyPr wrap="square" lIns="0" rIns="0" tIns="0" bIns="0" anchor="t">
            <a:spAutoFit/>
          </a:bodyPr>
          <a:lstStyle/>
          <a:p>
            <a:pPr algn="l">
              <a:lnSpc>
                <a:spcPct val="112000"/>
              </a:lnSpc>
              <a:spcAft>
                <a:spcPts val="0"/>
              </a:spcAft>
            </a:pPr>
            <a:r>
              <a:rPr sz="1650" b="1" i="0">
                <a:solidFill>
                  <a:srgbClr val="0B655E"/>
                </a:solidFill>
                <a:latin typeface="Calibri"/>
              </a:rPr>
              <a:t>—</a:t>
            </a:r>
          </a:p>
        </p:txBody>
      </p:sp>
      <p:sp>
        <p:nvSpPr>
          <p:cNvPr id="6" name="TextBox 5"/>
          <p:cNvSpPr txBox="1"/>
          <p:nvPr/>
        </p:nvSpPr>
        <p:spPr>
          <a:xfrm>
            <a:off x="1088136" y="2331720"/>
            <a:ext cx="8741664" cy="365760"/>
          </a:xfrm>
          <a:prstGeom prst="rect">
            <a:avLst/>
          </a:prstGeom>
          <a:noFill/>
        </p:spPr>
        <p:txBody>
          <a:bodyPr wrap="square" lIns="0" rIns="0" tIns="0" bIns="0" anchor="t">
            <a:spAutoFit/>
          </a:bodyPr>
          <a:lstStyle/>
          <a:p>
            <a:pPr algn="l">
              <a:lnSpc>
                <a:spcPct val="114000"/>
              </a:lnSpc>
              <a:spcAft>
                <a:spcPts val="0"/>
              </a:spcAft>
            </a:pPr>
            <a:r>
              <a:rPr sz="1650" b="1" i="0">
                <a:solidFill>
                  <a:srgbClr val="12181D"/>
                </a:solidFill>
                <a:latin typeface="Calibri"/>
              </a:rPr>
              <a:t>Token</a:t>
            </a:r>
            <a:r>
              <a:rPr sz="1650" b="0" i="0">
                <a:solidFill>
                  <a:srgbClr val="545F69"/>
                </a:solidFill>
                <a:latin typeface="Calibri"/>
              </a:rPr>
              <a:t> — un morceau de mot, l'unité que le modèle manipule et celle qui vous est facturée. Environ quatre caractères en français.</a:t>
            </a:r>
          </a:p>
        </p:txBody>
      </p:sp>
      <p:sp>
        <p:nvSpPr>
          <p:cNvPr id="7" name="TextBox 6"/>
          <p:cNvSpPr txBox="1"/>
          <p:nvPr/>
        </p:nvSpPr>
        <p:spPr>
          <a:xfrm>
            <a:off x="777240" y="3142488"/>
            <a:ext cx="274320" cy="274320"/>
          </a:xfrm>
          <a:prstGeom prst="rect">
            <a:avLst/>
          </a:prstGeom>
          <a:noFill/>
        </p:spPr>
        <p:txBody>
          <a:bodyPr wrap="square" lIns="0" rIns="0" tIns="0" bIns="0" anchor="t">
            <a:spAutoFit/>
          </a:bodyPr>
          <a:lstStyle/>
          <a:p>
            <a:pPr algn="l">
              <a:lnSpc>
                <a:spcPct val="112000"/>
              </a:lnSpc>
              <a:spcAft>
                <a:spcPts val="0"/>
              </a:spcAft>
            </a:pPr>
            <a:r>
              <a:rPr sz="1650" b="1" i="0">
                <a:solidFill>
                  <a:srgbClr val="0B655E"/>
                </a:solidFill>
                <a:latin typeface="Calibri"/>
              </a:rPr>
              <a:t>—</a:t>
            </a:r>
          </a:p>
        </p:txBody>
      </p:sp>
      <p:sp>
        <p:nvSpPr>
          <p:cNvPr id="8" name="TextBox 7"/>
          <p:cNvSpPr txBox="1"/>
          <p:nvPr/>
        </p:nvSpPr>
        <p:spPr>
          <a:xfrm>
            <a:off x="1088136" y="3142488"/>
            <a:ext cx="8741664" cy="365760"/>
          </a:xfrm>
          <a:prstGeom prst="rect">
            <a:avLst/>
          </a:prstGeom>
          <a:noFill/>
        </p:spPr>
        <p:txBody>
          <a:bodyPr wrap="square" lIns="0" rIns="0" tIns="0" bIns="0" anchor="t">
            <a:spAutoFit/>
          </a:bodyPr>
          <a:lstStyle/>
          <a:p>
            <a:pPr algn="l">
              <a:lnSpc>
                <a:spcPct val="114000"/>
              </a:lnSpc>
              <a:spcAft>
                <a:spcPts val="0"/>
              </a:spcAft>
            </a:pPr>
            <a:r>
              <a:rPr sz="1650" b="1" i="0">
                <a:solidFill>
                  <a:srgbClr val="12181D"/>
                </a:solidFill>
                <a:latin typeface="Calibri"/>
              </a:rPr>
              <a:t>Fenêtre de contexte</a:t>
            </a:r>
            <a:r>
              <a:rPr sz="1650" b="0" i="0">
                <a:solidFill>
                  <a:srgbClr val="545F69"/>
                </a:solidFill>
                <a:latin typeface="Calibri"/>
              </a:rPr>
              <a:t> — tout ce que le modèle peut garder sous les yeux en une fois : votre conversation et vos documents. Au-delà, il oublie le début.</a:t>
            </a:r>
          </a:p>
        </p:txBody>
      </p:sp>
      <p:sp>
        <p:nvSpPr>
          <p:cNvPr id="9" name="TextBox 8"/>
          <p:cNvSpPr txBox="1"/>
          <p:nvPr/>
        </p:nvSpPr>
        <p:spPr>
          <a:xfrm>
            <a:off x="777240" y="3953256"/>
            <a:ext cx="274320" cy="274320"/>
          </a:xfrm>
          <a:prstGeom prst="rect">
            <a:avLst/>
          </a:prstGeom>
          <a:noFill/>
        </p:spPr>
        <p:txBody>
          <a:bodyPr wrap="square" lIns="0" rIns="0" tIns="0" bIns="0" anchor="t">
            <a:spAutoFit/>
          </a:bodyPr>
          <a:lstStyle/>
          <a:p>
            <a:pPr algn="l">
              <a:lnSpc>
                <a:spcPct val="112000"/>
              </a:lnSpc>
              <a:spcAft>
                <a:spcPts val="0"/>
              </a:spcAft>
            </a:pPr>
            <a:r>
              <a:rPr sz="1650" b="1" i="0">
                <a:solidFill>
                  <a:srgbClr val="0B655E"/>
                </a:solidFill>
                <a:latin typeface="Calibri"/>
              </a:rPr>
              <a:t>—</a:t>
            </a:r>
          </a:p>
        </p:txBody>
      </p:sp>
      <p:sp>
        <p:nvSpPr>
          <p:cNvPr id="10" name="TextBox 9"/>
          <p:cNvSpPr txBox="1"/>
          <p:nvPr/>
        </p:nvSpPr>
        <p:spPr>
          <a:xfrm>
            <a:off x="1088136" y="3953256"/>
            <a:ext cx="8741664" cy="365760"/>
          </a:xfrm>
          <a:prstGeom prst="rect">
            <a:avLst/>
          </a:prstGeom>
          <a:noFill/>
        </p:spPr>
        <p:txBody>
          <a:bodyPr wrap="square" lIns="0" rIns="0" tIns="0" bIns="0" anchor="t">
            <a:spAutoFit/>
          </a:bodyPr>
          <a:lstStyle/>
          <a:p>
            <a:pPr algn="l">
              <a:lnSpc>
                <a:spcPct val="114000"/>
              </a:lnSpc>
              <a:spcAft>
                <a:spcPts val="0"/>
              </a:spcAft>
            </a:pPr>
            <a:r>
              <a:rPr sz="1650" b="1" i="0">
                <a:solidFill>
                  <a:srgbClr val="12181D"/>
                </a:solidFill>
                <a:latin typeface="Calibri"/>
              </a:rPr>
              <a:t>Température</a:t>
            </a:r>
            <a:r>
              <a:rPr sz="1650" b="0" i="0">
                <a:solidFill>
                  <a:srgbClr val="545F69"/>
                </a:solidFill>
                <a:latin typeface="Calibri"/>
              </a:rPr>
              <a:t> — le réglage qui décide s'il prend toujours le mot le plus probable ou s'il ose des choix moins attendus. Basse pour du juridique, haute pour du créatif.</a:t>
            </a:r>
          </a:p>
        </p:txBody>
      </p:sp>
      <p:sp>
        <p:nvSpPr>
          <p:cNvPr id="11" name="TextBox 10"/>
          <p:cNvSpPr txBox="1"/>
          <p:nvPr/>
        </p:nvSpPr>
        <p:spPr>
          <a:xfrm>
            <a:off x="777240" y="4764024"/>
            <a:ext cx="274320" cy="274320"/>
          </a:xfrm>
          <a:prstGeom prst="rect">
            <a:avLst/>
          </a:prstGeom>
          <a:noFill/>
        </p:spPr>
        <p:txBody>
          <a:bodyPr wrap="square" lIns="0" rIns="0" tIns="0" bIns="0" anchor="t">
            <a:spAutoFit/>
          </a:bodyPr>
          <a:lstStyle/>
          <a:p>
            <a:pPr algn="l">
              <a:lnSpc>
                <a:spcPct val="112000"/>
              </a:lnSpc>
              <a:spcAft>
                <a:spcPts val="0"/>
              </a:spcAft>
            </a:pPr>
            <a:r>
              <a:rPr sz="1650" b="1" i="0">
                <a:solidFill>
                  <a:srgbClr val="0B655E"/>
                </a:solidFill>
                <a:latin typeface="Calibri"/>
              </a:rPr>
              <a:t>—</a:t>
            </a:r>
          </a:p>
        </p:txBody>
      </p:sp>
      <p:sp>
        <p:nvSpPr>
          <p:cNvPr id="12" name="TextBox 11"/>
          <p:cNvSpPr txBox="1"/>
          <p:nvPr/>
        </p:nvSpPr>
        <p:spPr>
          <a:xfrm>
            <a:off x="1088136" y="4764024"/>
            <a:ext cx="8741664" cy="365760"/>
          </a:xfrm>
          <a:prstGeom prst="rect">
            <a:avLst/>
          </a:prstGeom>
          <a:noFill/>
        </p:spPr>
        <p:txBody>
          <a:bodyPr wrap="square" lIns="0" rIns="0" tIns="0" bIns="0" anchor="t">
            <a:spAutoFit/>
          </a:bodyPr>
          <a:lstStyle/>
          <a:p>
            <a:pPr algn="l">
              <a:lnSpc>
                <a:spcPct val="114000"/>
              </a:lnSpc>
              <a:spcAft>
                <a:spcPts val="0"/>
              </a:spcAft>
            </a:pPr>
            <a:r>
              <a:rPr sz="1650" b="1" i="0">
                <a:solidFill>
                  <a:srgbClr val="12181D"/>
                </a:solidFill>
                <a:latin typeface="Calibri"/>
              </a:rPr>
              <a:t>Hallucination</a:t>
            </a:r>
            <a:r>
              <a:rPr sz="1650" b="0" i="0">
                <a:solidFill>
                  <a:srgbClr val="545F69"/>
                </a:solidFill>
                <a:latin typeface="Calibri"/>
              </a:rPr>
              <a:t> — une affirmation fausse énoncée avec assurance. Ce n'est pas un bug : c'est le fonctionnement normal d'une machine à produire du plausible.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77240" y="402336"/>
            <a:ext cx="10637215" cy="32004"/>
          </a:xfrm>
          <a:prstGeom prst="rect">
            <a:avLst/>
          </a:prstGeom>
          <a:solidFill>
            <a:srgbClr val="12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77240" y="502920"/>
            <a:ext cx="10637215" cy="274320"/>
          </a:xfrm>
          <a:prstGeom prst="rect">
            <a:avLst/>
          </a:prstGeom>
          <a:noFill/>
        </p:spPr>
        <p:txBody>
          <a:bodyPr wrap="square" lIns="0" rIns="0" tIns="0" bIns="0" anchor="t">
            <a:spAutoFit/>
          </a:bodyPr>
          <a:lstStyle/>
          <a:p>
            <a:pPr algn="l">
              <a:lnSpc>
                <a:spcPct val="112000"/>
              </a:lnSpc>
              <a:spcAft>
                <a:spcPts val="0"/>
              </a:spcAft>
            </a:pPr>
            <a:r>
              <a:rPr sz="1050" b="1" i="0" spc="150">
                <a:solidFill>
                  <a:srgbClr val="0B655E"/>
                </a:solidFill>
                <a:latin typeface="Consolas"/>
              </a:rPr>
              <a:t>SÉQUENCE 2</a:t>
            </a:r>
          </a:p>
        </p:txBody>
      </p:sp>
      <p:sp>
        <p:nvSpPr>
          <p:cNvPr id="4" name="TextBox 3"/>
          <p:cNvSpPr txBox="1"/>
          <p:nvPr/>
        </p:nvSpPr>
        <p:spPr>
          <a:xfrm>
            <a:off x="777240" y="868680"/>
            <a:ext cx="10637215" cy="1371600"/>
          </a:xfrm>
          <a:prstGeom prst="rect">
            <a:avLst/>
          </a:prstGeom>
          <a:noFill/>
        </p:spPr>
        <p:txBody>
          <a:bodyPr wrap="square" lIns="0" rIns="0" tIns="0" bIns="0" anchor="t">
            <a:spAutoFit/>
          </a:bodyPr>
          <a:lstStyle/>
          <a:p>
            <a:pPr algn="l">
              <a:lnSpc>
                <a:spcPct val="95000"/>
              </a:lnSpc>
              <a:spcAft>
                <a:spcPts val="0"/>
              </a:spcAft>
            </a:pPr>
            <a:r>
              <a:rPr sz="3800" b="1" i="0">
                <a:solidFill>
                  <a:srgbClr val="12181D"/>
                </a:solidFill>
                <a:latin typeface="Trebuchet MS"/>
              </a:rPr>
              <a:t>Pourquoi il invente — et pourquoi il ne le sait pas</a:t>
            </a:r>
          </a:p>
        </p:txBody>
      </p:sp>
      <p:sp>
        <p:nvSpPr>
          <p:cNvPr id="5" name="TextBox 4"/>
          <p:cNvSpPr txBox="1"/>
          <p:nvPr/>
        </p:nvSpPr>
        <p:spPr>
          <a:xfrm>
            <a:off x="777240" y="2240280"/>
            <a:ext cx="9052560" cy="914400"/>
          </a:xfrm>
          <a:prstGeom prst="rect">
            <a:avLst/>
          </a:prstGeom>
          <a:noFill/>
        </p:spPr>
        <p:txBody>
          <a:bodyPr wrap="square" lIns="0" rIns="0" tIns="0" bIns="0" anchor="t">
            <a:spAutoFit/>
          </a:bodyPr>
          <a:lstStyle/>
          <a:p>
            <a:pPr algn="l">
              <a:lnSpc>
                <a:spcPct val="110000"/>
              </a:lnSpc>
              <a:spcAft>
                <a:spcPts val="0"/>
              </a:spcAft>
            </a:pPr>
            <a:r>
              <a:rPr sz="2400" b="1" i="0">
                <a:solidFill>
                  <a:srgbClr val="0B655E"/>
                </a:solidFill>
                <a:latin typeface="Trebuchet MS"/>
              </a:rPr>
              <a:t>Ce n'est pas une base de données. Il n'y a rien à consulter.</a:t>
            </a:r>
          </a:p>
        </p:txBody>
      </p:sp>
      <p:sp>
        <p:nvSpPr>
          <p:cNvPr id="6" name="TextBox 5"/>
          <p:cNvSpPr txBox="1"/>
          <p:nvPr/>
        </p:nvSpPr>
        <p:spPr>
          <a:xfrm>
            <a:off x="777240" y="3154680"/>
            <a:ext cx="274320" cy="274320"/>
          </a:xfrm>
          <a:prstGeom prst="rect">
            <a:avLst/>
          </a:prstGeom>
          <a:noFill/>
        </p:spPr>
        <p:txBody>
          <a:bodyPr wrap="square" lIns="0" rIns="0" tIns="0" bIns="0" anchor="t">
            <a:spAutoFit/>
          </a:bodyPr>
          <a:lstStyle/>
          <a:p>
            <a:pPr algn="l">
              <a:lnSpc>
                <a:spcPct val="112000"/>
              </a:lnSpc>
              <a:spcAft>
                <a:spcPts val="0"/>
              </a:spcAft>
            </a:pPr>
            <a:r>
              <a:rPr sz="1650" b="1" i="0">
                <a:solidFill>
                  <a:srgbClr val="0B655E"/>
                </a:solidFill>
                <a:latin typeface="Calibri"/>
              </a:rPr>
              <a:t>—</a:t>
            </a:r>
          </a:p>
        </p:txBody>
      </p:sp>
      <p:sp>
        <p:nvSpPr>
          <p:cNvPr id="7" name="TextBox 6"/>
          <p:cNvSpPr txBox="1"/>
          <p:nvPr/>
        </p:nvSpPr>
        <p:spPr>
          <a:xfrm>
            <a:off x="1088136" y="3154680"/>
            <a:ext cx="8741664" cy="365760"/>
          </a:xfrm>
          <a:prstGeom prst="rect">
            <a:avLst/>
          </a:prstGeom>
          <a:noFill/>
        </p:spPr>
        <p:txBody>
          <a:bodyPr wrap="square" lIns="0" rIns="0" tIns="0" bIns="0" anchor="t">
            <a:spAutoFit/>
          </a:bodyPr>
          <a:lstStyle/>
          <a:p>
            <a:pPr algn="l">
              <a:lnSpc>
                <a:spcPct val="114000"/>
              </a:lnSpc>
              <a:spcAft>
                <a:spcPts val="0"/>
              </a:spcAft>
            </a:pPr>
            <a:r>
              <a:rPr sz="1650" b="0" i="0">
                <a:solidFill>
                  <a:srgbClr val="545F69"/>
                </a:solidFill>
                <a:latin typeface="Calibri"/>
              </a:rPr>
              <a:t>Le modèle ne stocke pas des faits : il a appris des </a:t>
            </a:r>
            <a:r>
              <a:rPr sz="1650" b="1" i="0">
                <a:solidFill>
                  <a:srgbClr val="12181D"/>
                </a:solidFill>
                <a:latin typeface="Calibri"/>
              </a:rPr>
              <a:t>régularités statistiques</a:t>
            </a:r>
            <a:r>
              <a:rPr sz="1650" b="0" i="0">
                <a:solidFill>
                  <a:srgbClr val="545F69"/>
                </a:solidFill>
                <a:latin typeface="Calibri"/>
              </a:rPr>
              <a:t> du langage. « Le président de la République française est… » a une suite très probable ; « le numéro de téléphone du service client de… » aussi, et elle sera inventée.</a:t>
            </a:r>
          </a:p>
        </p:txBody>
      </p:sp>
      <p:sp>
        <p:nvSpPr>
          <p:cNvPr id="8" name="TextBox 7"/>
          <p:cNvSpPr txBox="1"/>
          <p:nvPr/>
        </p:nvSpPr>
        <p:spPr>
          <a:xfrm>
            <a:off x="777240" y="4233672"/>
            <a:ext cx="274320" cy="274320"/>
          </a:xfrm>
          <a:prstGeom prst="rect">
            <a:avLst/>
          </a:prstGeom>
          <a:noFill/>
        </p:spPr>
        <p:txBody>
          <a:bodyPr wrap="square" lIns="0" rIns="0" tIns="0" bIns="0" anchor="t">
            <a:spAutoFit/>
          </a:bodyPr>
          <a:lstStyle/>
          <a:p>
            <a:pPr algn="l">
              <a:lnSpc>
                <a:spcPct val="112000"/>
              </a:lnSpc>
              <a:spcAft>
                <a:spcPts val="0"/>
              </a:spcAft>
            </a:pPr>
            <a:r>
              <a:rPr sz="1650" b="1" i="0">
                <a:solidFill>
                  <a:srgbClr val="0B655E"/>
                </a:solidFill>
                <a:latin typeface="Calibri"/>
              </a:rPr>
              <a:t>—</a:t>
            </a:r>
          </a:p>
        </p:txBody>
      </p:sp>
      <p:sp>
        <p:nvSpPr>
          <p:cNvPr id="9" name="TextBox 8"/>
          <p:cNvSpPr txBox="1"/>
          <p:nvPr/>
        </p:nvSpPr>
        <p:spPr>
          <a:xfrm>
            <a:off x="1088136" y="4233672"/>
            <a:ext cx="8741664" cy="365760"/>
          </a:xfrm>
          <a:prstGeom prst="rect">
            <a:avLst/>
          </a:prstGeom>
          <a:noFill/>
        </p:spPr>
        <p:txBody>
          <a:bodyPr wrap="square" lIns="0" rIns="0" tIns="0" bIns="0" anchor="t">
            <a:spAutoFit/>
          </a:bodyPr>
          <a:lstStyle/>
          <a:p>
            <a:pPr algn="l">
              <a:lnSpc>
                <a:spcPct val="114000"/>
              </a:lnSpc>
              <a:spcAft>
                <a:spcPts val="0"/>
              </a:spcAft>
            </a:pPr>
            <a:r>
              <a:rPr sz="1650" b="0" i="0">
                <a:solidFill>
                  <a:srgbClr val="545F69"/>
                </a:solidFill>
                <a:latin typeface="Calibri"/>
              </a:rPr>
              <a:t>Il n'a aucun moyen interne de distinguer ce qu'il sait de ce qu'il complète. </a:t>
            </a:r>
            <a:r>
              <a:rPr sz="1650" b="1" i="0">
                <a:solidFill>
                  <a:srgbClr val="12181D"/>
                </a:solidFill>
                <a:latin typeface="Calibri"/>
              </a:rPr>
              <a:t>L'assurance du ton est constante</a:t>
            </a:r>
            <a:r>
              <a:rPr sz="1650" b="0" i="0">
                <a:solidFill>
                  <a:srgbClr val="545F69"/>
                </a:solidFill>
                <a:latin typeface="Calibri"/>
              </a:rPr>
              <a:t>, que la réponse soit juste ou fausse.</a:t>
            </a:r>
          </a:p>
        </p:txBody>
      </p:sp>
      <p:sp>
        <p:nvSpPr>
          <p:cNvPr id="10" name="TextBox 9"/>
          <p:cNvSpPr txBox="1"/>
          <p:nvPr/>
        </p:nvSpPr>
        <p:spPr>
          <a:xfrm>
            <a:off x="777240" y="5044440"/>
            <a:ext cx="274320" cy="274320"/>
          </a:xfrm>
          <a:prstGeom prst="rect">
            <a:avLst/>
          </a:prstGeom>
          <a:noFill/>
        </p:spPr>
        <p:txBody>
          <a:bodyPr wrap="square" lIns="0" rIns="0" tIns="0" bIns="0" anchor="t">
            <a:spAutoFit/>
          </a:bodyPr>
          <a:lstStyle/>
          <a:p>
            <a:pPr algn="l">
              <a:lnSpc>
                <a:spcPct val="112000"/>
              </a:lnSpc>
              <a:spcAft>
                <a:spcPts val="0"/>
              </a:spcAft>
            </a:pPr>
            <a:r>
              <a:rPr sz="1650" b="1" i="0">
                <a:solidFill>
                  <a:srgbClr val="0B655E"/>
                </a:solidFill>
                <a:latin typeface="Calibri"/>
              </a:rPr>
              <a:t>—</a:t>
            </a:r>
          </a:p>
        </p:txBody>
      </p:sp>
      <p:sp>
        <p:nvSpPr>
          <p:cNvPr id="11" name="TextBox 10"/>
          <p:cNvSpPr txBox="1"/>
          <p:nvPr/>
        </p:nvSpPr>
        <p:spPr>
          <a:xfrm>
            <a:off x="1088136" y="5044440"/>
            <a:ext cx="8741664" cy="365760"/>
          </a:xfrm>
          <a:prstGeom prst="rect">
            <a:avLst/>
          </a:prstGeom>
          <a:noFill/>
        </p:spPr>
        <p:txBody>
          <a:bodyPr wrap="square" lIns="0" rIns="0" tIns="0" bIns="0" anchor="t">
            <a:spAutoFit/>
          </a:bodyPr>
          <a:lstStyle/>
          <a:p>
            <a:pPr algn="l">
              <a:lnSpc>
                <a:spcPct val="114000"/>
              </a:lnSpc>
              <a:spcAft>
                <a:spcPts val="0"/>
              </a:spcAft>
            </a:pPr>
            <a:r>
              <a:rPr sz="1650" b="0" i="0">
                <a:solidFill>
                  <a:srgbClr val="545F69"/>
                </a:solidFill>
                <a:latin typeface="Calibri"/>
              </a:rPr>
              <a:t>Les outils modernes corrigent partiellement en allant chercher des sources réelles. Regardez toujours </a:t>
            </a:r>
            <a:r>
              <a:rPr sz="1650" b="1" i="0">
                <a:solidFill>
                  <a:srgbClr val="12181D"/>
                </a:solidFill>
                <a:latin typeface="Calibri"/>
              </a:rPr>
              <a:t>s'il y a des liens cliquables</a:t>
            </a:r>
            <a:r>
              <a:rPr sz="1650" b="0" i="0">
                <a:solidFill>
                  <a:srgbClr val="545F69"/>
                </a:solidFill>
                <a:latin typeface="Calibri"/>
              </a:rPr>
              <a:t> : sans source, pas de vérification.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4EF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0B6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60120" y="1463040"/>
            <a:ext cx="7315200" cy="274320"/>
          </a:xfrm>
          <a:prstGeom prst="rect">
            <a:avLst/>
          </a:prstGeom>
          <a:noFill/>
        </p:spPr>
        <p:txBody>
          <a:bodyPr wrap="square" lIns="0" rIns="0" tIns="0" bIns="0" anchor="t">
            <a:spAutoFit/>
          </a:bodyPr>
          <a:lstStyle/>
          <a:p>
            <a:pPr algn="l">
              <a:lnSpc>
                <a:spcPct val="112000"/>
              </a:lnSpc>
              <a:spcAft>
                <a:spcPts val="0"/>
              </a:spcAft>
            </a:pPr>
            <a:r>
              <a:rPr sz="1200" b="1" i="0" spc="180">
                <a:solidFill>
                  <a:srgbClr val="0B655E"/>
                </a:solidFill>
                <a:latin typeface="Consolas"/>
              </a:rPr>
              <a:t>JOUR 1 · SÉQUENCE 3</a:t>
            </a:r>
          </a:p>
        </p:txBody>
      </p:sp>
      <p:sp>
        <p:nvSpPr>
          <p:cNvPr id="5" name="TextBox 4"/>
          <p:cNvSpPr txBox="1"/>
          <p:nvPr/>
        </p:nvSpPr>
        <p:spPr>
          <a:xfrm>
            <a:off x="960120" y="1965960"/>
            <a:ext cx="9601200" cy="2011680"/>
          </a:xfrm>
          <a:prstGeom prst="rect">
            <a:avLst/>
          </a:prstGeom>
          <a:noFill/>
        </p:spPr>
        <p:txBody>
          <a:bodyPr wrap="square" lIns="0" rIns="0" tIns="0" bIns="0" anchor="t">
            <a:spAutoFit/>
          </a:bodyPr>
          <a:lstStyle/>
          <a:p>
            <a:pPr algn="l">
              <a:lnSpc>
                <a:spcPct val="95000"/>
              </a:lnSpc>
              <a:spcAft>
                <a:spcPts val="0"/>
              </a:spcAft>
            </a:pPr>
            <a:r>
              <a:rPr sz="5000" b="1" i="0">
                <a:solidFill>
                  <a:srgbClr val="12181D"/>
                </a:solidFill>
                <a:latin typeface="Trebuchet MS"/>
              </a:rPr>
              <a:t>Soixante-dix ans en quarante-cinq minutes</a:t>
            </a:r>
          </a:p>
        </p:txBody>
      </p:sp>
      <p:sp>
        <p:nvSpPr>
          <p:cNvPr id="6" name="Rectangle 5"/>
          <p:cNvSpPr/>
          <p:nvPr/>
        </p:nvSpPr>
        <p:spPr>
          <a:xfrm>
            <a:off x="960120" y="4114800"/>
            <a:ext cx="1463040" cy="41148"/>
          </a:xfrm>
          <a:prstGeom prst="rect">
            <a:avLst/>
          </a:prstGeom>
          <a:solidFill>
            <a:srgbClr val="0B6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60120" y="4480560"/>
            <a:ext cx="8595360" cy="1097280"/>
          </a:xfrm>
          <a:prstGeom prst="rect">
            <a:avLst/>
          </a:prstGeom>
          <a:noFill/>
        </p:spPr>
        <p:txBody>
          <a:bodyPr wrap="square" lIns="0" rIns="0" tIns="0" bIns="0" anchor="t">
            <a:spAutoFit/>
          </a:bodyPr>
          <a:lstStyle/>
          <a:p>
            <a:pPr algn="l">
              <a:lnSpc>
                <a:spcPct val="132000"/>
              </a:lnSpc>
              <a:spcAft>
                <a:spcPts val="0"/>
              </a:spcAft>
            </a:pPr>
            <a:r>
              <a:rPr sz="2000" b="0" i="0">
                <a:solidFill>
                  <a:srgbClr val="545F69"/>
                </a:solidFill>
                <a:latin typeface="Calibri"/>
              </a:rPr>
              <a:t>L'IA n'est pas née en 2022. Comprendre d'où elle vient évite deux erreurs de jugement.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3-frise-histoire.png"/>
          <p:cNvPicPr>
            <a:picLocks noChangeAspect="1"/>
          </p:cNvPicPr>
          <p:nvPr/>
        </p:nvPicPr>
        <p:blipFill>
          <a:blip r:embed="rId2"/>
          <a:stretch>
            <a:fillRect/>
          </a:stretch>
        </p:blipFill>
        <p:spPr>
          <a:xfrm>
            <a:off x="0" y="0"/>
            <a:ext cx="12191695" cy="6857828"/>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77240" y="402336"/>
            <a:ext cx="10637215" cy="32004"/>
          </a:xfrm>
          <a:prstGeom prst="rect">
            <a:avLst/>
          </a:prstGeom>
          <a:solidFill>
            <a:srgbClr val="12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77240" y="502920"/>
            <a:ext cx="10637215" cy="274320"/>
          </a:xfrm>
          <a:prstGeom prst="rect">
            <a:avLst/>
          </a:prstGeom>
          <a:noFill/>
        </p:spPr>
        <p:txBody>
          <a:bodyPr wrap="square" lIns="0" rIns="0" tIns="0" bIns="0" anchor="t">
            <a:spAutoFit/>
          </a:bodyPr>
          <a:lstStyle/>
          <a:p>
            <a:pPr algn="l">
              <a:lnSpc>
                <a:spcPct val="112000"/>
              </a:lnSpc>
              <a:spcAft>
                <a:spcPts val="0"/>
              </a:spcAft>
            </a:pPr>
            <a:r>
              <a:rPr sz="1050" b="1" i="0" spc="150">
                <a:solidFill>
                  <a:srgbClr val="8A959D"/>
                </a:solidFill>
                <a:latin typeface="Consolas"/>
              </a:rPr>
              <a:t>ACTE I · 1950-2011</a:t>
            </a:r>
          </a:p>
        </p:txBody>
      </p:sp>
      <p:sp>
        <p:nvSpPr>
          <p:cNvPr id="4" name="TextBox 3"/>
          <p:cNvSpPr txBox="1"/>
          <p:nvPr/>
        </p:nvSpPr>
        <p:spPr>
          <a:xfrm>
            <a:off x="777240" y="868680"/>
            <a:ext cx="10637215" cy="1371600"/>
          </a:xfrm>
          <a:prstGeom prst="rect">
            <a:avLst/>
          </a:prstGeom>
          <a:noFill/>
        </p:spPr>
        <p:txBody>
          <a:bodyPr wrap="square" lIns="0" rIns="0" tIns="0" bIns="0" anchor="t">
            <a:spAutoFit/>
          </a:bodyPr>
          <a:lstStyle/>
          <a:p>
            <a:pPr algn="l">
              <a:lnSpc>
                <a:spcPct val="95000"/>
              </a:lnSpc>
              <a:spcAft>
                <a:spcPts val="0"/>
              </a:spcAft>
            </a:pPr>
            <a:r>
              <a:rPr sz="3800" b="1" i="0">
                <a:solidFill>
                  <a:srgbClr val="12181D"/>
                </a:solidFill>
                <a:latin typeface="Trebuchet MS"/>
              </a:rPr>
              <a:t>Soixante ans de promesses, et deux hivers</a:t>
            </a:r>
          </a:p>
        </p:txBody>
      </p:sp>
      <p:sp>
        <p:nvSpPr>
          <p:cNvPr id="5" name="TextBox 4"/>
          <p:cNvSpPr txBox="1"/>
          <p:nvPr/>
        </p:nvSpPr>
        <p:spPr>
          <a:xfrm>
            <a:off x="777240" y="2331720"/>
            <a:ext cx="274320" cy="274320"/>
          </a:xfrm>
          <a:prstGeom prst="rect">
            <a:avLst/>
          </a:prstGeom>
          <a:noFill/>
        </p:spPr>
        <p:txBody>
          <a:bodyPr wrap="square" lIns="0" rIns="0" tIns="0" bIns="0" anchor="t">
            <a:spAutoFit/>
          </a:bodyPr>
          <a:lstStyle/>
          <a:p>
            <a:pPr algn="l">
              <a:lnSpc>
                <a:spcPct val="112000"/>
              </a:lnSpc>
              <a:spcAft>
                <a:spcPts val="0"/>
              </a:spcAft>
            </a:pPr>
            <a:r>
              <a:rPr sz="1600" b="1" i="0">
                <a:solidFill>
                  <a:srgbClr val="8A959D"/>
                </a:solidFill>
                <a:latin typeface="Calibri"/>
              </a:rPr>
              <a:t>—</a:t>
            </a:r>
          </a:p>
        </p:txBody>
      </p:sp>
      <p:sp>
        <p:nvSpPr>
          <p:cNvPr id="6" name="TextBox 5"/>
          <p:cNvSpPr txBox="1"/>
          <p:nvPr/>
        </p:nvSpPr>
        <p:spPr>
          <a:xfrm>
            <a:off x="1088136" y="2331720"/>
            <a:ext cx="8741664" cy="365760"/>
          </a:xfrm>
          <a:prstGeom prst="rect">
            <a:avLst/>
          </a:prstGeom>
          <a:noFill/>
        </p:spPr>
        <p:txBody>
          <a:bodyPr wrap="square" lIns="0" rIns="0" tIns="0" bIns="0" anchor="t">
            <a:spAutoFit/>
          </a:bodyPr>
          <a:lstStyle/>
          <a:p>
            <a:pPr algn="l">
              <a:lnSpc>
                <a:spcPct val="114000"/>
              </a:lnSpc>
              <a:spcAft>
                <a:spcPts val="0"/>
              </a:spcAft>
            </a:pPr>
            <a:r>
              <a:rPr sz="1600" b="1" i="0">
                <a:solidFill>
                  <a:srgbClr val="12181D"/>
                </a:solidFill>
                <a:latin typeface="Calibri"/>
              </a:rPr>
              <a:t>1950</a:t>
            </a:r>
            <a:r>
              <a:rPr sz="1600" b="0" i="0">
                <a:solidFill>
                  <a:srgbClr val="545F69"/>
                </a:solidFill>
                <a:latin typeface="Calibri"/>
              </a:rPr>
              <a:t> — Turing pose la question et propose un test pour y répondre. Rien de la technique actuelle n'existe encore.</a:t>
            </a:r>
          </a:p>
        </p:txBody>
      </p:sp>
      <p:sp>
        <p:nvSpPr>
          <p:cNvPr id="7" name="TextBox 6"/>
          <p:cNvSpPr txBox="1"/>
          <p:nvPr/>
        </p:nvSpPr>
        <p:spPr>
          <a:xfrm>
            <a:off x="777240" y="3126232"/>
            <a:ext cx="274320" cy="274320"/>
          </a:xfrm>
          <a:prstGeom prst="rect">
            <a:avLst/>
          </a:prstGeom>
          <a:noFill/>
        </p:spPr>
        <p:txBody>
          <a:bodyPr wrap="square" lIns="0" rIns="0" tIns="0" bIns="0" anchor="t">
            <a:spAutoFit/>
          </a:bodyPr>
          <a:lstStyle/>
          <a:p>
            <a:pPr algn="l">
              <a:lnSpc>
                <a:spcPct val="112000"/>
              </a:lnSpc>
              <a:spcAft>
                <a:spcPts val="0"/>
              </a:spcAft>
            </a:pPr>
            <a:r>
              <a:rPr sz="1600" b="1" i="0">
                <a:solidFill>
                  <a:srgbClr val="8A959D"/>
                </a:solidFill>
                <a:latin typeface="Calibri"/>
              </a:rPr>
              <a:t>—</a:t>
            </a:r>
          </a:p>
        </p:txBody>
      </p:sp>
      <p:sp>
        <p:nvSpPr>
          <p:cNvPr id="8" name="TextBox 7"/>
          <p:cNvSpPr txBox="1"/>
          <p:nvPr/>
        </p:nvSpPr>
        <p:spPr>
          <a:xfrm>
            <a:off x="1088136" y="3126232"/>
            <a:ext cx="8741664" cy="365760"/>
          </a:xfrm>
          <a:prstGeom prst="rect">
            <a:avLst/>
          </a:prstGeom>
          <a:noFill/>
        </p:spPr>
        <p:txBody>
          <a:bodyPr wrap="square" lIns="0" rIns="0" tIns="0" bIns="0" anchor="t">
            <a:spAutoFit/>
          </a:bodyPr>
          <a:lstStyle/>
          <a:p>
            <a:pPr algn="l">
              <a:lnSpc>
                <a:spcPct val="114000"/>
              </a:lnSpc>
              <a:spcAft>
                <a:spcPts val="0"/>
              </a:spcAft>
            </a:pPr>
            <a:r>
              <a:rPr sz="1600" b="1" i="0">
                <a:solidFill>
                  <a:srgbClr val="12181D"/>
                </a:solidFill>
                <a:latin typeface="Calibri"/>
              </a:rPr>
              <a:t>1956</a:t>
            </a:r>
            <a:r>
              <a:rPr sz="1600" b="0" i="0">
                <a:solidFill>
                  <a:srgbClr val="545F69"/>
                </a:solidFill>
                <a:latin typeface="Calibri"/>
              </a:rPr>
              <a:t> — La conférence de Dartmouth invente l'expression « intelligence artificielle ». On annonce la machine pensante pour dans vingt ans. On l'annoncera encore trois fois.</a:t>
            </a:r>
          </a:p>
        </p:txBody>
      </p:sp>
      <p:sp>
        <p:nvSpPr>
          <p:cNvPr id="9" name="TextBox 8"/>
          <p:cNvSpPr txBox="1"/>
          <p:nvPr/>
        </p:nvSpPr>
        <p:spPr>
          <a:xfrm>
            <a:off x="777240" y="3920743"/>
            <a:ext cx="274320" cy="274320"/>
          </a:xfrm>
          <a:prstGeom prst="rect">
            <a:avLst/>
          </a:prstGeom>
          <a:noFill/>
        </p:spPr>
        <p:txBody>
          <a:bodyPr wrap="square" lIns="0" rIns="0" tIns="0" bIns="0" anchor="t">
            <a:spAutoFit/>
          </a:bodyPr>
          <a:lstStyle/>
          <a:p>
            <a:pPr algn="l">
              <a:lnSpc>
                <a:spcPct val="112000"/>
              </a:lnSpc>
              <a:spcAft>
                <a:spcPts val="0"/>
              </a:spcAft>
            </a:pPr>
            <a:r>
              <a:rPr sz="1600" b="1" i="0">
                <a:solidFill>
                  <a:srgbClr val="8A959D"/>
                </a:solidFill>
                <a:latin typeface="Calibri"/>
              </a:rPr>
              <a:t>—</a:t>
            </a:r>
          </a:p>
        </p:txBody>
      </p:sp>
      <p:sp>
        <p:nvSpPr>
          <p:cNvPr id="10" name="TextBox 9"/>
          <p:cNvSpPr txBox="1"/>
          <p:nvPr/>
        </p:nvSpPr>
        <p:spPr>
          <a:xfrm>
            <a:off x="1088136" y="3920743"/>
            <a:ext cx="8741664" cy="365760"/>
          </a:xfrm>
          <a:prstGeom prst="rect">
            <a:avLst/>
          </a:prstGeom>
          <a:noFill/>
        </p:spPr>
        <p:txBody>
          <a:bodyPr wrap="square" lIns="0" rIns="0" tIns="0" bIns="0" anchor="t">
            <a:spAutoFit/>
          </a:bodyPr>
          <a:lstStyle/>
          <a:p>
            <a:pPr algn="l">
              <a:lnSpc>
                <a:spcPct val="114000"/>
              </a:lnSpc>
              <a:spcAft>
                <a:spcPts val="0"/>
              </a:spcAft>
            </a:pPr>
            <a:r>
              <a:rPr sz="1600" b="1" i="0">
                <a:solidFill>
                  <a:srgbClr val="12181D"/>
                </a:solidFill>
                <a:latin typeface="Calibri"/>
              </a:rPr>
              <a:t>1974-1980 et 1987-1993</a:t>
            </a:r>
            <a:r>
              <a:rPr sz="1600" b="0" i="0">
                <a:solidFill>
                  <a:srgbClr val="545F69"/>
                </a:solidFill>
                <a:latin typeface="Calibri"/>
              </a:rPr>
              <a:t> — Les deux hivers. Les résultats ne suivent pas, les financements s'effondrent, le mot « IA » devient infréquentable dans les demandes de subvention.</a:t>
            </a:r>
          </a:p>
        </p:txBody>
      </p:sp>
      <p:sp>
        <p:nvSpPr>
          <p:cNvPr id="11" name="TextBox 10"/>
          <p:cNvSpPr txBox="1"/>
          <p:nvPr/>
        </p:nvSpPr>
        <p:spPr>
          <a:xfrm>
            <a:off x="777240" y="4715256"/>
            <a:ext cx="274320" cy="274320"/>
          </a:xfrm>
          <a:prstGeom prst="rect">
            <a:avLst/>
          </a:prstGeom>
          <a:noFill/>
        </p:spPr>
        <p:txBody>
          <a:bodyPr wrap="square" lIns="0" rIns="0" tIns="0" bIns="0" anchor="t">
            <a:spAutoFit/>
          </a:bodyPr>
          <a:lstStyle/>
          <a:p>
            <a:pPr algn="l">
              <a:lnSpc>
                <a:spcPct val="112000"/>
              </a:lnSpc>
              <a:spcAft>
                <a:spcPts val="0"/>
              </a:spcAft>
            </a:pPr>
            <a:r>
              <a:rPr sz="1600" b="1" i="0">
                <a:solidFill>
                  <a:srgbClr val="8A959D"/>
                </a:solidFill>
                <a:latin typeface="Calibri"/>
              </a:rPr>
              <a:t>—</a:t>
            </a:r>
          </a:p>
        </p:txBody>
      </p:sp>
      <p:sp>
        <p:nvSpPr>
          <p:cNvPr id="12" name="TextBox 11"/>
          <p:cNvSpPr txBox="1"/>
          <p:nvPr/>
        </p:nvSpPr>
        <p:spPr>
          <a:xfrm>
            <a:off x="1088136" y="4715256"/>
            <a:ext cx="8741664" cy="365760"/>
          </a:xfrm>
          <a:prstGeom prst="rect">
            <a:avLst/>
          </a:prstGeom>
          <a:noFill/>
        </p:spPr>
        <p:txBody>
          <a:bodyPr wrap="square" lIns="0" rIns="0" tIns="0" bIns="0" anchor="t">
            <a:spAutoFit/>
          </a:bodyPr>
          <a:lstStyle/>
          <a:p>
            <a:pPr algn="l">
              <a:lnSpc>
                <a:spcPct val="114000"/>
              </a:lnSpc>
              <a:spcAft>
                <a:spcPts val="0"/>
              </a:spcAft>
            </a:pPr>
            <a:r>
              <a:rPr sz="1600" b="1" i="0">
                <a:solidFill>
                  <a:srgbClr val="12181D"/>
                </a:solidFill>
                <a:latin typeface="Calibri"/>
              </a:rPr>
              <a:t>1997</a:t>
            </a:r>
            <a:r>
              <a:rPr sz="1600" b="0" i="0">
                <a:solidFill>
                  <a:srgbClr val="545F69"/>
                </a:solidFill>
                <a:latin typeface="Calibri"/>
              </a:rPr>
              <a:t> — Deep Blue bat Kasparov. La machine calcule mieux que l'homme ; elle ne comprend toujours rien à ce qu'elle fait.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77240" y="402336"/>
            <a:ext cx="10637215" cy="32004"/>
          </a:xfrm>
          <a:prstGeom prst="rect">
            <a:avLst/>
          </a:prstGeom>
          <a:solidFill>
            <a:srgbClr val="12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77240" y="502920"/>
            <a:ext cx="10637215" cy="274320"/>
          </a:xfrm>
          <a:prstGeom prst="rect">
            <a:avLst/>
          </a:prstGeom>
          <a:noFill/>
        </p:spPr>
        <p:txBody>
          <a:bodyPr wrap="square" lIns="0" rIns="0" tIns="0" bIns="0" anchor="t">
            <a:spAutoFit/>
          </a:bodyPr>
          <a:lstStyle/>
          <a:p>
            <a:pPr algn="l">
              <a:lnSpc>
                <a:spcPct val="112000"/>
              </a:lnSpc>
              <a:spcAft>
                <a:spcPts val="0"/>
              </a:spcAft>
            </a:pPr>
            <a:r>
              <a:rPr sz="1050" b="1" i="0" spc="150">
                <a:solidFill>
                  <a:srgbClr val="0B655E"/>
                </a:solidFill>
                <a:latin typeface="Consolas"/>
              </a:rPr>
              <a:t>ACTE II · 2012-2021</a:t>
            </a:r>
          </a:p>
        </p:txBody>
      </p:sp>
      <p:sp>
        <p:nvSpPr>
          <p:cNvPr id="4" name="TextBox 3"/>
          <p:cNvSpPr txBox="1"/>
          <p:nvPr/>
        </p:nvSpPr>
        <p:spPr>
          <a:xfrm>
            <a:off x="777240" y="868680"/>
            <a:ext cx="10637215" cy="1371600"/>
          </a:xfrm>
          <a:prstGeom prst="rect">
            <a:avLst/>
          </a:prstGeom>
          <a:noFill/>
        </p:spPr>
        <p:txBody>
          <a:bodyPr wrap="square" lIns="0" rIns="0" tIns="0" bIns="0" anchor="t">
            <a:spAutoFit/>
          </a:bodyPr>
          <a:lstStyle/>
          <a:p>
            <a:pPr algn="l">
              <a:lnSpc>
                <a:spcPct val="95000"/>
              </a:lnSpc>
              <a:spcAft>
                <a:spcPts val="0"/>
              </a:spcAft>
            </a:pPr>
            <a:r>
              <a:rPr sz="3800" b="1" i="0">
                <a:solidFill>
                  <a:srgbClr val="12181D"/>
                </a:solidFill>
                <a:latin typeface="Trebuchet MS"/>
              </a:rPr>
              <a:t>La bascule technique, hors du regard du public</a:t>
            </a:r>
          </a:p>
        </p:txBody>
      </p:sp>
      <p:sp>
        <p:nvSpPr>
          <p:cNvPr id="5" name="TextBox 4"/>
          <p:cNvSpPr txBox="1"/>
          <p:nvPr/>
        </p:nvSpPr>
        <p:spPr>
          <a:xfrm>
            <a:off x="777240" y="2331720"/>
            <a:ext cx="274320" cy="274320"/>
          </a:xfrm>
          <a:prstGeom prst="rect">
            <a:avLst/>
          </a:prstGeom>
          <a:noFill/>
        </p:spPr>
        <p:txBody>
          <a:bodyPr wrap="square" lIns="0" rIns="0" tIns="0" bIns="0" anchor="t">
            <a:spAutoFit/>
          </a:bodyPr>
          <a:lstStyle/>
          <a:p>
            <a:pPr algn="l">
              <a:lnSpc>
                <a:spcPct val="112000"/>
              </a:lnSpc>
              <a:spcAft>
                <a:spcPts val="0"/>
              </a:spcAft>
            </a:pPr>
            <a:r>
              <a:rPr sz="1600" b="1" i="0">
                <a:solidFill>
                  <a:srgbClr val="0B655E"/>
                </a:solidFill>
                <a:latin typeface="Calibri"/>
              </a:rPr>
              <a:t>—</a:t>
            </a:r>
          </a:p>
        </p:txBody>
      </p:sp>
      <p:sp>
        <p:nvSpPr>
          <p:cNvPr id="6" name="TextBox 5"/>
          <p:cNvSpPr txBox="1"/>
          <p:nvPr/>
        </p:nvSpPr>
        <p:spPr>
          <a:xfrm>
            <a:off x="1088136" y="2331720"/>
            <a:ext cx="8741664" cy="365760"/>
          </a:xfrm>
          <a:prstGeom prst="rect">
            <a:avLst/>
          </a:prstGeom>
          <a:noFill/>
        </p:spPr>
        <p:txBody>
          <a:bodyPr wrap="square" lIns="0" rIns="0" tIns="0" bIns="0" anchor="t">
            <a:spAutoFit/>
          </a:bodyPr>
          <a:lstStyle/>
          <a:p>
            <a:pPr algn="l">
              <a:lnSpc>
                <a:spcPct val="114000"/>
              </a:lnSpc>
              <a:spcAft>
                <a:spcPts val="0"/>
              </a:spcAft>
            </a:pPr>
            <a:r>
              <a:rPr sz="1600" b="1" i="0">
                <a:solidFill>
                  <a:srgbClr val="12181D"/>
                </a:solidFill>
                <a:latin typeface="Calibri"/>
              </a:rPr>
              <a:t>2012</a:t>
            </a:r>
            <a:r>
              <a:rPr sz="1600" b="0" i="0">
                <a:solidFill>
                  <a:srgbClr val="545F69"/>
                </a:solidFill>
                <a:latin typeface="Calibri"/>
              </a:rPr>
              <a:t> — Les réseaux de neurones profonds écrasent la concurrence en reconnaissance d'images. Le deep learning devient sérieux.</a:t>
            </a:r>
          </a:p>
        </p:txBody>
      </p:sp>
      <p:sp>
        <p:nvSpPr>
          <p:cNvPr id="7" name="TextBox 6"/>
          <p:cNvSpPr txBox="1"/>
          <p:nvPr/>
        </p:nvSpPr>
        <p:spPr>
          <a:xfrm>
            <a:off x="777240" y="3126232"/>
            <a:ext cx="274320" cy="274320"/>
          </a:xfrm>
          <a:prstGeom prst="rect">
            <a:avLst/>
          </a:prstGeom>
          <a:noFill/>
        </p:spPr>
        <p:txBody>
          <a:bodyPr wrap="square" lIns="0" rIns="0" tIns="0" bIns="0" anchor="t">
            <a:spAutoFit/>
          </a:bodyPr>
          <a:lstStyle/>
          <a:p>
            <a:pPr algn="l">
              <a:lnSpc>
                <a:spcPct val="112000"/>
              </a:lnSpc>
              <a:spcAft>
                <a:spcPts val="0"/>
              </a:spcAft>
            </a:pPr>
            <a:r>
              <a:rPr sz="1600" b="1" i="0">
                <a:solidFill>
                  <a:srgbClr val="0B655E"/>
                </a:solidFill>
                <a:latin typeface="Calibri"/>
              </a:rPr>
              <a:t>—</a:t>
            </a:r>
          </a:p>
        </p:txBody>
      </p:sp>
      <p:sp>
        <p:nvSpPr>
          <p:cNvPr id="8" name="TextBox 7"/>
          <p:cNvSpPr txBox="1"/>
          <p:nvPr/>
        </p:nvSpPr>
        <p:spPr>
          <a:xfrm>
            <a:off x="1088136" y="3126232"/>
            <a:ext cx="8741664" cy="365760"/>
          </a:xfrm>
          <a:prstGeom prst="rect">
            <a:avLst/>
          </a:prstGeom>
          <a:noFill/>
        </p:spPr>
        <p:txBody>
          <a:bodyPr wrap="square" lIns="0" rIns="0" tIns="0" bIns="0" anchor="t">
            <a:spAutoFit/>
          </a:bodyPr>
          <a:lstStyle/>
          <a:p>
            <a:pPr algn="l">
              <a:lnSpc>
                <a:spcPct val="114000"/>
              </a:lnSpc>
              <a:spcAft>
                <a:spcPts val="0"/>
              </a:spcAft>
            </a:pPr>
            <a:r>
              <a:rPr sz="1600" b="1" i="0">
                <a:solidFill>
                  <a:srgbClr val="12181D"/>
                </a:solidFill>
                <a:latin typeface="Calibri"/>
              </a:rPr>
              <a:t>2016</a:t>
            </a:r>
            <a:r>
              <a:rPr sz="1600" b="0" i="0">
                <a:solidFill>
                  <a:srgbClr val="545F69"/>
                </a:solidFill>
                <a:latin typeface="Calibri"/>
              </a:rPr>
              <a:t> — AlphaGo bat le champion du monde de go, un jeu qu'on croyait inaccessible aux machines pour des décennies.</a:t>
            </a:r>
          </a:p>
        </p:txBody>
      </p:sp>
      <p:sp>
        <p:nvSpPr>
          <p:cNvPr id="9" name="TextBox 8"/>
          <p:cNvSpPr txBox="1"/>
          <p:nvPr/>
        </p:nvSpPr>
        <p:spPr>
          <a:xfrm>
            <a:off x="777240" y="3920743"/>
            <a:ext cx="274320" cy="274320"/>
          </a:xfrm>
          <a:prstGeom prst="rect">
            <a:avLst/>
          </a:prstGeom>
          <a:noFill/>
        </p:spPr>
        <p:txBody>
          <a:bodyPr wrap="square" lIns="0" rIns="0" tIns="0" bIns="0" anchor="t">
            <a:spAutoFit/>
          </a:bodyPr>
          <a:lstStyle/>
          <a:p>
            <a:pPr algn="l">
              <a:lnSpc>
                <a:spcPct val="112000"/>
              </a:lnSpc>
              <a:spcAft>
                <a:spcPts val="0"/>
              </a:spcAft>
            </a:pPr>
            <a:r>
              <a:rPr sz="1600" b="1" i="0">
                <a:solidFill>
                  <a:srgbClr val="0B655E"/>
                </a:solidFill>
                <a:latin typeface="Calibri"/>
              </a:rPr>
              <a:t>—</a:t>
            </a:r>
          </a:p>
        </p:txBody>
      </p:sp>
      <p:sp>
        <p:nvSpPr>
          <p:cNvPr id="10" name="TextBox 9"/>
          <p:cNvSpPr txBox="1"/>
          <p:nvPr/>
        </p:nvSpPr>
        <p:spPr>
          <a:xfrm>
            <a:off x="1088136" y="3920743"/>
            <a:ext cx="8741664" cy="365760"/>
          </a:xfrm>
          <a:prstGeom prst="rect">
            <a:avLst/>
          </a:prstGeom>
          <a:noFill/>
        </p:spPr>
        <p:txBody>
          <a:bodyPr wrap="square" lIns="0" rIns="0" tIns="0" bIns="0" anchor="t">
            <a:spAutoFit/>
          </a:bodyPr>
          <a:lstStyle/>
          <a:p>
            <a:pPr algn="l">
              <a:lnSpc>
                <a:spcPct val="114000"/>
              </a:lnSpc>
              <a:spcAft>
                <a:spcPts val="0"/>
              </a:spcAft>
            </a:pPr>
            <a:r>
              <a:rPr sz="1600" b="1" i="0">
                <a:solidFill>
                  <a:srgbClr val="12181D"/>
                </a:solidFill>
                <a:latin typeface="Calibri"/>
              </a:rPr>
              <a:t>2017</a:t>
            </a:r>
            <a:r>
              <a:rPr sz="1600" b="0" i="0">
                <a:solidFill>
                  <a:srgbClr val="545F69"/>
                </a:solidFill>
                <a:latin typeface="Calibri"/>
              </a:rPr>
              <a:t> — Publication de « Attention Is All You Need », qui décrit l'architecture Transformer. </a:t>
            </a:r>
            <a:r>
              <a:rPr sz="1600" b="1" i="0">
                <a:solidFill>
                  <a:srgbClr val="12181D"/>
                </a:solidFill>
                <a:latin typeface="Calibri"/>
              </a:rPr>
              <a:t>Huit pages qui rendent possible absolument tout ce qui suit.</a:t>
            </a:r>
            <a:r>
              <a:rPr sz="1600" b="0" i="0">
                <a:solidFill>
                  <a:srgbClr val="545F69"/>
                </a:solidFill>
                <a:latin typeface="Calibri"/>
              </a:rPr>
              <a:t> Le T de ChatGPT vient de là.</a:t>
            </a:r>
          </a:p>
        </p:txBody>
      </p:sp>
      <p:sp>
        <p:nvSpPr>
          <p:cNvPr id="11" name="TextBox 10"/>
          <p:cNvSpPr txBox="1"/>
          <p:nvPr/>
        </p:nvSpPr>
        <p:spPr>
          <a:xfrm>
            <a:off x="777240" y="4975352"/>
            <a:ext cx="274320" cy="274320"/>
          </a:xfrm>
          <a:prstGeom prst="rect">
            <a:avLst/>
          </a:prstGeom>
          <a:noFill/>
        </p:spPr>
        <p:txBody>
          <a:bodyPr wrap="square" lIns="0" rIns="0" tIns="0" bIns="0" anchor="t">
            <a:spAutoFit/>
          </a:bodyPr>
          <a:lstStyle/>
          <a:p>
            <a:pPr algn="l">
              <a:lnSpc>
                <a:spcPct val="112000"/>
              </a:lnSpc>
              <a:spcAft>
                <a:spcPts val="0"/>
              </a:spcAft>
            </a:pPr>
            <a:r>
              <a:rPr sz="1600" b="1" i="0">
                <a:solidFill>
                  <a:srgbClr val="0B655E"/>
                </a:solidFill>
                <a:latin typeface="Calibri"/>
              </a:rPr>
              <a:t>—</a:t>
            </a:r>
          </a:p>
        </p:txBody>
      </p:sp>
      <p:sp>
        <p:nvSpPr>
          <p:cNvPr id="12" name="TextBox 11"/>
          <p:cNvSpPr txBox="1"/>
          <p:nvPr/>
        </p:nvSpPr>
        <p:spPr>
          <a:xfrm>
            <a:off x="1088136" y="4975352"/>
            <a:ext cx="8741664" cy="365760"/>
          </a:xfrm>
          <a:prstGeom prst="rect">
            <a:avLst/>
          </a:prstGeom>
          <a:noFill/>
        </p:spPr>
        <p:txBody>
          <a:bodyPr wrap="square" lIns="0" rIns="0" tIns="0" bIns="0" anchor="t">
            <a:spAutoFit/>
          </a:bodyPr>
          <a:lstStyle/>
          <a:p>
            <a:pPr algn="l">
              <a:lnSpc>
                <a:spcPct val="114000"/>
              </a:lnSpc>
              <a:spcAft>
                <a:spcPts val="0"/>
              </a:spcAft>
            </a:pPr>
            <a:r>
              <a:rPr sz="1600" b="1" i="0">
                <a:solidFill>
                  <a:srgbClr val="12181D"/>
                </a:solidFill>
                <a:latin typeface="Calibri"/>
              </a:rPr>
              <a:t>2018-2021</a:t>
            </a:r>
            <a:r>
              <a:rPr sz="1600" b="0" i="0">
                <a:solidFill>
                  <a:srgbClr val="545F69"/>
                </a:solidFill>
                <a:latin typeface="Calibri"/>
              </a:rPr>
              <a:t> — Les premiers grands modèles de langage sortent des laboratoires. Presque personne, hors du secteur, n'en entend parler.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77240" y="402336"/>
            <a:ext cx="10637215" cy="32004"/>
          </a:xfrm>
          <a:prstGeom prst="rect">
            <a:avLst/>
          </a:prstGeom>
          <a:solidFill>
            <a:srgbClr val="12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77240" y="502920"/>
            <a:ext cx="10637215" cy="274320"/>
          </a:xfrm>
          <a:prstGeom prst="rect">
            <a:avLst/>
          </a:prstGeom>
          <a:noFill/>
        </p:spPr>
        <p:txBody>
          <a:bodyPr wrap="square" lIns="0" rIns="0" tIns="0" bIns="0" anchor="t">
            <a:spAutoFit/>
          </a:bodyPr>
          <a:lstStyle/>
          <a:p>
            <a:pPr algn="l">
              <a:lnSpc>
                <a:spcPct val="112000"/>
              </a:lnSpc>
              <a:spcAft>
                <a:spcPts val="0"/>
              </a:spcAft>
            </a:pPr>
            <a:r>
              <a:rPr sz="1050" b="1" i="0" spc="150">
                <a:solidFill>
                  <a:srgbClr val="A32B57"/>
                </a:solidFill>
                <a:latin typeface="Consolas"/>
              </a:rPr>
              <a:t>ACTE III · 2022-2026</a:t>
            </a:r>
          </a:p>
        </p:txBody>
      </p:sp>
      <p:sp>
        <p:nvSpPr>
          <p:cNvPr id="4" name="TextBox 3"/>
          <p:cNvSpPr txBox="1"/>
          <p:nvPr/>
        </p:nvSpPr>
        <p:spPr>
          <a:xfrm>
            <a:off x="777240" y="868680"/>
            <a:ext cx="10637215" cy="1371600"/>
          </a:xfrm>
          <a:prstGeom prst="rect">
            <a:avLst/>
          </a:prstGeom>
          <a:noFill/>
        </p:spPr>
        <p:txBody>
          <a:bodyPr wrap="square" lIns="0" rIns="0" tIns="0" bIns="0" anchor="t">
            <a:spAutoFit/>
          </a:bodyPr>
          <a:lstStyle/>
          <a:p>
            <a:pPr algn="l">
              <a:lnSpc>
                <a:spcPct val="95000"/>
              </a:lnSpc>
              <a:spcAft>
                <a:spcPts val="0"/>
              </a:spcAft>
            </a:pPr>
            <a:r>
              <a:rPr sz="3800" b="1" i="0">
                <a:solidFill>
                  <a:srgbClr val="12181D"/>
                </a:solidFill>
                <a:latin typeface="Trebuchet MS"/>
              </a:rPr>
              <a:t>L'irruption dans le quotidien</a:t>
            </a:r>
          </a:p>
        </p:txBody>
      </p:sp>
      <p:sp>
        <p:nvSpPr>
          <p:cNvPr id="5" name="TextBox 4"/>
          <p:cNvSpPr txBox="1"/>
          <p:nvPr/>
        </p:nvSpPr>
        <p:spPr>
          <a:xfrm>
            <a:off x="777240" y="2331720"/>
            <a:ext cx="274320" cy="274320"/>
          </a:xfrm>
          <a:prstGeom prst="rect">
            <a:avLst/>
          </a:prstGeom>
          <a:noFill/>
        </p:spPr>
        <p:txBody>
          <a:bodyPr wrap="square" lIns="0" rIns="0" tIns="0" bIns="0" anchor="t">
            <a:spAutoFit/>
          </a:bodyPr>
          <a:lstStyle/>
          <a:p>
            <a:pPr algn="l">
              <a:lnSpc>
                <a:spcPct val="112000"/>
              </a:lnSpc>
              <a:spcAft>
                <a:spcPts val="0"/>
              </a:spcAft>
            </a:pPr>
            <a:r>
              <a:rPr sz="1600" b="1" i="0">
                <a:solidFill>
                  <a:srgbClr val="A32B57"/>
                </a:solidFill>
                <a:latin typeface="Calibri"/>
              </a:rPr>
              <a:t>—</a:t>
            </a:r>
          </a:p>
        </p:txBody>
      </p:sp>
      <p:sp>
        <p:nvSpPr>
          <p:cNvPr id="6" name="TextBox 5"/>
          <p:cNvSpPr txBox="1"/>
          <p:nvPr/>
        </p:nvSpPr>
        <p:spPr>
          <a:xfrm>
            <a:off x="1088136" y="2331720"/>
            <a:ext cx="8741664" cy="365760"/>
          </a:xfrm>
          <a:prstGeom prst="rect">
            <a:avLst/>
          </a:prstGeom>
          <a:noFill/>
        </p:spPr>
        <p:txBody>
          <a:bodyPr wrap="square" lIns="0" rIns="0" tIns="0" bIns="0" anchor="t">
            <a:spAutoFit/>
          </a:bodyPr>
          <a:lstStyle/>
          <a:p>
            <a:pPr algn="l">
              <a:lnSpc>
                <a:spcPct val="114000"/>
              </a:lnSpc>
              <a:spcAft>
                <a:spcPts val="0"/>
              </a:spcAft>
            </a:pPr>
            <a:r>
              <a:rPr sz="1600" b="1" i="0">
                <a:solidFill>
                  <a:srgbClr val="12181D"/>
                </a:solidFill>
                <a:latin typeface="Calibri"/>
              </a:rPr>
              <a:t>Novembre 2022</a:t>
            </a:r>
            <a:r>
              <a:rPr sz="1600" b="0" i="0">
                <a:solidFill>
                  <a:srgbClr val="545F69"/>
                </a:solidFill>
                <a:latin typeface="Calibri"/>
              </a:rPr>
              <a:t> — ChatGPT. Cent millions d'utilisateurs en deux mois : l'adoption la plus rapide de l'histoire du logiciel.</a:t>
            </a:r>
          </a:p>
        </p:txBody>
      </p:sp>
      <p:sp>
        <p:nvSpPr>
          <p:cNvPr id="7" name="TextBox 6"/>
          <p:cNvSpPr txBox="1"/>
          <p:nvPr/>
        </p:nvSpPr>
        <p:spPr>
          <a:xfrm>
            <a:off x="777240" y="3126232"/>
            <a:ext cx="274320" cy="274320"/>
          </a:xfrm>
          <a:prstGeom prst="rect">
            <a:avLst/>
          </a:prstGeom>
          <a:noFill/>
        </p:spPr>
        <p:txBody>
          <a:bodyPr wrap="square" lIns="0" rIns="0" tIns="0" bIns="0" anchor="t">
            <a:spAutoFit/>
          </a:bodyPr>
          <a:lstStyle/>
          <a:p>
            <a:pPr algn="l">
              <a:lnSpc>
                <a:spcPct val="112000"/>
              </a:lnSpc>
              <a:spcAft>
                <a:spcPts val="0"/>
              </a:spcAft>
            </a:pPr>
            <a:r>
              <a:rPr sz="1600" b="1" i="0">
                <a:solidFill>
                  <a:srgbClr val="A32B57"/>
                </a:solidFill>
                <a:latin typeface="Calibri"/>
              </a:rPr>
              <a:t>—</a:t>
            </a:r>
          </a:p>
        </p:txBody>
      </p:sp>
      <p:sp>
        <p:nvSpPr>
          <p:cNvPr id="8" name="TextBox 7"/>
          <p:cNvSpPr txBox="1"/>
          <p:nvPr/>
        </p:nvSpPr>
        <p:spPr>
          <a:xfrm>
            <a:off x="1088136" y="3126232"/>
            <a:ext cx="8741664" cy="365760"/>
          </a:xfrm>
          <a:prstGeom prst="rect">
            <a:avLst/>
          </a:prstGeom>
          <a:noFill/>
        </p:spPr>
        <p:txBody>
          <a:bodyPr wrap="square" lIns="0" rIns="0" tIns="0" bIns="0" anchor="t">
            <a:spAutoFit/>
          </a:bodyPr>
          <a:lstStyle/>
          <a:p>
            <a:pPr algn="l">
              <a:lnSpc>
                <a:spcPct val="114000"/>
              </a:lnSpc>
              <a:spcAft>
                <a:spcPts val="0"/>
              </a:spcAft>
            </a:pPr>
            <a:r>
              <a:rPr sz="1600" b="1" i="0">
                <a:solidFill>
                  <a:srgbClr val="12181D"/>
                </a:solidFill>
                <a:latin typeface="Calibri"/>
              </a:rPr>
              <a:t>2023</a:t>
            </a:r>
            <a:r>
              <a:rPr sz="1600" b="0" i="0">
                <a:solidFill>
                  <a:srgbClr val="545F69"/>
                </a:solidFill>
                <a:latin typeface="Calibri"/>
              </a:rPr>
              <a:t> — Le multimodal. Les modèles lisent des images et des documents, entendent, parlent.</a:t>
            </a:r>
          </a:p>
        </p:txBody>
      </p:sp>
      <p:sp>
        <p:nvSpPr>
          <p:cNvPr id="9" name="TextBox 8"/>
          <p:cNvSpPr txBox="1"/>
          <p:nvPr/>
        </p:nvSpPr>
        <p:spPr>
          <a:xfrm>
            <a:off x="777240" y="3660647"/>
            <a:ext cx="274320" cy="274320"/>
          </a:xfrm>
          <a:prstGeom prst="rect">
            <a:avLst/>
          </a:prstGeom>
          <a:noFill/>
        </p:spPr>
        <p:txBody>
          <a:bodyPr wrap="square" lIns="0" rIns="0" tIns="0" bIns="0" anchor="t">
            <a:spAutoFit/>
          </a:bodyPr>
          <a:lstStyle/>
          <a:p>
            <a:pPr algn="l">
              <a:lnSpc>
                <a:spcPct val="112000"/>
              </a:lnSpc>
              <a:spcAft>
                <a:spcPts val="0"/>
              </a:spcAft>
            </a:pPr>
            <a:r>
              <a:rPr sz="1600" b="1" i="0">
                <a:solidFill>
                  <a:srgbClr val="A32B57"/>
                </a:solidFill>
                <a:latin typeface="Calibri"/>
              </a:rPr>
              <a:t>—</a:t>
            </a:r>
          </a:p>
        </p:txBody>
      </p:sp>
      <p:sp>
        <p:nvSpPr>
          <p:cNvPr id="10" name="TextBox 9"/>
          <p:cNvSpPr txBox="1"/>
          <p:nvPr/>
        </p:nvSpPr>
        <p:spPr>
          <a:xfrm>
            <a:off x="1088136" y="3660647"/>
            <a:ext cx="8741664" cy="365760"/>
          </a:xfrm>
          <a:prstGeom prst="rect">
            <a:avLst/>
          </a:prstGeom>
          <a:noFill/>
        </p:spPr>
        <p:txBody>
          <a:bodyPr wrap="square" lIns="0" rIns="0" tIns="0" bIns="0" anchor="t">
            <a:spAutoFit/>
          </a:bodyPr>
          <a:lstStyle/>
          <a:p>
            <a:pPr algn="l">
              <a:lnSpc>
                <a:spcPct val="114000"/>
              </a:lnSpc>
              <a:spcAft>
                <a:spcPts val="0"/>
              </a:spcAft>
            </a:pPr>
            <a:r>
              <a:rPr sz="1600" b="1" i="0">
                <a:solidFill>
                  <a:srgbClr val="12181D"/>
                </a:solidFill>
                <a:latin typeface="Calibri"/>
              </a:rPr>
              <a:t>2024</a:t>
            </a:r>
            <a:r>
              <a:rPr sz="1600" b="0" i="0">
                <a:solidFill>
                  <a:srgbClr val="545F69"/>
                </a:solidFill>
                <a:latin typeface="Calibri"/>
              </a:rPr>
              <a:t> — Les agents. Le modèle cesse de répondre pour commencer à agir : il navigue, exécute, enchaîne des tâches.</a:t>
            </a:r>
          </a:p>
        </p:txBody>
      </p:sp>
      <p:sp>
        <p:nvSpPr>
          <p:cNvPr id="11" name="TextBox 10"/>
          <p:cNvSpPr txBox="1"/>
          <p:nvPr/>
        </p:nvSpPr>
        <p:spPr>
          <a:xfrm>
            <a:off x="777240" y="4455160"/>
            <a:ext cx="274320" cy="274320"/>
          </a:xfrm>
          <a:prstGeom prst="rect">
            <a:avLst/>
          </a:prstGeom>
          <a:noFill/>
        </p:spPr>
        <p:txBody>
          <a:bodyPr wrap="square" lIns="0" rIns="0" tIns="0" bIns="0" anchor="t">
            <a:spAutoFit/>
          </a:bodyPr>
          <a:lstStyle/>
          <a:p>
            <a:pPr algn="l">
              <a:lnSpc>
                <a:spcPct val="112000"/>
              </a:lnSpc>
              <a:spcAft>
                <a:spcPts val="0"/>
              </a:spcAft>
            </a:pPr>
            <a:r>
              <a:rPr sz="1600" b="1" i="0">
                <a:solidFill>
                  <a:srgbClr val="A32B57"/>
                </a:solidFill>
                <a:latin typeface="Calibri"/>
              </a:rPr>
              <a:t>—</a:t>
            </a:r>
          </a:p>
        </p:txBody>
      </p:sp>
      <p:sp>
        <p:nvSpPr>
          <p:cNvPr id="12" name="TextBox 11"/>
          <p:cNvSpPr txBox="1"/>
          <p:nvPr/>
        </p:nvSpPr>
        <p:spPr>
          <a:xfrm>
            <a:off x="1088136" y="4455160"/>
            <a:ext cx="8741664" cy="365760"/>
          </a:xfrm>
          <a:prstGeom prst="rect">
            <a:avLst/>
          </a:prstGeom>
          <a:noFill/>
        </p:spPr>
        <p:txBody>
          <a:bodyPr wrap="square" lIns="0" rIns="0" tIns="0" bIns="0" anchor="t">
            <a:spAutoFit/>
          </a:bodyPr>
          <a:lstStyle/>
          <a:p>
            <a:pPr algn="l">
              <a:lnSpc>
                <a:spcPct val="114000"/>
              </a:lnSpc>
              <a:spcAft>
                <a:spcPts val="0"/>
              </a:spcAft>
            </a:pPr>
            <a:r>
              <a:rPr sz="1600" b="1" i="0">
                <a:solidFill>
                  <a:srgbClr val="12181D"/>
                </a:solidFill>
                <a:latin typeface="Calibri"/>
              </a:rPr>
              <a:t>2025-2026</a:t>
            </a:r>
            <a:r>
              <a:rPr sz="1600" b="0" i="0">
                <a:solidFill>
                  <a:srgbClr val="545F69"/>
                </a:solidFill>
                <a:latin typeface="Calibri"/>
              </a:rPr>
              <a:t> — Le raisonnement progresse, et l'IA s'installe dans les outils de bureau — souvent sans qu'on l'ait demandée.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777240" y="1828800"/>
            <a:ext cx="1280160" cy="45720"/>
          </a:xfrm>
          <a:prstGeom prst="rect">
            <a:avLst/>
          </a:prstGeom>
          <a:solidFill>
            <a:srgbClr val="A32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2286000"/>
            <a:ext cx="10241280" cy="2194560"/>
          </a:xfrm>
          <a:prstGeom prst="rect">
            <a:avLst/>
          </a:prstGeom>
          <a:noFill/>
        </p:spPr>
        <p:txBody>
          <a:bodyPr wrap="square" lIns="0" rIns="0" tIns="0" bIns="0" anchor="t">
            <a:spAutoFit/>
          </a:bodyPr>
          <a:lstStyle/>
          <a:p>
            <a:pPr algn="l">
              <a:lnSpc>
                <a:spcPct val="100000"/>
              </a:lnSpc>
              <a:spcAft>
                <a:spcPts val="0"/>
              </a:spcAft>
            </a:pPr>
            <a:r>
              <a:rPr sz="4400" b="1" i="0">
                <a:solidFill>
                  <a:srgbClr val="12181D"/>
                </a:solidFill>
                <a:latin typeface="Trebuchet MS"/>
              </a:rPr>
              <a:t>Soixante ans pour devenir crédible.</a:t>
            </a:r>
          </a:p>
          <a:p>
            <a:pPr algn="l">
              <a:lnSpc>
                <a:spcPct val="100000"/>
              </a:lnSpc>
              <a:spcAft>
                <a:spcPts val="0"/>
              </a:spcAft>
            </a:pPr>
            <a:r>
              <a:rPr sz="4400" b="1" i="0">
                <a:solidFill>
                  <a:srgbClr val="12181D"/>
                </a:solidFill>
                <a:latin typeface="Trebuchet MS"/>
              </a:rPr>
              <a:t>Quatre ans pour devenir quotidienne.</a:t>
            </a:r>
          </a:p>
        </p:txBody>
      </p:sp>
      <p:sp>
        <p:nvSpPr>
          <p:cNvPr id="5" name="TextBox 4"/>
          <p:cNvSpPr txBox="1"/>
          <p:nvPr/>
        </p:nvSpPr>
        <p:spPr>
          <a:xfrm>
            <a:off x="777240" y="4709160"/>
            <a:ext cx="9144000" cy="914400"/>
          </a:xfrm>
          <a:prstGeom prst="rect">
            <a:avLst/>
          </a:prstGeom>
          <a:noFill/>
        </p:spPr>
        <p:txBody>
          <a:bodyPr wrap="square" lIns="0" rIns="0" tIns="0" bIns="0" anchor="t">
            <a:spAutoFit/>
          </a:bodyPr>
          <a:lstStyle/>
          <a:p>
            <a:pPr algn="l">
              <a:lnSpc>
                <a:spcPct val="130000"/>
              </a:lnSpc>
              <a:spcAft>
                <a:spcPts val="0"/>
              </a:spcAft>
            </a:pPr>
            <a:r>
              <a:rPr sz="1900" b="0" i="0">
                <a:solidFill>
                  <a:srgbClr val="545F69"/>
                </a:solidFill>
                <a:latin typeface="Calibri"/>
              </a:rPr>
              <a:t>Ce n'est pas la technologie qui a accéléré : c'est sa diffusion. Ce décalage explique pourquoi tout le monde a l'impression d'être en retard.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4EF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0B6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60120" y="1463040"/>
            <a:ext cx="7315200" cy="274320"/>
          </a:xfrm>
          <a:prstGeom prst="rect">
            <a:avLst/>
          </a:prstGeom>
          <a:noFill/>
        </p:spPr>
        <p:txBody>
          <a:bodyPr wrap="square" lIns="0" rIns="0" tIns="0" bIns="0" anchor="t">
            <a:spAutoFit/>
          </a:bodyPr>
          <a:lstStyle/>
          <a:p>
            <a:pPr algn="l">
              <a:lnSpc>
                <a:spcPct val="112000"/>
              </a:lnSpc>
              <a:spcAft>
                <a:spcPts val="0"/>
              </a:spcAft>
            </a:pPr>
            <a:r>
              <a:rPr sz="1200" b="1" i="0" spc="180">
                <a:solidFill>
                  <a:srgbClr val="0B655E"/>
                </a:solidFill>
                <a:latin typeface="Consolas"/>
              </a:rPr>
              <a:t>JOUR 1 · SÉQUENCE 4</a:t>
            </a:r>
          </a:p>
        </p:txBody>
      </p:sp>
      <p:sp>
        <p:nvSpPr>
          <p:cNvPr id="5" name="TextBox 4"/>
          <p:cNvSpPr txBox="1"/>
          <p:nvPr/>
        </p:nvSpPr>
        <p:spPr>
          <a:xfrm>
            <a:off x="960120" y="1965960"/>
            <a:ext cx="9601200" cy="2011680"/>
          </a:xfrm>
          <a:prstGeom prst="rect">
            <a:avLst/>
          </a:prstGeom>
          <a:noFill/>
        </p:spPr>
        <p:txBody>
          <a:bodyPr wrap="square" lIns="0" rIns="0" tIns="0" bIns="0" anchor="t">
            <a:spAutoFit/>
          </a:bodyPr>
          <a:lstStyle/>
          <a:p>
            <a:pPr algn="l">
              <a:lnSpc>
                <a:spcPct val="95000"/>
              </a:lnSpc>
              <a:spcAft>
                <a:spcPts val="0"/>
              </a:spcAft>
            </a:pPr>
            <a:r>
              <a:rPr sz="5000" b="1" i="0">
                <a:solidFill>
                  <a:srgbClr val="12181D"/>
                </a:solidFill>
                <a:latin typeface="Trebuchet MS"/>
              </a:rPr>
              <a:t>Premier contact</a:t>
            </a:r>
          </a:p>
        </p:txBody>
      </p:sp>
      <p:sp>
        <p:nvSpPr>
          <p:cNvPr id="6" name="Rectangle 5"/>
          <p:cNvSpPr/>
          <p:nvPr/>
        </p:nvSpPr>
        <p:spPr>
          <a:xfrm>
            <a:off x="960120" y="4114800"/>
            <a:ext cx="1463040" cy="41148"/>
          </a:xfrm>
          <a:prstGeom prst="rect">
            <a:avLst/>
          </a:prstGeom>
          <a:solidFill>
            <a:srgbClr val="0B6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60120" y="4480560"/>
            <a:ext cx="8595360" cy="1097280"/>
          </a:xfrm>
          <a:prstGeom prst="rect">
            <a:avLst/>
          </a:prstGeom>
          <a:noFill/>
        </p:spPr>
        <p:txBody>
          <a:bodyPr wrap="square" lIns="0" rIns="0" tIns="0" bIns="0" anchor="t">
            <a:spAutoFit/>
          </a:bodyPr>
          <a:lstStyle/>
          <a:p>
            <a:pPr algn="l">
              <a:lnSpc>
                <a:spcPct val="132000"/>
              </a:lnSpc>
              <a:spcAft>
                <a:spcPts val="0"/>
              </a:spcAft>
            </a:pPr>
            <a:r>
              <a:rPr sz="2000" b="0" i="0">
                <a:solidFill>
                  <a:srgbClr val="545F69"/>
                </a:solidFill>
                <a:latin typeface="Calibri"/>
              </a:rPr>
              <a:t>Assez parlé. On ouvre les outils, et on va délibérément les faire échouer.</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01168" cy="6858000"/>
          </a:xfrm>
          <a:prstGeom prst="rect">
            <a:avLst/>
          </a:prstGeom>
          <a:solidFill>
            <a:srgbClr val="0B6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548640"/>
            <a:ext cx="2651760" cy="384048"/>
          </a:xfrm>
          <a:prstGeom prst="rect">
            <a:avLst/>
          </a:prstGeom>
          <a:solidFill>
            <a:srgbClr val="0B6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41832" y="621792"/>
            <a:ext cx="2377440" cy="274320"/>
          </a:xfrm>
          <a:prstGeom prst="rect">
            <a:avLst/>
          </a:prstGeom>
          <a:noFill/>
        </p:spPr>
        <p:txBody>
          <a:bodyPr wrap="square" lIns="0" rIns="0" tIns="0" bIns="0" anchor="t">
            <a:spAutoFit/>
          </a:bodyPr>
          <a:lstStyle/>
          <a:p>
            <a:pPr algn="l">
              <a:lnSpc>
                <a:spcPct val="112000"/>
              </a:lnSpc>
              <a:spcAft>
                <a:spcPts val="0"/>
              </a:spcAft>
            </a:pPr>
            <a:r>
              <a:rPr sz="1150" b="1" i="0" spc="150">
                <a:solidFill>
                  <a:srgbClr val="FFFFFF"/>
                </a:solidFill>
                <a:latin typeface="Consolas"/>
              </a:rPr>
              <a:t>ATELIER 2 · 20 MIN</a:t>
            </a:r>
          </a:p>
        </p:txBody>
      </p:sp>
      <p:sp>
        <p:nvSpPr>
          <p:cNvPr id="6" name="TextBox 5"/>
          <p:cNvSpPr txBox="1"/>
          <p:nvPr/>
        </p:nvSpPr>
        <p:spPr>
          <a:xfrm>
            <a:off x="777240" y="1143000"/>
            <a:ext cx="10637215" cy="1371600"/>
          </a:xfrm>
          <a:prstGeom prst="rect">
            <a:avLst/>
          </a:prstGeom>
          <a:noFill/>
        </p:spPr>
        <p:txBody>
          <a:bodyPr wrap="square" lIns="0" rIns="0" tIns="0" bIns="0" anchor="t">
            <a:spAutoFit/>
          </a:bodyPr>
          <a:lstStyle/>
          <a:p>
            <a:pPr algn="l">
              <a:lnSpc>
                <a:spcPct val="95000"/>
              </a:lnSpc>
              <a:spcAft>
                <a:spcPts val="0"/>
              </a:spcAft>
            </a:pPr>
            <a:r>
              <a:rPr sz="3600" b="1" i="0">
                <a:solidFill>
                  <a:srgbClr val="12181D"/>
                </a:solidFill>
                <a:latin typeface="Trebuchet MS"/>
              </a:rPr>
              <a:t>La même question, deux modèles différents</a:t>
            </a:r>
          </a:p>
        </p:txBody>
      </p:sp>
      <p:sp>
        <p:nvSpPr>
          <p:cNvPr id="7" name="TextBox 6"/>
          <p:cNvSpPr txBox="1"/>
          <p:nvPr/>
        </p:nvSpPr>
        <p:spPr>
          <a:xfrm>
            <a:off x="777240" y="2606040"/>
            <a:ext cx="2743200" cy="274320"/>
          </a:xfrm>
          <a:prstGeom prst="rect">
            <a:avLst/>
          </a:prstGeom>
          <a:noFill/>
        </p:spPr>
        <p:txBody>
          <a:bodyPr wrap="square" lIns="0" rIns="0" tIns="0" bIns="0" anchor="t">
            <a:spAutoFit/>
          </a:bodyPr>
          <a:lstStyle/>
          <a:p>
            <a:pPr algn="l">
              <a:lnSpc>
                <a:spcPct val="112000"/>
              </a:lnSpc>
              <a:spcAft>
                <a:spcPts val="0"/>
              </a:spcAft>
            </a:pPr>
            <a:r>
              <a:rPr sz="1000" b="1" i="0" spc="140">
                <a:solidFill>
                  <a:srgbClr val="0B655E"/>
                </a:solidFill>
                <a:latin typeface="Consolas"/>
              </a:rPr>
              <a:t>CONSIGNE</a:t>
            </a:r>
          </a:p>
        </p:txBody>
      </p:sp>
      <p:sp>
        <p:nvSpPr>
          <p:cNvPr id="8" name="TextBox 7"/>
          <p:cNvSpPr txBox="1"/>
          <p:nvPr/>
        </p:nvSpPr>
        <p:spPr>
          <a:xfrm>
            <a:off x="777240" y="2944368"/>
            <a:ext cx="274320" cy="274320"/>
          </a:xfrm>
          <a:prstGeom prst="rect">
            <a:avLst/>
          </a:prstGeom>
          <a:noFill/>
        </p:spPr>
        <p:txBody>
          <a:bodyPr wrap="square" lIns="0" rIns="0" tIns="0" bIns="0" anchor="t">
            <a:spAutoFit/>
          </a:bodyPr>
          <a:lstStyle/>
          <a:p>
            <a:pPr algn="l">
              <a:lnSpc>
                <a:spcPct val="112000"/>
              </a:lnSpc>
              <a:spcAft>
                <a:spcPts val="0"/>
              </a:spcAft>
            </a:pPr>
            <a:r>
              <a:rPr sz="1700" b="1" i="0">
                <a:solidFill>
                  <a:srgbClr val="0B655E"/>
                </a:solidFill>
                <a:latin typeface="Calibri"/>
              </a:rPr>
              <a:t>—</a:t>
            </a:r>
          </a:p>
        </p:txBody>
      </p:sp>
      <p:sp>
        <p:nvSpPr>
          <p:cNvPr id="9" name="TextBox 8"/>
          <p:cNvSpPr txBox="1"/>
          <p:nvPr/>
        </p:nvSpPr>
        <p:spPr>
          <a:xfrm>
            <a:off x="1088136" y="2944368"/>
            <a:ext cx="5632704" cy="365760"/>
          </a:xfrm>
          <a:prstGeom prst="rect">
            <a:avLst/>
          </a:prstGeom>
          <a:noFill/>
        </p:spPr>
        <p:txBody>
          <a:bodyPr wrap="square" lIns="0" rIns="0" tIns="0" bIns="0" anchor="t">
            <a:spAutoFit/>
          </a:bodyPr>
          <a:lstStyle/>
          <a:p>
            <a:pPr algn="l">
              <a:lnSpc>
                <a:spcPct val="114000"/>
              </a:lnSpc>
              <a:spcAft>
                <a:spcPts val="0"/>
              </a:spcAft>
            </a:pPr>
            <a:r>
              <a:rPr sz="1700" b="0" i="0">
                <a:solidFill>
                  <a:srgbClr val="12181D"/>
                </a:solidFill>
                <a:latin typeface="Calibri"/>
              </a:rPr>
              <a:t>Ouvrez deux outils parmi ChatGPT, Claude, Gemini et Le Chat.</a:t>
            </a:r>
          </a:p>
        </p:txBody>
      </p:sp>
      <p:sp>
        <p:nvSpPr>
          <p:cNvPr id="10" name="TextBox 9"/>
          <p:cNvSpPr txBox="1"/>
          <p:nvPr/>
        </p:nvSpPr>
        <p:spPr>
          <a:xfrm>
            <a:off x="777240" y="3771392"/>
            <a:ext cx="274320" cy="274320"/>
          </a:xfrm>
          <a:prstGeom prst="rect">
            <a:avLst/>
          </a:prstGeom>
          <a:noFill/>
        </p:spPr>
        <p:txBody>
          <a:bodyPr wrap="square" lIns="0" rIns="0" tIns="0" bIns="0" anchor="t">
            <a:spAutoFit/>
          </a:bodyPr>
          <a:lstStyle/>
          <a:p>
            <a:pPr algn="l">
              <a:lnSpc>
                <a:spcPct val="112000"/>
              </a:lnSpc>
              <a:spcAft>
                <a:spcPts val="0"/>
              </a:spcAft>
            </a:pPr>
            <a:r>
              <a:rPr sz="1700" b="1" i="0">
                <a:solidFill>
                  <a:srgbClr val="0B655E"/>
                </a:solidFill>
                <a:latin typeface="Calibri"/>
              </a:rPr>
              <a:t>—</a:t>
            </a:r>
          </a:p>
        </p:txBody>
      </p:sp>
      <p:sp>
        <p:nvSpPr>
          <p:cNvPr id="11" name="TextBox 10"/>
          <p:cNvSpPr txBox="1"/>
          <p:nvPr/>
        </p:nvSpPr>
        <p:spPr>
          <a:xfrm>
            <a:off x="1088136" y="3771392"/>
            <a:ext cx="5632704" cy="365760"/>
          </a:xfrm>
          <a:prstGeom prst="rect">
            <a:avLst/>
          </a:prstGeom>
          <a:noFill/>
        </p:spPr>
        <p:txBody>
          <a:bodyPr wrap="square" lIns="0" rIns="0" tIns="0" bIns="0" anchor="t">
            <a:spAutoFit/>
          </a:bodyPr>
          <a:lstStyle/>
          <a:p>
            <a:pPr algn="l">
              <a:lnSpc>
                <a:spcPct val="114000"/>
              </a:lnSpc>
              <a:spcAft>
                <a:spcPts val="0"/>
              </a:spcAft>
            </a:pPr>
            <a:r>
              <a:rPr sz="1700" b="0" i="0">
                <a:solidFill>
                  <a:srgbClr val="12181D"/>
                </a:solidFill>
                <a:latin typeface="Calibri"/>
              </a:rPr>
              <a:t>Posez à chacun </a:t>
            </a:r>
            <a:r>
              <a:rPr sz="1700" b="1" i="0">
                <a:solidFill>
                  <a:srgbClr val="12181D"/>
                </a:solidFill>
                <a:latin typeface="Calibri"/>
              </a:rPr>
              <a:t>exactement la même question</a:t>
            </a:r>
            <a:r>
              <a:rPr sz="1700" b="0" i="0">
                <a:solidFill>
                  <a:srgbClr val="12181D"/>
                </a:solidFill>
                <a:latin typeface="Calibri"/>
              </a:rPr>
              <a:t>, tirée de votre métier réel.</a:t>
            </a:r>
          </a:p>
        </p:txBody>
      </p:sp>
      <p:sp>
        <p:nvSpPr>
          <p:cNvPr id="12" name="TextBox 11"/>
          <p:cNvSpPr txBox="1"/>
          <p:nvPr/>
        </p:nvSpPr>
        <p:spPr>
          <a:xfrm>
            <a:off x="777240" y="4598416"/>
            <a:ext cx="274320" cy="274320"/>
          </a:xfrm>
          <a:prstGeom prst="rect">
            <a:avLst/>
          </a:prstGeom>
          <a:noFill/>
        </p:spPr>
        <p:txBody>
          <a:bodyPr wrap="square" lIns="0" rIns="0" tIns="0" bIns="0" anchor="t">
            <a:spAutoFit/>
          </a:bodyPr>
          <a:lstStyle/>
          <a:p>
            <a:pPr algn="l">
              <a:lnSpc>
                <a:spcPct val="112000"/>
              </a:lnSpc>
              <a:spcAft>
                <a:spcPts val="0"/>
              </a:spcAft>
            </a:pPr>
            <a:r>
              <a:rPr sz="1700" b="1" i="0">
                <a:solidFill>
                  <a:srgbClr val="0B655E"/>
                </a:solidFill>
                <a:latin typeface="Calibri"/>
              </a:rPr>
              <a:t>—</a:t>
            </a:r>
          </a:p>
        </p:txBody>
      </p:sp>
      <p:sp>
        <p:nvSpPr>
          <p:cNvPr id="13" name="TextBox 12"/>
          <p:cNvSpPr txBox="1"/>
          <p:nvPr/>
        </p:nvSpPr>
        <p:spPr>
          <a:xfrm>
            <a:off x="1088136" y="4598416"/>
            <a:ext cx="5632704" cy="365760"/>
          </a:xfrm>
          <a:prstGeom prst="rect">
            <a:avLst/>
          </a:prstGeom>
          <a:noFill/>
        </p:spPr>
        <p:txBody>
          <a:bodyPr wrap="square" lIns="0" rIns="0" tIns="0" bIns="0" anchor="t">
            <a:spAutoFit/>
          </a:bodyPr>
          <a:lstStyle/>
          <a:p>
            <a:pPr algn="l">
              <a:lnSpc>
                <a:spcPct val="114000"/>
              </a:lnSpc>
              <a:spcAft>
                <a:spcPts val="0"/>
              </a:spcAft>
            </a:pPr>
            <a:r>
              <a:rPr sz="1700" b="0" i="0">
                <a:solidFill>
                  <a:srgbClr val="12181D"/>
                </a:solidFill>
                <a:latin typeface="Calibri"/>
              </a:rPr>
              <a:t>Comparez : le ton, la longueur, la structure, ce qui est proposé spontanément.</a:t>
            </a:r>
          </a:p>
        </p:txBody>
      </p:sp>
      <p:sp>
        <p:nvSpPr>
          <p:cNvPr id="14" name="TextBox 13"/>
          <p:cNvSpPr txBox="1"/>
          <p:nvPr/>
        </p:nvSpPr>
        <p:spPr>
          <a:xfrm>
            <a:off x="777240" y="5425440"/>
            <a:ext cx="274320" cy="274320"/>
          </a:xfrm>
          <a:prstGeom prst="rect">
            <a:avLst/>
          </a:prstGeom>
          <a:noFill/>
        </p:spPr>
        <p:txBody>
          <a:bodyPr wrap="square" lIns="0" rIns="0" tIns="0" bIns="0" anchor="t">
            <a:spAutoFit/>
          </a:bodyPr>
          <a:lstStyle/>
          <a:p>
            <a:pPr algn="l">
              <a:lnSpc>
                <a:spcPct val="112000"/>
              </a:lnSpc>
              <a:spcAft>
                <a:spcPts val="0"/>
              </a:spcAft>
            </a:pPr>
            <a:r>
              <a:rPr sz="1700" b="1" i="0">
                <a:solidFill>
                  <a:srgbClr val="0B655E"/>
                </a:solidFill>
                <a:latin typeface="Calibri"/>
              </a:rPr>
              <a:t>—</a:t>
            </a:r>
          </a:p>
        </p:txBody>
      </p:sp>
      <p:sp>
        <p:nvSpPr>
          <p:cNvPr id="15" name="TextBox 14"/>
          <p:cNvSpPr txBox="1"/>
          <p:nvPr/>
        </p:nvSpPr>
        <p:spPr>
          <a:xfrm>
            <a:off x="1088136" y="5425440"/>
            <a:ext cx="5632704" cy="365760"/>
          </a:xfrm>
          <a:prstGeom prst="rect">
            <a:avLst/>
          </a:prstGeom>
          <a:noFill/>
        </p:spPr>
        <p:txBody>
          <a:bodyPr wrap="square" lIns="0" rIns="0" tIns="0" bIns="0" anchor="t">
            <a:spAutoFit/>
          </a:bodyPr>
          <a:lstStyle/>
          <a:p>
            <a:pPr algn="l">
              <a:lnSpc>
                <a:spcPct val="114000"/>
              </a:lnSpc>
              <a:spcAft>
                <a:spcPts val="0"/>
              </a:spcAft>
            </a:pPr>
            <a:r>
              <a:rPr sz="1700" b="0" i="0">
                <a:solidFill>
                  <a:srgbClr val="12181D"/>
                </a:solidFill>
                <a:latin typeface="Calibri"/>
              </a:rPr>
              <a:t>Notez la réponse que vous préférez, et surtout </a:t>
            </a:r>
            <a:r>
              <a:rPr sz="1700" b="1" i="0">
                <a:solidFill>
                  <a:srgbClr val="12181D"/>
                </a:solidFill>
                <a:latin typeface="Calibri"/>
              </a:rPr>
              <a:t>pourquoi</a:t>
            </a:r>
            <a:r>
              <a:rPr sz="1700" b="0" i="0">
                <a:solidFill>
                  <a:srgbClr val="12181D"/>
                </a:solidFill>
                <a:latin typeface="Calibri"/>
              </a:rPr>
              <a:t>.</a:t>
            </a:r>
          </a:p>
        </p:txBody>
      </p:sp>
      <p:sp>
        <p:nvSpPr>
          <p:cNvPr id="16" name="Rectangle 15"/>
          <p:cNvSpPr/>
          <p:nvPr/>
        </p:nvSpPr>
        <p:spPr>
          <a:xfrm>
            <a:off x="7269479" y="2286000"/>
            <a:ext cx="4144975" cy="3383280"/>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269479" y="2286000"/>
            <a:ext cx="41148" cy="3383280"/>
          </a:xfrm>
          <a:prstGeom prst="rect">
            <a:avLst/>
          </a:prstGeom>
          <a:solidFill>
            <a:srgbClr val="0B6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525511" y="2487168"/>
            <a:ext cx="3687775" cy="228600"/>
          </a:xfrm>
          <a:prstGeom prst="rect">
            <a:avLst/>
          </a:prstGeom>
          <a:noFill/>
        </p:spPr>
        <p:txBody>
          <a:bodyPr wrap="square" lIns="0" rIns="0" tIns="0" bIns="0" anchor="t">
            <a:spAutoFit/>
          </a:bodyPr>
          <a:lstStyle/>
          <a:p>
            <a:pPr algn="l">
              <a:lnSpc>
                <a:spcPct val="112000"/>
              </a:lnSpc>
              <a:spcAft>
                <a:spcPts val="0"/>
              </a:spcAft>
            </a:pPr>
            <a:r>
              <a:rPr sz="1000" b="1" i="0" spc="140">
                <a:solidFill>
                  <a:srgbClr val="0B655E"/>
                </a:solidFill>
                <a:latin typeface="Consolas"/>
              </a:rPr>
              <a:t>DÉBRIEF EN GRAND GROUPE</a:t>
            </a:r>
          </a:p>
        </p:txBody>
      </p:sp>
      <p:sp>
        <p:nvSpPr>
          <p:cNvPr id="19" name="TextBox 18"/>
          <p:cNvSpPr txBox="1"/>
          <p:nvPr/>
        </p:nvSpPr>
        <p:spPr>
          <a:xfrm>
            <a:off x="7525511" y="2816352"/>
            <a:ext cx="3687775" cy="2651760"/>
          </a:xfrm>
          <a:prstGeom prst="rect">
            <a:avLst/>
          </a:prstGeom>
          <a:noFill/>
        </p:spPr>
        <p:txBody>
          <a:bodyPr wrap="square" lIns="0" rIns="0" tIns="0" bIns="0" anchor="t">
            <a:spAutoFit/>
          </a:bodyPr>
          <a:lstStyle/>
          <a:p>
            <a:pPr algn="l">
              <a:lnSpc>
                <a:spcPct val="120000"/>
              </a:lnSpc>
              <a:spcAft>
                <a:spcPts val="0"/>
              </a:spcAft>
            </a:pPr>
            <a:r>
              <a:rPr sz="1600" b="0" i="0">
                <a:solidFill>
                  <a:srgbClr val="545F69"/>
                </a:solidFill>
                <a:latin typeface="Calibri"/>
              </a:rPr>
              <a:t>Les préférences vont diverger dans la salle, et c'est le point. Il n'y a pas de meilleur modèle dans l'absolu : il y a celui dont le style correspond à ce que vous attendiez.</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01168" cy="6858000"/>
          </a:xfrm>
          <a:prstGeom prst="rect">
            <a:avLst/>
          </a:prstGeom>
          <a:solidFill>
            <a:srgbClr val="0B6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548640"/>
            <a:ext cx="2651760" cy="384048"/>
          </a:xfrm>
          <a:prstGeom prst="rect">
            <a:avLst/>
          </a:prstGeom>
          <a:solidFill>
            <a:srgbClr val="0B6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41832" y="621792"/>
            <a:ext cx="2377440" cy="274320"/>
          </a:xfrm>
          <a:prstGeom prst="rect">
            <a:avLst/>
          </a:prstGeom>
          <a:noFill/>
        </p:spPr>
        <p:txBody>
          <a:bodyPr wrap="square" lIns="0" rIns="0" tIns="0" bIns="0" anchor="t">
            <a:spAutoFit/>
          </a:bodyPr>
          <a:lstStyle/>
          <a:p>
            <a:pPr algn="l">
              <a:lnSpc>
                <a:spcPct val="112000"/>
              </a:lnSpc>
              <a:spcAft>
                <a:spcPts val="0"/>
              </a:spcAft>
            </a:pPr>
            <a:r>
              <a:rPr sz="1150" b="1" i="0" spc="150">
                <a:solidFill>
                  <a:srgbClr val="FFFFFF"/>
                </a:solidFill>
                <a:latin typeface="Consolas"/>
              </a:rPr>
              <a:t>ATELIER 3 · 30 MIN</a:t>
            </a:r>
          </a:p>
        </p:txBody>
      </p:sp>
      <p:sp>
        <p:nvSpPr>
          <p:cNvPr id="6" name="TextBox 5"/>
          <p:cNvSpPr txBox="1"/>
          <p:nvPr/>
        </p:nvSpPr>
        <p:spPr>
          <a:xfrm>
            <a:off x="777240" y="1143000"/>
            <a:ext cx="10637215" cy="1371600"/>
          </a:xfrm>
          <a:prstGeom prst="rect">
            <a:avLst/>
          </a:prstGeom>
          <a:noFill/>
        </p:spPr>
        <p:txBody>
          <a:bodyPr wrap="square" lIns="0" rIns="0" tIns="0" bIns="0" anchor="t">
            <a:spAutoFit/>
          </a:bodyPr>
          <a:lstStyle/>
          <a:p>
            <a:pPr algn="l">
              <a:lnSpc>
                <a:spcPct val="95000"/>
              </a:lnSpc>
              <a:spcAft>
                <a:spcPts val="0"/>
              </a:spcAft>
            </a:pPr>
            <a:r>
              <a:rPr sz="3600" b="1" i="0">
                <a:solidFill>
                  <a:srgbClr val="12181D"/>
                </a:solidFill>
                <a:latin typeface="Trebuchet MS"/>
              </a:rPr>
              <a:t>Chasse aux hallucinations</a:t>
            </a:r>
          </a:p>
        </p:txBody>
      </p:sp>
      <p:sp>
        <p:nvSpPr>
          <p:cNvPr id="7" name="TextBox 6"/>
          <p:cNvSpPr txBox="1"/>
          <p:nvPr/>
        </p:nvSpPr>
        <p:spPr>
          <a:xfrm>
            <a:off x="777240" y="2606040"/>
            <a:ext cx="2743200" cy="274320"/>
          </a:xfrm>
          <a:prstGeom prst="rect">
            <a:avLst/>
          </a:prstGeom>
          <a:noFill/>
        </p:spPr>
        <p:txBody>
          <a:bodyPr wrap="square" lIns="0" rIns="0" tIns="0" bIns="0" anchor="t">
            <a:spAutoFit/>
          </a:bodyPr>
          <a:lstStyle/>
          <a:p>
            <a:pPr algn="l">
              <a:lnSpc>
                <a:spcPct val="112000"/>
              </a:lnSpc>
              <a:spcAft>
                <a:spcPts val="0"/>
              </a:spcAft>
            </a:pPr>
            <a:r>
              <a:rPr sz="1000" b="1" i="0" spc="140">
                <a:solidFill>
                  <a:srgbClr val="0B655E"/>
                </a:solidFill>
                <a:latin typeface="Consolas"/>
              </a:rPr>
              <a:t>CONSIGNE</a:t>
            </a:r>
          </a:p>
        </p:txBody>
      </p:sp>
      <p:sp>
        <p:nvSpPr>
          <p:cNvPr id="8" name="TextBox 7"/>
          <p:cNvSpPr txBox="1"/>
          <p:nvPr/>
        </p:nvSpPr>
        <p:spPr>
          <a:xfrm>
            <a:off x="777240" y="2944368"/>
            <a:ext cx="274320" cy="274320"/>
          </a:xfrm>
          <a:prstGeom prst="rect">
            <a:avLst/>
          </a:prstGeom>
          <a:noFill/>
        </p:spPr>
        <p:txBody>
          <a:bodyPr wrap="square" lIns="0" rIns="0" tIns="0" bIns="0" anchor="t">
            <a:spAutoFit/>
          </a:bodyPr>
          <a:lstStyle/>
          <a:p>
            <a:pPr algn="l">
              <a:lnSpc>
                <a:spcPct val="112000"/>
              </a:lnSpc>
              <a:spcAft>
                <a:spcPts val="0"/>
              </a:spcAft>
            </a:pPr>
            <a:r>
              <a:rPr sz="1700" b="1" i="0">
                <a:solidFill>
                  <a:srgbClr val="0B655E"/>
                </a:solidFill>
                <a:latin typeface="Calibri"/>
              </a:rPr>
              <a:t>—</a:t>
            </a:r>
          </a:p>
        </p:txBody>
      </p:sp>
      <p:sp>
        <p:nvSpPr>
          <p:cNvPr id="9" name="TextBox 8"/>
          <p:cNvSpPr txBox="1"/>
          <p:nvPr/>
        </p:nvSpPr>
        <p:spPr>
          <a:xfrm>
            <a:off x="1088136" y="2944368"/>
            <a:ext cx="5632704" cy="365760"/>
          </a:xfrm>
          <a:prstGeom prst="rect">
            <a:avLst/>
          </a:prstGeom>
          <a:noFill/>
        </p:spPr>
        <p:txBody>
          <a:bodyPr wrap="square" lIns="0" rIns="0" tIns="0" bIns="0" anchor="t">
            <a:spAutoFit/>
          </a:bodyPr>
          <a:lstStyle/>
          <a:p>
            <a:pPr algn="l">
              <a:lnSpc>
                <a:spcPct val="114000"/>
              </a:lnSpc>
              <a:spcAft>
                <a:spcPts val="0"/>
              </a:spcAft>
            </a:pPr>
            <a:r>
              <a:rPr sz="1700" b="0" i="0">
                <a:solidFill>
                  <a:srgbClr val="12181D"/>
                </a:solidFill>
                <a:latin typeface="Calibri"/>
              </a:rPr>
              <a:t>Demandez à l'IA des informations </a:t>
            </a:r>
            <a:r>
              <a:rPr sz="1700" b="1" i="0">
                <a:solidFill>
                  <a:srgbClr val="12181D"/>
                </a:solidFill>
                <a:latin typeface="Calibri"/>
              </a:rPr>
              <a:t>vérifiables</a:t>
            </a:r>
            <a:r>
              <a:rPr sz="1700" b="0" i="0">
                <a:solidFill>
                  <a:srgbClr val="12181D"/>
                </a:solidFill>
                <a:latin typeface="Calibri"/>
              </a:rPr>
              <a:t> : votre entreprise, une réglementation de votre secteur, un chiffre de marché, la biographie d'une personne connue de vous.</a:t>
            </a:r>
          </a:p>
        </p:txBody>
      </p:sp>
      <p:sp>
        <p:nvSpPr>
          <p:cNvPr id="10" name="TextBox 9"/>
          <p:cNvSpPr txBox="1"/>
          <p:nvPr/>
        </p:nvSpPr>
        <p:spPr>
          <a:xfrm>
            <a:off x="777240" y="4047744"/>
            <a:ext cx="274320" cy="274320"/>
          </a:xfrm>
          <a:prstGeom prst="rect">
            <a:avLst/>
          </a:prstGeom>
          <a:noFill/>
        </p:spPr>
        <p:txBody>
          <a:bodyPr wrap="square" lIns="0" rIns="0" tIns="0" bIns="0" anchor="t">
            <a:spAutoFit/>
          </a:bodyPr>
          <a:lstStyle/>
          <a:p>
            <a:pPr algn="l">
              <a:lnSpc>
                <a:spcPct val="112000"/>
              </a:lnSpc>
              <a:spcAft>
                <a:spcPts val="0"/>
              </a:spcAft>
            </a:pPr>
            <a:r>
              <a:rPr sz="1700" b="1" i="0">
                <a:solidFill>
                  <a:srgbClr val="0B655E"/>
                </a:solidFill>
                <a:latin typeface="Calibri"/>
              </a:rPr>
              <a:t>—</a:t>
            </a:r>
          </a:p>
        </p:txBody>
      </p:sp>
      <p:sp>
        <p:nvSpPr>
          <p:cNvPr id="11" name="TextBox 10"/>
          <p:cNvSpPr txBox="1"/>
          <p:nvPr/>
        </p:nvSpPr>
        <p:spPr>
          <a:xfrm>
            <a:off x="1088136" y="4047744"/>
            <a:ext cx="5632704" cy="365760"/>
          </a:xfrm>
          <a:prstGeom prst="rect">
            <a:avLst/>
          </a:prstGeom>
          <a:noFill/>
        </p:spPr>
        <p:txBody>
          <a:bodyPr wrap="square" lIns="0" rIns="0" tIns="0" bIns="0" anchor="t">
            <a:spAutoFit/>
          </a:bodyPr>
          <a:lstStyle/>
          <a:p>
            <a:pPr algn="l">
              <a:lnSpc>
                <a:spcPct val="114000"/>
              </a:lnSpc>
              <a:spcAft>
                <a:spcPts val="0"/>
              </a:spcAft>
            </a:pPr>
            <a:r>
              <a:rPr sz="1700" b="0" i="0">
                <a:solidFill>
                  <a:srgbClr val="12181D"/>
                </a:solidFill>
                <a:latin typeface="Calibri"/>
              </a:rPr>
              <a:t>Insistez, demandez des détails, des dates, des sources.</a:t>
            </a:r>
          </a:p>
        </p:txBody>
      </p:sp>
      <p:sp>
        <p:nvSpPr>
          <p:cNvPr id="12" name="TextBox 11"/>
          <p:cNvSpPr txBox="1"/>
          <p:nvPr/>
        </p:nvSpPr>
        <p:spPr>
          <a:xfrm>
            <a:off x="777240" y="4598416"/>
            <a:ext cx="274320" cy="274320"/>
          </a:xfrm>
          <a:prstGeom prst="rect">
            <a:avLst/>
          </a:prstGeom>
          <a:noFill/>
        </p:spPr>
        <p:txBody>
          <a:bodyPr wrap="square" lIns="0" rIns="0" tIns="0" bIns="0" anchor="t">
            <a:spAutoFit/>
          </a:bodyPr>
          <a:lstStyle/>
          <a:p>
            <a:pPr algn="l">
              <a:lnSpc>
                <a:spcPct val="112000"/>
              </a:lnSpc>
              <a:spcAft>
                <a:spcPts val="0"/>
              </a:spcAft>
            </a:pPr>
            <a:r>
              <a:rPr sz="1700" b="1" i="0">
                <a:solidFill>
                  <a:srgbClr val="0B655E"/>
                </a:solidFill>
                <a:latin typeface="Calibri"/>
              </a:rPr>
              <a:t>—</a:t>
            </a:r>
          </a:p>
        </p:txBody>
      </p:sp>
      <p:sp>
        <p:nvSpPr>
          <p:cNvPr id="13" name="TextBox 12"/>
          <p:cNvSpPr txBox="1"/>
          <p:nvPr/>
        </p:nvSpPr>
        <p:spPr>
          <a:xfrm>
            <a:off x="1088136" y="4598416"/>
            <a:ext cx="5632704" cy="365760"/>
          </a:xfrm>
          <a:prstGeom prst="rect">
            <a:avLst/>
          </a:prstGeom>
          <a:noFill/>
        </p:spPr>
        <p:txBody>
          <a:bodyPr wrap="square" lIns="0" rIns="0" tIns="0" bIns="0" anchor="t">
            <a:spAutoFit/>
          </a:bodyPr>
          <a:lstStyle/>
          <a:p>
            <a:pPr algn="l">
              <a:lnSpc>
                <a:spcPct val="114000"/>
              </a:lnSpc>
              <a:spcAft>
                <a:spcPts val="0"/>
              </a:spcAft>
            </a:pPr>
            <a:r>
              <a:rPr sz="1700" b="1" i="0">
                <a:solidFill>
                  <a:srgbClr val="12181D"/>
                </a:solidFill>
                <a:latin typeface="Calibri"/>
              </a:rPr>
              <a:t>Vérifiez chaque affirmation</a:t>
            </a:r>
            <a:r>
              <a:rPr sz="1700" b="0" i="0">
                <a:solidFill>
                  <a:srgbClr val="12181D"/>
                </a:solidFill>
                <a:latin typeface="Calibri"/>
              </a:rPr>
              <a:t> — moteur de recherche, site officiel, votre propre connaissance.</a:t>
            </a:r>
          </a:p>
        </p:txBody>
      </p:sp>
      <p:sp>
        <p:nvSpPr>
          <p:cNvPr id="14" name="TextBox 13"/>
          <p:cNvSpPr txBox="1"/>
          <p:nvPr/>
        </p:nvSpPr>
        <p:spPr>
          <a:xfrm>
            <a:off x="777240" y="5425440"/>
            <a:ext cx="274320" cy="274320"/>
          </a:xfrm>
          <a:prstGeom prst="rect">
            <a:avLst/>
          </a:prstGeom>
          <a:noFill/>
        </p:spPr>
        <p:txBody>
          <a:bodyPr wrap="square" lIns="0" rIns="0" tIns="0" bIns="0" anchor="t">
            <a:spAutoFit/>
          </a:bodyPr>
          <a:lstStyle/>
          <a:p>
            <a:pPr algn="l">
              <a:lnSpc>
                <a:spcPct val="112000"/>
              </a:lnSpc>
              <a:spcAft>
                <a:spcPts val="0"/>
              </a:spcAft>
            </a:pPr>
            <a:r>
              <a:rPr sz="1700" b="1" i="0">
                <a:solidFill>
                  <a:srgbClr val="0B655E"/>
                </a:solidFill>
                <a:latin typeface="Calibri"/>
              </a:rPr>
              <a:t>—</a:t>
            </a:r>
          </a:p>
        </p:txBody>
      </p:sp>
      <p:sp>
        <p:nvSpPr>
          <p:cNvPr id="15" name="TextBox 14"/>
          <p:cNvSpPr txBox="1"/>
          <p:nvPr/>
        </p:nvSpPr>
        <p:spPr>
          <a:xfrm>
            <a:off x="1088136" y="5425440"/>
            <a:ext cx="5632704" cy="365760"/>
          </a:xfrm>
          <a:prstGeom prst="rect">
            <a:avLst/>
          </a:prstGeom>
          <a:noFill/>
        </p:spPr>
        <p:txBody>
          <a:bodyPr wrap="square" lIns="0" rIns="0" tIns="0" bIns="0" anchor="t">
            <a:spAutoFit/>
          </a:bodyPr>
          <a:lstStyle/>
          <a:p>
            <a:pPr algn="l">
              <a:lnSpc>
                <a:spcPct val="114000"/>
              </a:lnSpc>
              <a:spcAft>
                <a:spcPts val="0"/>
              </a:spcAft>
            </a:pPr>
            <a:r>
              <a:rPr sz="1700" b="0" i="0">
                <a:solidFill>
                  <a:srgbClr val="12181D"/>
                </a:solidFill>
                <a:latin typeface="Calibri"/>
              </a:rPr>
              <a:t>Comptez : combien d'erreurs, sur combien d'affirmations ?</a:t>
            </a:r>
          </a:p>
        </p:txBody>
      </p:sp>
      <p:sp>
        <p:nvSpPr>
          <p:cNvPr id="16" name="Rectangle 15"/>
          <p:cNvSpPr/>
          <p:nvPr/>
        </p:nvSpPr>
        <p:spPr>
          <a:xfrm>
            <a:off x="777240" y="5623560"/>
            <a:ext cx="5943600" cy="822960"/>
          </a:xfrm>
          <a:prstGeom prst="rect">
            <a:avLst/>
          </a:prstGeom>
          <a:solidFill>
            <a:srgbClr val="E4EF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5623560"/>
            <a:ext cx="41148" cy="822960"/>
          </a:xfrm>
          <a:prstGeom prst="rect">
            <a:avLst/>
          </a:prstGeom>
          <a:solidFill>
            <a:srgbClr val="0B6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033271" y="5824728"/>
            <a:ext cx="5486400" cy="228600"/>
          </a:xfrm>
          <a:prstGeom prst="rect">
            <a:avLst/>
          </a:prstGeom>
          <a:noFill/>
        </p:spPr>
        <p:txBody>
          <a:bodyPr wrap="square" lIns="0" rIns="0" tIns="0" bIns="0" anchor="t">
            <a:spAutoFit/>
          </a:bodyPr>
          <a:lstStyle/>
          <a:p>
            <a:pPr algn="l">
              <a:lnSpc>
                <a:spcPct val="112000"/>
              </a:lnSpc>
              <a:spcAft>
                <a:spcPts val="0"/>
              </a:spcAft>
            </a:pPr>
            <a:r>
              <a:rPr sz="1000" b="1" i="0" spc="140">
                <a:solidFill>
                  <a:srgbClr val="0B655E"/>
                </a:solidFill>
                <a:latin typeface="Consolas"/>
              </a:rPr>
              <a:t>LIVRABLE</a:t>
            </a:r>
          </a:p>
        </p:txBody>
      </p:sp>
      <p:sp>
        <p:nvSpPr>
          <p:cNvPr id="19" name="TextBox 18"/>
          <p:cNvSpPr txBox="1"/>
          <p:nvPr/>
        </p:nvSpPr>
        <p:spPr>
          <a:xfrm>
            <a:off x="1033271" y="6153912"/>
            <a:ext cx="5486400" cy="91439"/>
          </a:xfrm>
          <a:prstGeom prst="rect">
            <a:avLst/>
          </a:prstGeom>
          <a:noFill/>
        </p:spPr>
        <p:txBody>
          <a:bodyPr wrap="square" lIns="0" rIns="0" tIns="0" bIns="0" anchor="t">
            <a:spAutoFit/>
          </a:bodyPr>
          <a:lstStyle/>
          <a:p>
            <a:pPr algn="l">
              <a:lnSpc>
                <a:spcPct val="120000"/>
              </a:lnSpc>
              <a:spcAft>
                <a:spcPts val="0"/>
              </a:spcAft>
            </a:pPr>
            <a:r>
              <a:rPr sz="1500" b="0" i="0">
                <a:solidFill>
                  <a:srgbClr val="545F69"/>
                </a:solidFill>
                <a:latin typeface="Calibri"/>
              </a:rPr>
              <a:t>Une « carte de confiance » construite collectivement : ce qu'on délègue les yeux fermés, ce qu'on relit, ce qu'on ne demande jamais.</a:t>
            </a:r>
          </a:p>
        </p:txBody>
      </p:sp>
      <p:sp>
        <p:nvSpPr>
          <p:cNvPr id="20" name="Rectangle 19"/>
          <p:cNvSpPr/>
          <p:nvPr/>
        </p:nvSpPr>
        <p:spPr>
          <a:xfrm>
            <a:off x="7269479" y="2286000"/>
            <a:ext cx="4144975" cy="3383280"/>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7269479" y="2286000"/>
            <a:ext cx="41148" cy="3383280"/>
          </a:xfrm>
          <a:prstGeom prst="rect">
            <a:avLst/>
          </a:prstGeom>
          <a:solidFill>
            <a:srgbClr val="0B6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525511" y="2487168"/>
            <a:ext cx="3687775" cy="228600"/>
          </a:xfrm>
          <a:prstGeom prst="rect">
            <a:avLst/>
          </a:prstGeom>
          <a:noFill/>
        </p:spPr>
        <p:txBody>
          <a:bodyPr wrap="square" lIns="0" rIns="0" tIns="0" bIns="0" anchor="t">
            <a:spAutoFit/>
          </a:bodyPr>
          <a:lstStyle/>
          <a:p>
            <a:pPr algn="l">
              <a:lnSpc>
                <a:spcPct val="112000"/>
              </a:lnSpc>
              <a:spcAft>
                <a:spcPts val="0"/>
              </a:spcAft>
            </a:pPr>
            <a:r>
              <a:rPr sz="1000" b="1" i="0" spc="140">
                <a:solidFill>
                  <a:srgbClr val="0B655E"/>
                </a:solidFill>
                <a:latin typeface="Consolas"/>
              </a:rPr>
              <a:t>DÉBRIEF EN GRAND GROUPE</a:t>
            </a:r>
          </a:p>
        </p:txBody>
      </p:sp>
      <p:sp>
        <p:nvSpPr>
          <p:cNvPr id="23" name="TextBox 22"/>
          <p:cNvSpPr txBox="1"/>
          <p:nvPr/>
        </p:nvSpPr>
        <p:spPr>
          <a:xfrm>
            <a:off x="7525511" y="2816352"/>
            <a:ext cx="3687775" cy="2651760"/>
          </a:xfrm>
          <a:prstGeom prst="rect">
            <a:avLst/>
          </a:prstGeom>
          <a:noFill/>
        </p:spPr>
        <p:txBody>
          <a:bodyPr wrap="square" lIns="0" rIns="0" tIns="0" bIns="0" anchor="t">
            <a:spAutoFit/>
          </a:bodyPr>
          <a:lstStyle/>
          <a:p>
            <a:pPr algn="l">
              <a:lnSpc>
                <a:spcPct val="120000"/>
              </a:lnSpc>
              <a:spcAft>
                <a:spcPts val="0"/>
              </a:spcAft>
            </a:pPr>
            <a:r>
              <a:rPr sz="1600" b="0" i="0">
                <a:solidFill>
                  <a:srgbClr val="545F69"/>
                </a:solidFill>
                <a:latin typeface="Calibri"/>
              </a:rPr>
              <a:t>On additionne les erreurs de toute la salle au tableau. Puis la vraie question : </a:t>
            </a:r>
            <a:r>
              <a:rPr sz="1600" b="1" i="0">
                <a:solidFill>
                  <a:srgbClr val="12181D"/>
                </a:solidFill>
                <a:latin typeface="Calibri"/>
              </a:rPr>
              <a:t>qu'est-ce qui les rendait crédibles ?</a:t>
            </a:r>
            <a:r>
              <a:rPr sz="1600" b="0" i="0">
                <a:solidFill>
                  <a:srgbClr val="545F69"/>
                </a:solidFill>
                <a:latin typeface="Calibri"/>
              </a:rPr>
              <a:t> Elles étaient précises, bien écrites, et souvent accompagnées de faux détails rassurants.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77240" y="402336"/>
            <a:ext cx="10637215" cy="32004"/>
          </a:xfrm>
          <a:prstGeom prst="rect">
            <a:avLst/>
          </a:prstGeom>
          <a:solidFill>
            <a:srgbClr val="12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77240" y="502920"/>
            <a:ext cx="10637215" cy="274320"/>
          </a:xfrm>
          <a:prstGeom prst="rect">
            <a:avLst/>
          </a:prstGeom>
          <a:noFill/>
        </p:spPr>
        <p:txBody>
          <a:bodyPr wrap="square" lIns="0" rIns="0" tIns="0" bIns="0" anchor="t">
            <a:spAutoFit/>
          </a:bodyPr>
          <a:lstStyle/>
          <a:p>
            <a:pPr algn="l">
              <a:lnSpc>
                <a:spcPct val="112000"/>
              </a:lnSpc>
              <a:spcAft>
                <a:spcPts val="0"/>
              </a:spcAft>
            </a:pPr>
            <a:r>
              <a:rPr sz="1050" b="1" i="0" spc="150">
                <a:solidFill>
                  <a:srgbClr val="0B655E"/>
                </a:solidFill>
                <a:latin typeface="Consolas"/>
              </a:rPr>
              <a:t>DÉBRIEF</a:t>
            </a:r>
          </a:p>
        </p:txBody>
      </p:sp>
      <p:sp>
        <p:nvSpPr>
          <p:cNvPr id="4" name="TextBox 3"/>
          <p:cNvSpPr txBox="1"/>
          <p:nvPr/>
        </p:nvSpPr>
        <p:spPr>
          <a:xfrm>
            <a:off x="777240" y="868680"/>
            <a:ext cx="10637215" cy="1371600"/>
          </a:xfrm>
          <a:prstGeom prst="rect">
            <a:avLst/>
          </a:prstGeom>
          <a:noFill/>
        </p:spPr>
        <p:txBody>
          <a:bodyPr wrap="square" lIns="0" rIns="0" tIns="0" bIns="0" anchor="t">
            <a:spAutoFit/>
          </a:bodyPr>
          <a:lstStyle/>
          <a:p>
            <a:pPr algn="l">
              <a:lnSpc>
                <a:spcPct val="95000"/>
              </a:lnSpc>
              <a:spcAft>
                <a:spcPts val="0"/>
              </a:spcAft>
            </a:pPr>
            <a:r>
              <a:rPr sz="3800" b="1" i="0">
                <a:solidFill>
                  <a:srgbClr val="12181D"/>
                </a:solidFill>
                <a:latin typeface="Trebuchet MS"/>
              </a:rPr>
              <a:t>Ce qu'il fait très bien, ce qu'il fait très mal</a:t>
            </a:r>
          </a:p>
        </p:txBody>
      </p:sp>
      <p:sp>
        <p:nvSpPr>
          <p:cNvPr id="5" name="TextBox 4"/>
          <p:cNvSpPr txBox="1"/>
          <p:nvPr/>
        </p:nvSpPr>
        <p:spPr>
          <a:xfrm>
            <a:off x="777240" y="2286000"/>
            <a:ext cx="5120640" cy="274320"/>
          </a:xfrm>
          <a:prstGeom prst="rect">
            <a:avLst/>
          </a:prstGeom>
          <a:noFill/>
        </p:spPr>
        <p:txBody>
          <a:bodyPr wrap="square" lIns="0" rIns="0" tIns="0" bIns="0" anchor="t">
            <a:spAutoFit/>
          </a:bodyPr>
          <a:lstStyle/>
          <a:p>
            <a:pPr algn="l">
              <a:lnSpc>
                <a:spcPct val="112000"/>
              </a:lnSpc>
              <a:spcAft>
                <a:spcPts val="0"/>
              </a:spcAft>
            </a:pPr>
            <a:r>
              <a:rPr sz="1050" b="1" i="0" spc="140">
                <a:solidFill>
                  <a:srgbClr val="0B655E"/>
                </a:solidFill>
                <a:latin typeface="Consolas"/>
              </a:rPr>
              <a:t>CE QU'ON PEUT LUI CONFIER</a:t>
            </a:r>
          </a:p>
        </p:txBody>
      </p:sp>
      <p:sp>
        <p:nvSpPr>
          <p:cNvPr id="6" name="TextBox 5"/>
          <p:cNvSpPr txBox="1"/>
          <p:nvPr/>
        </p:nvSpPr>
        <p:spPr>
          <a:xfrm>
            <a:off x="777240" y="2651760"/>
            <a:ext cx="274320" cy="274320"/>
          </a:xfrm>
          <a:prstGeom prst="rect">
            <a:avLst/>
          </a:prstGeom>
          <a:noFill/>
        </p:spPr>
        <p:txBody>
          <a:bodyPr wrap="square" lIns="0" rIns="0" tIns="0" bIns="0" anchor="t">
            <a:spAutoFit/>
          </a:bodyPr>
          <a:lstStyle/>
          <a:p>
            <a:pPr algn="l">
              <a:lnSpc>
                <a:spcPct val="112000"/>
              </a:lnSpc>
              <a:spcAft>
                <a:spcPts val="0"/>
              </a:spcAft>
            </a:pPr>
            <a:r>
              <a:rPr sz="1550" b="1" i="0">
                <a:solidFill>
                  <a:srgbClr val="0B655E"/>
                </a:solidFill>
                <a:latin typeface="Calibri"/>
              </a:rPr>
              <a:t>—</a:t>
            </a:r>
          </a:p>
        </p:txBody>
      </p:sp>
      <p:sp>
        <p:nvSpPr>
          <p:cNvPr id="7" name="TextBox 6"/>
          <p:cNvSpPr txBox="1"/>
          <p:nvPr/>
        </p:nvSpPr>
        <p:spPr>
          <a:xfrm>
            <a:off x="1088136" y="2651760"/>
            <a:ext cx="4809744" cy="365760"/>
          </a:xfrm>
          <a:prstGeom prst="rect">
            <a:avLst/>
          </a:prstGeom>
          <a:noFill/>
        </p:spPr>
        <p:txBody>
          <a:bodyPr wrap="square" lIns="0" rIns="0" tIns="0" bIns="0" anchor="t">
            <a:spAutoFit/>
          </a:bodyPr>
          <a:lstStyle/>
          <a:p>
            <a:pPr algn="l">
              <a:lnSpc>
                <a:spcPct val="114000"/>
              </a:lnSpc>
              <a:spcAft>
                <a:spcPts val="0"/>
              </a:spcAft>
            </a:pPr>
            <a:r>
              <a:rPr sz="1550" b="0" i="0">
                <a:solidFill>
                  <a:srgbClr val="545F69"/>
                </a:solidFill>
                <a:latin typeface="Calibri"/>
              </a:rPr>
              <a:t>Reformuler, résumer, traduire </a:t>
            </a:r>
            <a:r>
              <a:rPr sz="1550" b="1" i="0">
                <a:solidFill>
                  <a:srgbClr val="12181D"/>
                </a:solidFill>
                <a:latin typeface="Calibri"/>
              </a:rPr>
              <a:t>un texte que vous lui fournissez</a:t>
            </a:r>
          </a:p>
        </p:txBody>
      </p:sp>
      <p:sp>
        <p:nvSpPr>
          <p:cNvPr id="8" name="TextBox 7"/>
          <p:cNvSpPr txBox="1"/>
          <p:nvPr/>
        </p:nvSpPr>
        <p:spPr>
          <a:xfrm>
            <a:off x="777240" y="3430016"/>
            <a:ext cx="274320" cy="274320"/>
          </a:xfrm>
          <a:prstGeom prst="rect">
            <a:avLst/>
          </a:prstGeom>
          <a:noFill/>
        </p:spPr>
        <p:txBody>
          <a:bodyPr wrap="square" lIns="0" rIns="0" tIns="0" bIns="0" anchor="t">
            <a:spAutoFit/>
          </a:bodyPr>
          <a:lstStyle/>
          <a:p>
            <a:pPr algn="l">
              <a:lnSpc>
                <a:spcPct val="112000"/>
              </a:lnSpc>
              <a:spcAft>
                <a:spcPts val="0"/>
              </a:spcAft>
            </a:pPr>
            <a:r>
              <a:rPr sz="1550" b="1" i="0">
                <a:solidFill>
                  <a:srgbClr val="0B655E"/>
                </a:solidFill>
                <a:latin typeface="Calibri"/>
              </a:rPr>
              <a:t>—</a:t>
            </a:r>
          </a:p>
        </p:txBody>
      </p:sp>
      <p:sp>
        <p:nvSpPr>
          <p:cNvPr id="9" name="TextBox 8"/>
          <p:cNvSpPr txBox="1"/>
          <p:nvPr/>
        </p:nvSpPr>
        <p:spPr>
          <a:xfrm>
            <a:off x="1088136" y="3430016"/>
            <a:ext cx="4809744" cy="365760"/>
          </a:xfrm>
          <a:prstGeom prst="rect">
            <a:avLst/>
          </a:prstGeom>
          <a:noFill/>
        </p:spPr>
        <p:txBody>
          <a:bodyPr wrap="square" lIns="0" rIns="0" tIns="0" bIns="0" anchor="t">
            <a:spAutoFit/>
          </a:bodyPr>
          <a:lstStyle/>
          <a:p>
            <a:pPr algn="l">
              <a:lnSpc>
                <a:spcPct val="114000"/>
              </a:lnSpc>
              <a:spcAft>
                <a:spcPts val="0"/>
              </a:spcAft>
            </a:pPr>
            <a:r>
              <a:rPr sz="1550" b="0" i="0">
                <a:solidFill>
                  <a:srgbClr val="545F69"/>
                </a:solidFill>
                <a:latin typeface="Calibri"/>
              </a:rPr>
              <a:t>Structurer des idées, faire un plan, sortir d'une page blanche</a:t>
            </a:r>
          </a:p>
        </p:txBody>
      </p:sp>
      <p:sp>
        <p:nvSpPr>
          <p:cNvPr id="10" name="TextBox 9"/>
          <p:cNvSpPr txBox="1"/>
          <p:nvPr/>
        </p:nvSpPr>
        <p:spPr>
          <a:xfrm>
            <a:off x="777240" y="4208272"/>
            <a:ext cx="274320" cy="274320"/>
          </a:xfrm>
          <a:prstGeom prst="rect">
            <a:avLst/>
          </a:prstGeom>
          <a:noFill/>
        </p:spPr>
        <p:txBody>
          <a:bodyPr wrap="square" lIns="0" rIns="0" tIns="0" bIns="0" anchor="t">
            <a:spAutoFit/>
          </a:bodyPr>
          <a:lstStyle/>
          <a:p>
            <a:pPr algn="l">
              <a:lnSpc>
                <a:spcPct val="112000"/>
              </a:lnSpc>
              <a:spcAft>
                <a:spcPts val="0"/>
              </a:spcAft>
            </a:pPr>
            <a:r>
              <a:rPr sz="1550" b="1" i="0">
                <a:solidFill>
                  <a:srgbClr val="0B655E"/>
                </a:solidFill>
                <a:latin typeface="Calibri"/>
              </a:rPr>
              <a:t>—</a:t>
            </a:r>
          </a:p>
        </p:txBody>
      </p:sp>
      <p:sp>
        <p:nvSpPr>
          <p:cNvPr id="11" name="TextBox 10"/>
          <p:cNvSpPr txBox="1"/>
          <p:nvPr/>
        </p:nvSpPr>
        <p:spPr>
          <a:xfrm>
            <a:off x="1088136" y="4208272"/>
            <a:ext cx="4809744" cy="365760"/>
          </a:xfrm>
          <a:prstGeom prst="rect">
            <a:avLst/>
          </a:prstGeom>
          <a:noFill/>
        </p:spPr>
        <p:txBody>
          <a:bodyPr wrap="square" lIns="0" rIns="0" tIns="0" bIns="0" anchor="t">
            <a:spAutoFit/>
          </a:bodyPr>
          <a:lstStyle/>
          <a:p>
            <a:pPr algn="l">
              <a:lnSpc>
                <a:spcPct val="114000"/>
              </a:lnSpc>
              <a:spcAft>
                <a:spcPts val="0"/>
              </a:spcAft>
            </a:pPr>
            <a:r>
              <a:rPr sz="1550" b="0" i="0">
                <a:solidFill>
                  <a:srgbClr val="545F69"/>
                </a:solidFill>
                <a:latin typeface="Calibri"/>
              </a:rPr>
              <a:t>Changer le ton, la longueur, le niveau de langue</a:t>
            </a:r>
          </a:p>
        </p:txBody>
      </p:sp>
      <p:sp>
        <p:nvSpPr>
          <p:cNvPr id="12" name="TextBox 11"/>
          <p:cNvSpPr txBox="1"/>
          <p:nvPr/>
        </p:nvSpPr>
        <p:spPr>
          <a:xfrm>
            <a:off x="777240" y="4734560"/>
            <a:ext cx="274320" cy="274320"/>
          </a:xfrm>
          <a:prstGeom prst="rect">
            <a:avLst/>
          </a:prstGeom>
          <a:noFill/>
        </p:spPr>
        <p:txBody>
          <a:bodyPr wrap="square" lIns="0" rIns="0" tIns="0" bIns="0" anchor="t">
            <a:spAutoFit/>
          </a:bodyPr>
          <a:lstStyle/>
          <a:p>
            <a:pPr algn="l">
              <a:lnSpc>
                <a:spcPct val="112000"/>
              </a:lnSpc>
              <a:spcAft>
                <a:spcPts val="0"/>
              </a:spcAft>
            </a:pPr>
            <a:r>
              <a:rPr sz="1550" b="1" i="0">
                <a:solidFill>
                  <a:srgbClr val="0B655E"/>
                </a:solidFill>
                <a:latin typeface="Calibri"/>
              </a:rPr>
              <a:t>—</a:t>
            </a:r>
          </a:p>
        </p:txBody>
      </p:sp>
      <p:sp>
        <p:nvSpPr>
          <p:cNvPr id="13" name="TextBox 12"/>
          <p:cNvSpPr txBox="1"/>
          <p:nvPr/>
        </p:nvSpPr>
        <p:spPr>
          <a:xfrm>
            <a:off x="1088136" y="4734560"/>
            <a:ext cx="4809744" cy="365760"/>
          </a:xfrm>
          <a:prstGeom prst="rect">
            <a:avLst/>
          </a:prstGeom>
          <a:noFill/>
        </p:spPr>
        <p:txBody>
          <a:bodyPr wrap="square" lIns="0" rIns="0" tIns="0" bIns="0" anchor="t">
            <a:spAutoFit/>
          </a:bodyPr>
          <a:lstStyle/>
          <a:p>
            <a:pPr algn="l">
              <a:lnSpc>
                <a:spcPct val="114000"/>
              </a:lnSpc>
              <a:spcAft>
                <a:spcPts val="0"/>
              </a:spcAft>
            </a:pPr>
            <a:r>
              <a:rPr sz="1550" b="0" i="0">
                <a:solidFill>
                  <a:srgbClr val="545F69"/>
                </a:solidFill>
                <a:latin typeface="Calibri"/>
              </a:rPr>
              <a:t>Expliquer un concept que vous pourrez vérifier ailleurs</a:t>
            </a:r>
          </a:p>
        </p:txBody>
      </p:sp>
      <p:sp>
        <p:nvSpPr>
          <p:cNvPr id="14" name="TextBox 13"/>
          <p:cNvSpPr txBox="1"/>
          <p:nvPr/>
        </p:nvSpPr>
        <p:spPr>
          <a:xfrm>
            <a:off x="777240" y="5512816"/>
            <a:ext cx="274320" cy="274320"/>
          </a:xfrm>
          <a:prstGeom prst="rect">
            <a:avLst/>
          </a:prstGeom>
          <a:noFill/>
        </p:spPr>
        <p:txBody>
          <a:bodyPr wrap="square" lIns="0" rIns="0" tIns="0" bIns="0" anchor="t">
            <a:spAutoFit/>
          </a:bodyPr>
          <a:lstStyle/>
          <a:p>
            <a:pPr algn="l">
              <a:lnSpc>
                <a:spcPct val="112000"/>
              </a:lnSpc>
              <a:spcAft>
                <a:spcPts val="0"/>
              </a:spcAft>
            </a:pPr>
            <a:r>
              <a:rPr sz="1550" b="1" i="0">
                <a:solidFill>
                  <a:srgbClr val="0B655E"/>
                </a:solidFill>
                <a:latin typeface="Calibri"/>
              </a:rPr>
              <a:t>—</a:t>
            </a:r>
          </a:p>
        </p:txBody>
      </p:sp>
      <p:sp>
        <p:nvSpPr>
          <p:cNvPr id="15" name="TextBox 14"/>
          <p:cNvSpPr txBox="1"/>
          <p:nvPr/>
        </p:nvSpPr>
        <p:spPr>
          <a:xfrm>
            <a:off x="1088136" y="5512816"/>
            <a:ext cx="4809744" cy="365760"/>
          </a:xfrm>
          <a:prstGeom prst="rect">
            <a:avLst/>
          </a:prstGeom>
          <a:noFill/>
        </p:spPr>
        <p:txBody>
          <a:bodyPr wrap="square" lIns="0" rIns="0" tIns="0" bIns="0" anchor="t">
            <a:spAutoFit/>
          </a:bodyPr>
          <a:lstStyle/>
          <a:p>
            <a:pPr algn="l">
              <a:lnSpc>
                <a:spcPct val="114000"/>
              </a:lnSpc>
              <a:spcAft>
                <a:spcPts val="0"/>
              </a:spcAft>
            </a:pPr>
            <a:r>
              <a:rPr sz="1550" b="0" i="0">
                <a:solidFill>
                  <a:srgbClr val="545F69"/>
                </a:solidFill>
                <a:latin typeface="Calibri"/>
              </a:rPr>
              <a:t>Générer des variantes et des idées à trier</a:t>
            </a:r>
          </a:p>
        </p:txBody>
      </p:sp>
      <p:sp>
        <p:nvSpPr>
          <p:cNvPr id="16" name="TextBox 15"/>
          <p:cNvSpPr txBox="1"/>
          <p:nvPr/>
        </p:nvSpPr>
        <p:spPr>
          <a:xfrm>
            <a:off x="6720840" y="2286000"/>
            <a:ext cx="4572000" cy="274320"/>
          </a:xfrm>
          <a:prstGeom prst="rect">
            <a:avLst/>
          </a:prstGeom>
          <a:noFill/>
        </p:spPr>
        <p:txBody>
          <a:bodyPr wrap="square" lIns="0" rIns="0" tIns="0" bIns="0" anchor="t">
            <a:spAutoFit/>
          </a:bodyPr>
          <a:lstStyle/>
          <a:p>
            <a:pPr algn="l">
              <a:lnSpc>
                <a:spcPct val="112000"/>
              </a:lnSpc>
              <a:spcAft>
                <a:spcPts val="0"/>
              </a:spcAft>
            </a:pPr>
            <a:r>
              <a:rPr sz="1050" b="1" i="0" spc="140">
                <a:solidFill>
                  <a:srgbClr val="A32B57"/>
                </a:solidFill>
                <a:latin typeface="Consolas"/>
              </a:rPr>
              <a:t>CE QU'IL NE FAUT PAS LUI CONFIER</a:t>
            </a:r>
          </a:p>
        </p:txBody>
      </p:sp>
      <p:sp>
        <p:nvSpPr>
          <p:cNvPr id="17" name="TextBox 16"/>
          <p:cNvSpPr txBox="1"/>
          <p:nvPr/>
        </p:nvSpPr>
        <p:spPr>
          <a:xfrm>
            <a:off x="6720840" y="2651760"/>
            <a:ext cx="274320" cy="274320"/>
          </a:xfrm>
          <a:prstGeom prst="rect">
            <a:avLst/>
          </a:prstGeom>
          <a:noFill/>
        </p:spPr>
        <p:txBody>
          <a:bodyPr wrap="square" lIns="0" rIns="0" tIns="0" bIns="0" anchor="t">
            <a:spAutoFit/>
          </a:bodyPr>
          <a:lstStyle/>
          <a:p>
            <a:pPr algn="l">
              <a:lnSpc>
                <a:spcPct val="112000"/>
              </a:lnSpc>
              <a:spcAft>
                <a:spcPts val="0"/>
              </a:spcAft>
            </a:pPr>
            <a:r>
              <a:rPr sz="1550" b="1" i="0">
                <a:solidFill>
                  <a:srgbClr val="A32B57"/>
                </a:solidFill>
                <a:latin typeface="Calibri"/>
              </a:rPr>
              <a:t>—</a:t>
            </a:r>
          </a:p>
        </p:txBody>
      </p:sp>
      <p:sp>
        <p:nvSpPr>
          <p:cNvPr id="18" name="TextBox 17"/>
          <p:cNvSpPr txBox="1"/>
          <p:nvPr/>
        </p:nvSpPr>
        <p:spPr>
          <a:xfrm>
            <a:off x="7031736" y="2651760"/>
            <a:ext cx="4261104" cy="365760"/>
          </a:xfrm>
          <a:prstGeom prst="rect">
            <a:avLst/>
          </a:prstGeom>
          <a:noFill/>
        </p:spPr>
        <p:txBody>
          <a:bodyPr wrap="square" lIns="0" rIns="0" tIns="0" bIns="0" anchor="t">
            <a:spAutoFit/>
          </a:bodyPr>
          <a:lstStyle/>
          <a:p>
            <a:pPr algn="l">
              <a:lnSpc>
                <a:spcPct val="114000"/>
              </a:lnSpc>
              <a:spcAft>
                <a:spcPts val="0"/>
              </a:spcAft>
            </a:pPr>
            <a:r>
              <a:rPr sz="1550" b="0" i="0">
                <a:solidFill>
                  <a:srgbClr val="545F69"/>
                </a:solidFill>
                <a:latin typeface="Calibri"/>
              </a:rPr>
              <a:t>Un chiffre, une date, une référence </a:t>
            </a:r>
            <a:r>
              <a:rPr sz="1550" b="1" i="0">
                <a:solidFill>
                  <a:srgbClr val="12181D"/>
                </a:solidFill>
                <a:latin typeface="Calibri"/>
              </a:rPr>
              <a:t>qu'il produit lui-même</a:t>
            </a:r>
          </a:p>
        </p:txBody>
      </p:sp>
      <p:sp>
        <p:nvSpPr>
          <p:cNvPr id="19" name="TextBox 18"/>
          <p:cNvSpPr txBox="1"/>
          <p:nvPr/>
        </p:nvSpPr>
        <p:spPr>
          <a:xfrm>
            <a:off x="6720840" y="3430016"/>
            <a:ext cx="274320" cy="274320"/>
          </a:xfrm>
          <a:prstGeom prst="rect">
            <a:avLst/>
          </a:prstGeom>
          <a:noFill/>
        </p:spPr>
        <p:txBody>
          <a:bodyPr wrap="square" lIns="0" rIns="0" tIns="0" bIns="0" anchor="t">
            <a:spAutoFit/>
          </a:bodyPr>
          <a:lstStyle/>
          <a:p>
            <a:pPr algn="l">
              <a:lnSpc>
                <a:spcPct val="112000"/>
              </a:lnSpc>
              <a:spcAft>
                <a:spcPts val="0"/>
              </a:spcAft>
            </a:pPr>
            <a:r>
              <a:rPr sz="1550" b="1" i="0">
                <a:solidFill>
                  <a:srgbClr val="A32B57"/>
                </a:solidFill>
                <a:latin typeface="Calibri"/>
              </a:rPr>
              <a:t>—</a:t>
            </a:r>
          </a:p>
        </p:txBody>
      </p:sp>
      <p:sp>
        <p:nvSpPr>
          <p:cNvPr id="20" name="TextBox 19"/>
          <p:cNvSpPr txBox="1"/>
          <p:nvPr/>
        </p:nvSpPr>
        <p:spPr>
          <a:xfrm>
            <a:off x="7031736" y="3430016"/>
            <a:ext cx="4261104" cy="365760"/>
          </a:xfrm>
          <a:prstGeom prst="rect">
            <a:avLst/>
          </a:prstGeom>
          <a:noFill/>
        </p:spPr>
        <p:txBody>
          <a:bodyPr wrap="square" lIns="0" rIns="0" tIns="0" bIns="0" anchor="t">
            <a:spAutoFit/>
          </a:bodyPr>
          <a:lstStyle/>
          <a:p>
            <a:pPr algn="l">
              <a:lnSpc>
                <a:spcPct val="114000"/>
              </a:lnSpc>
              <a:spcAft>
                <a:spcPts val="0"/>
              </a:spcAft>
            </a:pPr>
            <a:r>
              <a:rPr sz="1550" b="0" i="0">
                <a:solidFill>
                  <a:srgbClr val="545F69"/>
                </a:solidFill>
                <a:latin typeface="Calibri"/>
              </a:rPr>
              <a:t>Un calcul dont le résultat vous engage</a:t>
            </a:r>
          </a:p>
        </p:txBody>
      </p:sp>
      <p:sp>
        <p:nvSpPr>
          <p:cNvPr id="21" name="TextBox 20"/>
          <p:cNvSpPr txBox="1"/>
          <p:nvPr/>
        </p:nvSpPr>
        <p:spPr>
          <a:xfrm>
            <a:off x="6720840" y="3956304"/>
            <a:ext cx="274320" cy="274320"/>
          </a:xfrm>
          <a:prstGeom prst="rect">
            <a:avLst/>
          </a:prstGeom>
          <a:noFill/>
        </p:spPr>
        <p:txBody>
          <a:bodyPr wrap="square" lIns="0" rIns="0" tIns="0" bIns="0" anchor="t">
            <a:spAutoFit/>
          </a:bodyPr>
          <a:lstStyle/>
          <a:p>
            <a:pPr algn="l">
              <a:lnSpc>
                <a:spcPct val="112000"/>
              </a:lnSpc>
              <a:spcAft>
                <a:spcPts val="0"/>
              </a:spcAft>
            </a:pPr>
            <a:r>
              <a:rPr sz="1550" b="1" i="0">
                <a:solidFill>
                  <a:srgbClr val="A32B57"/>
                </a:solidFill>
                <a:latin typeface="Calibri"/>
              </a:rPr>
              <a:t>—</a:t>
            </a:r>
          </a:p>
        </p:txBody>
      </p:sp>
      <p:sp>
        <p:nvSpPr>
          <p:cNvPr id="22" name="TextBox 21"/>
          <p:cNvSpPr txBox="1"/>
          <p:nvPr/>
        </p:nvSpPr>
        <p:spPr>
          <a:xfrm>
            <a:off x="7031736" y="3956304"/>
            <a:ext cx="4261104" cy="365760"/>
          </a:xfrm>
          <a:prstGeom prst="rect">
            <a:avLst/>
          </a:prstGeom>
          <a:noFill/>
        </p:spPr>
        <p:txBody>
          <a:bodyPr wrap="square" lIns="0" rIns="0" tIns="0" bIns="0" anchor="t">
            <a:spAutoFit/>
          </a:bodyPr>
          <a:lstStyle/>
          <a:p>
            <a:pPr algn="l">
              <a:lnSpc>
                <a:spcPct val="114000"/>
              </a:lnSpc>
              <a:spcAft>
                <a:spcPts val="0"/>
              </a:spcAft>
            </a:pPr>
            <a:r>
              <a:rPr sz="1550" b="0" i="0">
                <a:solidFill>
                  <a:srgbClr val="545F69"/>
                </a:solidFill>
                <a:latin typeface="Calibri"/>
              </a:rPr>
              <a:t>Une citation, un texte de loi, une jurisprudence</a:t>
            </a:r>
          </a:p>
        </p:txBody>
      </p:sp>
      <p:sp>
        <p:nvSpPr>
          <p:cNvPr id="23" name="TextBox 22"/>
          <p:cNvSpPr txBox="1"/>
          <p:nvPr/>
        </p:nvSpPr>
        <p:spPr>
          <a:xfrm>
            <a:off x="6720840" y="4734560"/>
            <a:ext cx="274320" cy="274320"/>
          </a:xfrm>
          <a:prstGeom prst="rect">
            <a:avLst/>
          </a:prstGeom>
          <a:noFill/>
        </p:spPr>
        <p:txBody>
          <a:bodyPr wrap="square" lIns="0" rIns="0" tIns="0" bIns="0" anchor="t">
            <a:spAutoFit/>
          </a:bodyPr>
          <a:lstStyle/>
          <a:p>
            <a:pPr algn="l">
              <a:lnSpc>
                <a:spcPct val="112000"/>
              </a:lnSpc>
              <a:spcAft>
                <a:spcPts val="0"/>
              </a:spcAft>
            </a:pPr>
            <a:r>
              <a:rPr sz="1550" b="1" i="0">
                <a:solidFill>
                  <a:srgbClr val="A32B57"/>
                </a:solidFill>
                <a:latin typeface="Calibri"/>
              </a:rPr>
              <a:t>—</a:t>
            </a:r>
          </a:p>
        </p:txBody>
      </p:sp>
      <p:sp>
        <p:nvSpPr>
          <p:cNvPr id="24" name="TextBox 23"/>
          <p:cNvSpPr txBox="1"/>
          <p:nvPr/>
        </p:nvSpPr>
        <p:spPr>
          <a:xfrm>
            <a:off x="7031736" y="4734560"/>
            <a:ext cx="4261104" cy="365760"/>
          </a:xfrm>
          <a:prstGeom prst="rect">
            <a:avLst/>
          </a:prstGeom>
          <a:noFill/>
        </p:spPr>
        <p:txBody>
          <a:bodyPr wrap="square" lIns="0" rIns="0" tIns="0" bIns="0" anchor="t">
            <a:spAutoFit/>
          </a:bodyPr>
          <a:lstStyle/>
          <a:p>
            <a:pPr algn="l">
              <a:lnSpc>
                <a:spcPct val="114000"/>
              </a:lnSpc>
              <a:spcAft>
                <a:spcPts val="0"/>
              </a:spcAft>
            </a:pPr>
            <a:r>
              <a:rPr sz="1550" b="0" i="0">
                <a:solidFill>
                  <a:srgbClr val="545F69"/>
                </a:solidFill>
                <a:latin typeface="Calibri"/>
              </a:rPr>
              <a:t>Une décision : la signature reste humaine</a:t>
            </a:r>
          </a:p>
        </p:txBody>
      </p:sp>
      <p:sp>
        <p:nvSpPr>
          <p:cNvPr id="25" name="TextBox 24"/>
          <p:cNvSpPr txBox="1"/>
          <p:nvPr/>
        </p:nvSpPr>
        <p:spPr>
          <a:xfrm>
            <a:off x="6720840" y="5260848"/>
            <a:ext cx="274320" cy="274320"/>
          </a:xfrm>
          <a:prstGeom prst="rect">
            <a:avLst/>
          </a:prstGeom>
          <a:noFill/>
        </p:spPr>
        <p:txBody>
          <a:bodyPr wrap="square" lIns="0" rIns="0" tIns="0" bIns="0" anchor="t">
            <a:spAutoFit/>
          </a:bodyPr>
          <a:lstStyle/>
          <a:p>
            <a:pPr algn="l">
              <a:lnSpc>
                <a:spcPct val="112000"/>
              </a:lnSpc>
              <a:spcAft>
                <a:spcPts val="0"/>
              </a:spcAft>
            </a:pPr>
            <a:r>
              <a:rPr sz="1550" b="1" i="0">
                <a:solidFill>
                  <a:srgbClr val="A32B57"/>
                </a:solidFill>
                <a:latin typeface="Calibri"/>
              </a:rPr>
              <a:t>—</a:t>
            </a:r>
          </a:p>
        </p:txBody>
      </p:sp>
      <p:sp>
        <p:nvSpPr>
          <p:cNvPr id="26" name="TextBox 25"/>
          <p:cNvSpPr txBox="1"/>
          <p:nvPr/>
        </p:nvSpPr>
        <p:spPr>
          <a:xfrm>
            <a:off x="7031736" y="5260848"/>
            <a:ext cx="4261104" cy="365760"/>
          </a:xfrm>
          <a:prstGeom prst="rect">
            <a:avLst/>
          </a:prstGeom>
          <a:noFill/>
        </p:spPr>
        <p:txBody>
          <a:bodyPr wrap="square" lIns="0" rIns="0" tIns="0" bIns="0" anchor="t">
            <a:spAutoFit/>
          </a:bodyPr>
          <a:lstStyle/>
          <a:p>
            <a:pPr algn="l">
              <a:lnSpc>
                <a:spcPct val="114000"/>
              </a:lnSpc>
              <a:spcAft>
                <a:spcPts val="0"/>
              </a:spcAft>
            </a:pPr>
            <a:r>
              <a:rPr sz="1550" b="0" i="0">
                <a:solidFill>
                  <a:srgbClr val="545F69"/>
                </a:solidFill>
                <a:latin typeface="Calibri"/>
              </a:rPr>
              <a:t>Quoi que ce soit de confidentiel — on y revient ce soir</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4EF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0B6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60120" y="1463040"/>
            <a:ext cx="7315200" cy="274320"/>
          </a:xfrm>
          <a:prstGeom prst="rect">
            <a:avLst/>
          </a:prstGeom>
          <a:noFill/>
        </p:spPr>
        <p:txBody>
          <a:bodyPr wrap="square" lIns="0" rIns="0" tIns="0" bIns="0" anchor="t">
            <a:spAutoFit/>
          </a:bodyPr>
          <a:lstStyle/>
          <a:p>
            <a:pPr algn="l">
              <a:lnSpc>
                <a:spcPct val="112000"/>
              </a:lnSpc>
              <a:spcAft>
                <a:spcPts val="0"/>
              </a:spcAft>
            </a:pPr>
            <a:r>
              <a:rPr sz="1200" b="1" i="0" spc="180">
                <a:solidFill>
                  <a:srgbClr val="0B655E"/>
                </a:solidFill>
                <a:latin typeface="Consolas"/>
              </a:rPr>
              <a:t>JOUR 1 · SÉQUENCE 5</a:t>
            </a:r>
          </a:p>
        </p:txBody>
      </p:sp>
      <p:sp>
        <p:nvSpPr>
          <p:cNvPr id="5" name="TextBox 4"/>
          <p:cNvSpPr txBox="1"/>
          <p:nvPr/>
        </p:nvSpPr>
        <p:spPr>
          <a:xfrm>
            <a:off x="960120" y="1965960"/>
            <a:ext cx="9601200" cy="2011680"/>
          </a:xfrm>
          <a:prstGeom prst="rect">
            <a:avLst/>
          </a:prstGeom>
          <a:noFill/>
        </p:spPr>
        <p:txBody>
          <a:bodyPr wrap="square" lIns="0" rIns="0" tIns="0" bIns="0" anchor="t">
            <a:spAutoFit/>
          </a:bodyPr>
          <a:lstStyle/>
          <a:p>
            <a:pPr algn="l">
              <a:lnSpc>
                <a:spcPct val="95000"/>
              </a:lnSpc>
              <a:spcAft>
                <a:spcPts val="0"/>
              </a:spcAft>
            </a:pPr>
            <a:r>
              <a:rPr sz="5000" b="1" i="0">
                <a:solidFill>
                  <a:srgbClr val="12181D"/>
                </a:solidFill>
                <a:latin typeface="Trebuchet MS"/>
              </a:rPr>
              <a:t>L'art de parler aux machines</a:t>
            </a:r>
          </a:p>
        </p:txBody>
      </p:sp>
      <p:sp>
        <p:nvSpPr>
          <p:cNvPr id="6" name="Rectangle 5"/>
          <p:cNvSpPr/>
          <p:nvPr/>
        </p:nvSpPr>
        <p:spPr>
          <a:xfrm>
            <a:off x="960120" y="4114800"/>
            <a:ext cx="1463040" cy="41148"/>
          </a:xfrm>
          <a:prstGeom prst="rect">
            <a:avLst/>
          </a:prstGeom>
          <a:solidFill>
            <a:srgbClr val="0B6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60120" y="4480560"/>
            <a:ext cx="8595360" cy="1097280"/>
          </a:xfrm>
          <a:prstGeom prst="rect">
            <a:avLst/>
          </a:prstGeom>
          <a:noFill/>
        </p:spPr>
        <p:txBody>
          <a:bodyPr wrap="square" lIns="0" rIns="0" tIns="0" bIns="0" anchor="t">
            <a:spAutoFit/>
          </a:bodyPr>
          <a:lstStyle/>
          <a:p>
            <a:pPr algn="l">
              <a:lnSpc>
                <a:spcPct val="132000"/>
              </a:lnSpc>
              <a:spcAft>
                <a:spcPts val="0"/>
              </a:spcAft>
            </a:pPr>
            <a:r>
              <a:rPr sz="2000" b="0" i="0">
                <a:solidFill>
                  <a:srgbClr val="545F69"/>
                </a:solidFill>
                <a:latin typeface="Calibri"/>
              </a:rPr>
              <a:t>Le même modèle, la même question — et deux résultats sans rapport. Toute la différence est dans la demande.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77240" y="402336"/>
            <a:ext cx="10637215" cy="32004"/>
          </a:xfrm>
          <a:prstGeom prst="rect">
            <a:avLst/>
          </a:prstGeom>
          <a:solidFill>
            <a:srgbClr val="12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77240" y="502920"/>
            <a:ext cx="10637215" cy="274320"/>
          </a:xfrm>
          <a:prstGeom prst="rect">
            <a:avLst/>
          </a:prstGeom>
          <a:noFill/>
        </p:spPr>
        <p:txBody>
          <a:bodyPr wrap="square" lIns="0" rIns="0" tIns="0" bIns="0" anchor="t">
            <a:spAutoFit/>
          </a:bodyPr>
          <a:lstStyle/>
          <a:p>
            <a:pPr algn="l">
              <a:lnSpc>
                <a:spcPct val="112000"/>
              </a:lnSpc>
              <a:spcAft>
                <a:spcPts val="0"/>
              </a:spcAft>
            </a:pPr>
            <a:r>
              <a:rPr sz="1050" b="1" i="0" spc="150">
                <a:solidFill>
                  <a:srgbClr val="0B655E"/>
                </a:solidFill>
                <a:latin typeface="Consolas"/>
              </a:rPr>
              <a:t>SÉQUENCE 5</a:t>
            </a:r>
          </a:p>
        </p:txBody>
      </p:sp>
      <p:sp>
        <p:nvSpPr>
          <p:cNvPr id="4" name="TextBox 3"/>
          <p:cNvSpPr txBox="1"/>
          <p:nvPr/>
        </p:nvSpPr>
        <p:spPr>
          <a:xfrm>
            <a:off x="777240" y="868680"/>
            <a:ext cx="10637215" cy="1371600"/>
          </a:xfrm>
          <a:prstGeom prst="rect">
            <a:avLst/>
          </a:prstGeom>
          <a:noFill/>
        </p:spPr>
        <p:txBody>
          <a:bodyPr wrap="square" lIns="0" rIns="0" tIns="0" bIns="0" anchor="t">
            <a:spAutoFit/>
          </a:bodyPr>
          <a:lstStyle/>
          <a:p>
            <a:pPr algn="l">
              <a:lnSpc>
                <a:spcPct val="95000"/>
              </a:lnSpc>
              <a:spcAft>
                <a:spcPts val="0"/>
              </a:spcAft>
            </a:pPr>
            <a:r>
              <a:rPr sz="3800" b="1" i="0">
                <a:solidFill>
                  <a:srgbClr val="12181D"/>
                </a:solidFill>
                <a:latin typeface="Trebuchet MS"/>
              </a:rPr>
              <a:t>Le prompt paresseux, et ce qu'il produit</a:t>
            </a:r>
          </a:p>
        </p:txBody>
      </p:sp>
      <p:sp>
        <p:nvSpPr>
          <p:cNvPr id="5" name="Rectangle 4"/>
          <p:cNvSpPr/>
          <p:nvPr/>
        </p:nvSpPr>
        <p:spPr>
          <a:xfrm>
            <a:off x="777240" y="2286000"/>
            <a:ext cx="5120640" cy="1371600"/>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777240" y="2286000"/>
            <a:ext cx="41148" cy="1371600"/>
          </a:xfrm>
          <a:prstGeom prst="rect">
            <a:avLst/>
          </a:prstGeom>
          <a:solidFill>
            <a:srgbClr val="8A95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33271" y="2487168"/>
            <a:ext cx="4663440" cy="228600"/>
          </a:xfrm>
          <a:prstGeom prst="rect">
            <a:avLst/>
          </a:prstGeom>
          <a:noFill/>
        </p:spPr>
        <p:txBody>
          <a:bodyPr wrap="square" lIns="0" rIns="0" tIns="0" bIns="0" anchor="t">
            <a:spAutoFit/>
          </a:bodyPr>
          <a:lstStyle/>
          <a:p>
            <a:pPr algn="l">
              <a:lnSpc>
                <a:spcPct val="112000"/>
              </a:lnSpc>
              <a:spcAft>
                <a:spcPts val="0"/>
              </a:spcAft>
            </a:pPr>
            <a:r>
              <a:rPr sz="1000" b="1" i="0" spc="140">
                <a:solidFill>
                  <a:srgbClr val="8A959D"/>
                </a:solidFill>
                <a:latin typeface="Consolas"/>
              </a:rPr>
              <a:t>CE QU'ON TAPE D'HABITUDE</a:t>
            </a:r>
          </a:p>
        </p:txBody>
      </p:sp>
      <p:sp>
        <p:nvSpPr>
          <p:cNvPr id="8" name="TextBox 7"/>
          <p:cNvSpPr txBox="1"/>
          <p:nvPr/>
        </p:nvSpPr>
        <p:spPr>
          <a:xfrm>
            <a:off x="1033271" y="2816352"/>
            <a:ext cx="4663440" cy="640080"/>
          </a:xfrm>
          <a:prstGeom prst="rect">
            <a:avLst/>
          </a:prstGeom>
          <a:noFill/>
        </p:spPr>
        <p:txBody>
          <a:bodyPr wrap="square" lIns="0" rIns="0" tIns="0" bIns="0" anchor="t">
            <a:spAutoFit/>
          </a:bodyPr>
          <a:lstStyle/>
          <a:p>
            <a:pPr algn="l">
              <a:lnSpc>
                <a:spcPct val="120000"/>
              </a:lnSpc>
              <a:spcAft>
                <a:spcPts val="0"/>
              </a:spcAft>
            </a:pPr>
            <a:r>
              <a:rPr sz="1700" b="0" i="0">
                <a:solidFill>
                  <a:srgbClr val="545F69"/>
                </a:solidFill>
                <a:latin typeface="Calibri"/>
              </a:rPr>
              <a:t>« Écris-moi une offre d'emploi pour un comptable. »</a:t>
            </a:r>
          </a:p>
        </p:txBody>
      </p:sp>
      <p:sp>
        <p:nvSpPr>
          <p:cNvPr id="9" name="TextBox 8"/>
          <p:cNvSpPr txBox="1"/>
          <p:nvPr/>
        </p:nvSpPr>
        <p:spPr>
          <a:xfrm>
            <a:off x="777240" y="3886200"/>
            <a:ext cx="5120640" cy="1463040"/>
          </a:xfrm>
          <a:prstGeom prst="rect">
            <a:avLst/>
          </a:prstGeom>
          <a:noFill/>
        </p:spPr>
        <p:txBody>
          <a:bodyPr wrap="square" lIns="0" rIns="0" tIns="0" bIns="0" anchor="t">
            <a:spAutoFit/>
          </a:bodyPr>
          <a:lstStyle/>
          <a:p>
            <a:pPr algn="l">
              <a:lnSpc>
                <a:spcPct val="125000"/>
              </a:lnSpc>
              <a:spcAft>
                <a:spcPts val="0"/>
              </a:spcAft>
            </a:pPr>
            <a:r>
              <a:rPr sz="1600" b="0" i="0">
                <a:solidFill>
                  <a:srgbClr val="545F69"/>
                </a:solidFill>
                <a:latin typeface="Calibri"/>
              </a:rPr>
              <a:t>Résultat : générique, interchangeable, plein de « rejoignez une équipe dynamique ». Utilisable nulle part sans réécriture complète.</a:t>
            </a:r>
          </a:p>
        </p:txBody>
      </p:sp>
      <p:sp>
        <p:nvSpPr>
          <p:cNvPr id="10" name="Rectangle 9"/>
          <p:cNvSpPr/>
          <p:nvPr/>
        </p:nvSpPr>
        <p:spPr>
          <a:xfrm>
            <a:off x="6720840" y="2286000"/>
            <a:ext cx="4572000" cy="3108960"/>
          </a:xfrm>
          <a:prstGeom prst="rect">
            <a:avLst/>
          </a:prstGeom>
          <a:solidFill>
            <a:srgbClr val="E4EF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6720840" y="2286000"/>
            <a:ext cx="41148" cy="3108960"/>
          </a:xfrm>
          <a:prstGeom prst="rect">
            <a:avLst/>
          </a:prstGeom>
          <a:solidFill>
            <a:srgbClr val="0B6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976872" y="2487168"/>
            <a:ext cx="4114800" cy="228600"/>
          </a:xfrm>
          <a:prstGeom prst="rect">
            <a:avLst/>
          </a:prstGeom>
          <a:noFill/>
        </p:spPr>
        <p:txBody>
          <a:bodyPr wrap="square" lIns="0" rIns="0" tIns="0" bIns="0" anchor="t">
            <a:spAutoFit/>
          </a:bodyPr>
          <a:lstStyle/>
          <a:p>
            <a:pPr algn="l">
              <a:lnSpc>
                <a:spcPct val="112000"/>
              </a:lnSpc>
              <a:spcAft>
                <a:spcPts val="0"/>
              </a:spcAft>
            </a:pPr>
            <a:r>
              <a:rPr sz="1000" b="1" i="0" spc="140">
                <a:solidFill>
                  <a:srgbClr val="0B655E"/>
                </a:solidFill>
                <a:latin typeface="Consolas"/>
              </a:rPr>
              <a:t>CE QUI MANQUE À LA MACHINE</a:t>
            </a:r>
          </a:p>
        </p:txBody>
      </p:sp>
      <p:sp>
        <p:nvSpPr>
          <p:cNvPr id="13" name="TextBox 12"/>
          <p:cNvSpPr txBox="1"/>
          <p:nvPr/>
        </p:nvSpPr>
        <p:spPr>
          <a:xfrm>
            <a:off x="6976872" y="2816352"/>
            <a:ext cx="4114800" cy="2377439"/>
          </a:xfrm>
          <a:prstGeom prst="rect">
            <a:avLst/>
          </a:prstGeom>
          <a:noFill/>
        </p:spPr>
        <p:txBody>
          <a:bodyPr wrap="square" lIns="0" rIns="0" tIns="0" bIns="0" anchor="t">
            <a:spAutoFit/>
          </a:bodyPr>
          <a:lstStyle/>
          <a:p>
            <a:pPr algn="l">
              <a:lnSpc>
                <a:spcPct val="120000"/>
              </a:lnSpc>
              <a:spcAft>
                <a:spcPts val="0"/>
              </a:spcAft>
            </a:pPr>
            <a:r>
              <a:rPr sz="1600" b="0" i="0">
                <a:solidFill>
                  <a:srgbClr val="545F69"/>
                </a:solidFill>
                <a:latin typeface="Calibri"/>
              </a:rPr>
              <a:t>Qui je suis.</a:t>
            </a:r>
          </a:p>
          <a:p>
            <a:pPr algn="l">
              <a:lnSpc>
                <a:spcPct val="120000"/>
              </a:lnSpc>
              <a:spcAft>
                <a:spcPts val="0"/>
              </a:spcAft>
            </a:pPr>
            <a:r>
              <a:rPr sz="1600" b="0" i="0">
                <a:solidFill>
                  <a:srgbClr val="545F69"/>
                </a:solidFill>
                <a:latin typeface="Calibri"/>
              </a:rPr>
              <a:t>Ce que je veux exactement.</a:t>
            </a:r>
          </a:p>
          <a:p>
            <a:pPr algn="l">
              <a:lnSpc>
                <a:spcPct val="120000"/>
              </a:lnSpc>
              <a:spcAft>
                <a:spcPts val="0"/>
              </a:spcAft>
            </a:pPr>
            <a:r>
              <a:rPr sz="1600" b="0" i="0">
                <a:solidFill>
                  <a:srgbClr val="545F69"/>
                </a:solidFill>
                <a:latin typeface="Calibri"/>
              </a:rPr>
              <a:t>À qui ça s'adresse.</a:t>
            </a:r>
          </a:p>
          <a:p>
            <a:pPr algn="l">
              <a:lnSpc>
                <a:spcPct val="120000"/>
              </a:lnSpc>
              <a:spcAft>
                <a:spcPts val="0"/>
              </a:spcAft>
            </a:pPr>
            <a:r>
              <a:rPr sz="1600" b="0" i="0">
                <a:solidFill>
                  <a:srgbClr val="545F69"/>
                </a:solidFill>
                <a:latin typeface="Calibri"/>
              </a:rPr>
              <a:t>Sous quelle forme.</a:t>
            </a:r>
          </a:p>
          <a:p>
            <a:pPr algn="l">
              <a:lnSpc>
                <a:spcPct val="120000"/>
              </a:lnSpc>
              <a:spcAft>
                <a:spcPts val="0"/>
              </a:spcAft>
            </a:pPr>
            <a:r>
              <a:rPr sz="1600" b="0" i="0">
                <a:solidFill>
                  <a:srgbClr val="545F69"/>
                </a:solidFill>
                <a:latin typeface="Calibri"/>
              </a:rPr>
              <a:t>Ce qu'elle doit éviter.</a:t>
            </a:r>
          </a:p>
          <a:p>
            <a:pPr algn="l">
              <a:lnSpc>
                <a:spcPct val="120000"/>
              </a:lnSpc>
              <a:spcAft>
                <a:spcPts val="0"/>
              </a:spcAft>
            </a:pPr>
          </a:p>
          <a:p>
            <a:pPr algn="l">
              <a:lnSpc>
                <a:spcPct val="120000"/>
              </a:lnSpc>
              <a:spcAft>
                <a:spcPts val="0"/>
              </a:spcAft>
            </a:pPr>
            <a:r>
              <a:rPr sz="1600" b="0" i="0">
                <a:solidFill>
                  <a:srgbClr val="545F69"/>
                </a:solidFill>
                <a:latin typeface="Calibri"/>
              </a:rPr>
              <a:t>Six informations que vous avez en tête — et qu'elle n'a pas.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4-methode-copain.png"/>
          <p:cNvPicPr>
            <a:picLocks noChangeAspect="1"/>
          </p:cNvPicPr>
          <p:nvPr/>
        </p:nvPicPr>
        <p:blipFill>
          <a:blip r:embed="rId2"/>
          <a:stretch>
            <a:fillRect/>
          </a:stretch>
        </p:blipFill>
        <p:spPr>
          <a:xfrm>
            <a:off x="0" y="0"/>
            <a:ext cx="12191695" cy="6857828"/>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77240" y="402336"/>
            <a:ext cx="10637215" cy="32004"/>
          </a:xfrm>
          <a:prstGeom prst="rect">
            <a:avLst/>
          </a:prstGeom>
          <a:solidFill>
            <a:srgbClr val="12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77240" y="502920"/>
            <a:ext cx="10637215" cy="274320"/>
          </a:xfrm>
          <a:prstGeom prst="rect">
            <a:avLst/>
          </a:prstGeom>
          <a:noFill/>
        </p:spPr>
        <p:txBody>
          <a:bodyPr wrap="square" lIns="0" rIns="0" tIns="0" bIns="0" anchor="t">
            <a:spAutoFit/>
          </a:bodyPr>
          <a:lstStyle/>
          <a:p>
            <a:pPr algn="l">
              <a:lnSpc>
                <a:spcPct val="112000"/>
              </a:lnSpc>
              <a:spcAft>
                <a:spcPts val="0"/>
              </a:spcAft>
            </a:pPr>
            <a:r>
              <a:rPr sz="1050" b="1" i="0" spc="150">
                <a:solidFill>
                  <a:srgbClr val="0B655E"/>
                </a:solidFill>
                <a:latin typeface="Consolas"/>
              </a:rPr>
              <a:t>C.O.P.A.I.N.</a:t>
            </a:r>
          </a:p>
        </p:txBody>
      </p:sp>
      <p:sp>
        <p:nvSpPr>
          <p:cNvPr id="4" name="TextBox 3"/>
          <p:cNvSpPr txBox="1"/>
          <p:nvPr/>
        </p:nvSpPr>
        <p:spPr>
          <a:xfrm>
            <a:off x="777240" y="868680"/>
            <a:ext cx="10637215" cy="1371600"/>
          </a:xfrm>
          <a:prstGeom prst="rect">
            <a:avLst/>
          </a:prstGeom>
          <a:noFill/>
        </p:spPr>
        <p:txBody>
          <a:bodyPr wrap="square" lIns="0" rIns="0" tIns="0" bIns="0" anchor="t">
            <a:spAutoFit/>
          </a:bodyPr>
          <a:lstStyle/>
          <a:p>
            <a:pPr algn="l">
              <a:lnSpc>
                <a:spcPct val="95000"/>
              </a:lnSpc>
              <a:spcAft>
                <a:spcPts val="0"/>
              </a:spcAft>
            </a:pPr>
            <a:r>
              <a:rPr sz="3800" b="1" i="0">
                <a:solidFill>
                  <a:srgbClr val="12181D"/>
                </a:solidFill>
                <a:latin typeface="Trebuchet MS"/>
              </a:rPr>
              <a:t>Les trois premières lettres</a:t>
            </a:r>
          </a:p>
        </p:txBody>
      </p:sp>
      <p:sp>
        <p:nvSpPr>
          <p:cNvPr id="5" name="TextBox 4"/>
          <p:cNvSpPr txBox="1"/>
          <p:nvPr/>
        </p:nvSpPr>
        <p:spPr>
          <a:xfrm>
            <a:off x="777240" y="2331720"/>
            <a:ext cx="274320" cy="274320"/>
          </a:xfrm>
          <a:prstGeom prst="rect">
            <a:avLst/>
          </a:prstGeom>
          <a:noFill/>
        </p:spPr>
        <p:txBody>
          <a:bodyPr wrap="square" lIns="0" rIns="0" tIns="0" bIns="0" anchor="t">
            <a:spAutoFit/>
          </a:bodyPr>
          <a:lstStyle/>
          <a:p>
            <a:pPr algn="l">
              <a:lnSpc>
                <a:spcPct val="112000"/>
              </a:lnSpc>
              <a:spcAft>
                <a:spcPts val="0"/>
              </a:spcAft>
            </a:pPr>
            <a:r>
              <a:rPr sz="1650" b="1" i="0">
                <a:solidFill>
                  <a:srgbClr val="0B655E"/>
                </a:solidFill>
                <a:latin typeface="Calibri"/>
              </a:rPr>
              <a:t>—</a:t>
            </a:r>
          </a:p>
        </p:txBody>
      </p:sp>
      <p:sp>
        <p:nvSpPr>
          <p:cNvPr id="6" name="TextBox 5"/>
          <p:cNvSpPr txBox="1"/>
          <p:nvPr/>
        </p:nvSpPr>
        <p:spPr>
          <a:xfrm>
            <a:off x="1088136" y="2331720"/>
            <a:ext cx="8741664" cy="365760"/>
          </a:xfrm>
          <a:prstGeom prst="rect">
            <a:avLst/>
          </a:prstGeom>
          <a:noFill/>
        </p:spPr>
        <p:txBody>
          <a:bodyPr wrap="square" lIns="0" rIns="0" tIns="0" bIns="0" anchor="t">
            <a:spAutoFit/>
          </a:bodyPr>
          <a:lstStyle/>
          <a:p>
            <a:pPr algn="l">
              <a:lnSpc>
                <a:spcPct val="114000"/>
              </a:lnSpc>
              <a:spcAft>
                <a:spcPts val="0"/>
              </a:spcAft>
            </a:pPr>
            <a:r>
              <a:rPr sz="1650" b="1" i="0">
                <a:solidFill>
                  <a:srgbClr val="12181D"/>
                </a:solidFill>
                <a:latin typeface="Calibri"/>
              </a:rPr>
              <a:t>C — Contexte.</a:t>
            </a:r>
            <a:r>
              <a:rPr sz="1650" b="0" i="0">
                <a:solidFill>
                  <a:srgbClr val="545F69"/>
                </a:solidFill>
                <a:latin typeface="Calibri"/>
              </a:rPr>
              <a:t> Où sommes-nous ? Qui parle ? Dans quelle situation ? La machine ne sait rien de vous. Une ligne suffit : « Je suis responsable RH dans une PME industrielle de 60 personnes. »</a:t>
            </a:r>
          </a:p>
        </p:txBody>
      </p:sp>
      <p:sp>
        <p:nvSpPr>
          <p:cNvPr id="7" name="TextBox 6"/>
          <p:cNvSpPr txBox="1"/>
          <p:nvPr/>
        </p:nvSpPr>
        <p:spPr>
          <a:xfrm>
            <a:off x="777240" y="3410711"/>
            <a:ext cx="274320" cy="274320"/>
          </a:xfrm>
          <a:prstGeom prst="rect">
            <a:avLst/>
          </a:prstGeom>
          <a:noFill/>
        </p:spPr>
        <p:txBody>
          <a:bodyPr wrap="square" lIns="0" rIns="0" tIns="0" bIns="0" anchor="t">
            <a:spAutoFit/>
          </a:bodyPr>
          <a:lstStyle/>
          <a:p>
            <a:pPr algn="l">
              <a:lnSpc>
                <a:spcPct val="112000"/>
              </a:lnSpc>
              <a:spcAft>
                <a:spcPts val="0"/>
              </a:spcAft>
            </a:pPr>
            <a:r>
              <a:rPr sz="1650" b="1" i="0">
                <a:solidFill>
                  <a:srgbClr val="0B655E"/>
                </a:solidFill>
                <a:latin typeface="Calibri"/>
              </a:rPr>
              <a:t>—</a:t>
            </a:r>
          </a:p>
        </p:txBody>
      </p:sp>
      <p:sp>
        <p:nvSpPr>
          <p:cNvPr id="8" name="TextBox 7"/>
          <p:cNvSpPr txBox="1"/>
          <p:nvPr/>
        </p:nvSpPr>
        <p:spPr>
          <a:xfrm>
            <a:off x="1088136" y="3410711"/>
            <a:ext cx="8741664" cy="365760"/>
          </a:xfrm>
          <a:prstGeom prst="rect">
            <a:avLst/>
          </a:prstGeom>
          <a:noFill/>
        </p:spPr>
        <p:txBody>
          <a:bodyPr wrap="square" lIns="0" rIns="0" tIns="0" bIns="0" anchor="t">
            <a:spAutoFit/>
          </a:bodyPr>
          <a:lstStyle/>
          <a:p>
            <a:pPr algn="l">
              <a:lnSpc>
                <a:spcPct val="114000"/>
              </a:lnSpc>
              <a:spcAft>
                <a:spcPts val="0"/>
              </a:spcAft>
            </a:pPr>
            <a:r>
              <a:rPr sz="1650" b="1" i="0">
                <a:solidFill>
                  <a:srgbClr val="12181D"/>
                </a:solidFill>
                <a:latin typeface="Calibri"/>
              </a:rPr>
              <a:t>O — Objectif.</a:t>
            </a:r>
            <a:r>
              <a:rPr sz="1650" b="0" i="0">
                <a:solidFill>
                  <a:srgbClr val="545F69"/>
                </a:solidFill>
                <a:latin typeface="Calibri"/>
              </a:rPr>
              <a:t> Qu'est-ce que je veux obtenir, précisément ? Un verbe d'action, pas une intention vague. « Rédige », « compare », « classe », « corrige » — pas « aide-moi avec ».</a:t>
            </a:r>
          </a:p>
        </p:txBody>
      </p:sp>
      <p:sp>
        <p:nvSpPr>
          <p:cNvPr id="9" name="TextBox 8"/>
          <p:cNvSpPr txBox="1"/>
          <p:nvPr/>
        </p:nvSpPr>
        <p:spPr>
          <a:xfrm>
            <a:off x="777240" y="4221480"/>
            <a:ext cx="274320" cy="274320"/>
          </a:xfrm>
          <a:prstGeom prst="rect">
            <a:avLst/>
          </a:prstGeom>
          <a:noFill/>
        </p:spPr>
        <p:txBody>
          <a:bodyPr wrap="square" lIns="0" rIns="0" tIns="0" bIns="0" anchor="t">
            <a:spAutoFit/>
          </a:bodyPr>
          <a:lstStyle/>
          <a:p>
            <a:pPr algn="l">
              <a:lnSpc>
                <a:spcPct val="112000"/>
              </a:lnSpc>
              <a:spcAft>
                <a:spcPts val="0"/>
              </a:spcAft>
            </a:pPr>
            <a:r>
              <a:rPr sz="1650" b="1" i="0">
                <a:solidFill>
                  <a:srgbClr val="0B655E"/>
                </a:solidFill>
                <a:latin typeface="Calibri"/>
              </a:rPr>
              <a:t>—</a:t>
            </a:r>
          </a:p>
        </p:txBody>
      </p:sp>
      <p:sp>
        <p:nvSpPr>
          <p:cNvPr id="10" name="TextBox 9"/>
          <p:cNvSpPr txBox="1"/>
          <p:nvPr/>
        </p:nvSpPr>
        <p:spPr>
          <a:xfrm>
            <a:off x="1088136" y="4221480"/>
            <a:ext cx="8741664" cy="365760"/>
          </a:xfrm>
          <a:prstGeom prst="rect">
            <a:avLst/>
          </a:prstGeom>
          <a:noFill/>
        </p:spPr>
        <p:txBody>
          <a:bodyPr wrap="square" lIns="0" rIns="0" tIns="0" bIns="0" anchor="t">
            <a:spAutoFit/>
          </a:bodyPr>
          <a:lstStyle/>
          <a:p>
            <a:pPr algn="l">
              <a:lnSpc>
                <a:spcPct val="114000"/>
              </a:lnSpc>
              <a:spcAft>
                <a:spcPts val="0"/>
              </a:spcAft>
            </a:pPr>
            <a:r>
              <a:rPr sz="1650" b="1" i="0">
                <a:solidFill>
                  <a:srgbClr val="12181D"/>
                </a:solidFill>
                <a:latin typeface="Calibri"/>
              </a:rPr>
              <a:t>P — Persona.</a:t>
            </a:r>
            <a:r>
              <a:rPr sz="1650" b="0" i="0">
                <a:solidFill>
                  <a:srgbClr val="545F69"/>
                </a:solidFill>
                <a:latin typeface="Calibri"/>
              </a:rPr>
              <a:t> Qui doit-il être ? Assigner un rôle change le vocabulaire, le niveau de détail et les réflexes professionnels mobilisés. « Agis en recruteur du secteur industriel. »</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77240" y="402336"/>
            <a:ext cx="10637215" cy="32004"/>
          </a:xfrm>
          <a:prstGeom prst="rect">
            <a:avLst/>
          </a:prstGeom>
          <a:solidFill>
            <a:srgbClr val="12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77240" y="502920"/>
            <a:ext cx="10637215" cy="274320"/>
          </a:xfrm>
          <a:prstGeom prst="rect">
            <a:avLst/>
          </a:prstGeom>
          <a:noFill/>
        </p:spPr>
        <p:txBody>
          <a:bodyPr wrap="square" lIns="0" rIns="0" tIns="0" bIns="0" anchor="t">
            <a:spAutoFit/>
          </a:bodyPr>
          <a:lstStyle/>
          <a:p>
            <a:pPr algn="l">
              <a:lnSpc>
                <a:spcPct val="112000"/>
              </a:lnSpc>
              <a:spcAft>
                <a:spcPts val="0"/>
              </a:spcAft>
            </a:pPr>
            <a:r>
              <a:rPr sz="1050" b="1" i="0" spc="150">
                <a:solidFill>
                  <a:srgbClr val="0B655E"/>
                </a:solidFill>
                <a:latin typeface="Consolas"/>
              </a:rPr>
              <a:t>C.O.P.A.I.N.</a:t>
            </a:r>
          </a:p>
        </p:txBody>
      </p:sp>
      <p:sp>
        <p:nvSpPr>
          <p:cNvPr id="4" name="TextBox 3"/>
          <p:cNvSpPr txBox="1"/>
          <p:nvPr/>
        </p:nvSpPr>
        <p:spPr>
          <a:xfrm>
            <a:off x="777240" y="868680"/>
            <a:ext cx="10637215" cy="1371600"/>
          </a:xfrm>
          <a:prstGeom prst="rect">
            <a:avLst/>
          </a:prstGeom>
          <a:noFill/>
        </p:spPr>
        <p:txBody>
          <a:bodyPr wrap="square" lIns="0" rIns="0" tIns="0" bIns="0" anchor="t">
            <a:spAutoFit/>
          </a:bodyPr>
          <a:lstStyle/>
          <a:p>
            <a:pPr algn="l">
              <a:lnSpc>
                <a:spcPct val="95000"/>
              </a:lnSpc>
              <a:spcAft>
                <a:spcPts val="0"/>
              </a:spcAft>
            </a:pPr>
            <a:r>
              <a:rPr sz="3800" b="1" i="0">
                <a:solidFill>
                  <a:srgbClr val="12181D"/>
                </a:solidFill>
                <a:latin typeface="Trebuchet MS"/>
              </a:rPr>
              <a:t>Les trois dernières</a:t>
            </a:r>
          </a:p>
        </p:txBody>
      </p:sp>
      <p:sp>
        <p:nvSpPr>
          <p:cNvPr id="5" name="TextBox 4"/>
          <p:cNvSpPr txBox="1"/>
          <p:nvPr/>
        </p:nvSpPr>
        <p:spPr>
          <a:xfrm>
            <a:off x="777240" y="2331720"/>
            <a:ext cx="274320" cy="274320"/>
          </a:xfrm>
          <a:prstGeom prst="rect">
            <a:avLst/>
          </a:prstGeom>
          <a:noFill/>
        </p:spPr>
        <p:txBody>
          <a:bodyPr wrap="square" lIns="0" rIns="0" tIns="0" bIns="0" anchor="t">
            <a:spAutoFit/>
          </a:bodyPr>
          <a:lstStyle/>
          <a:p>
            <a:pPr algn="l">
              <a:lnSpc>
                <a:spcPct val="112000"/>
              </a:lnSpc>
              <a:spcAft>
                <a:spcPts val="0"/>
              </a:spcAft>
            </a:pPr>
            <a:r>
              <a:rPr sz="1650" b="1" i="0">
                <a:solidFill>
                  <a:srgbClr val="0B655E"/>
                </a:solidFill>
                <a:latin typeface="Calibri"/>
              </a:rPr>
              <a:t>—</a:t>
            </a:r>
          </a:p>
        </p:txBody>
      </p:sp>
      <p:sp>
        <p:nvSpPr>
          <p:cNvPr id="6" name="TextBox 5"/>
          <p:cNvSpPr txBox="1"/>
          <p:nvPr/>
        </p:nvSpPr>
        <p:spPr>
          <a:xfrm>
            <a:off x="1088136" y="2331720"/>
            <a:ext cx="8741664" cy="365760"/>
          </a:xfrm>
          <a:prstGeom prst="rect">
            <a:avLst/>
          </a:prstGeom>
          <a:noFill/>
        </p:spPr>
        <p:txBody>
          <a:bodyPr wrap="square" lIns="0" rIns="0" tIns="0" bIns="0" anchor="t">
            <a:spAutoFit/>
          </a:bodyPr>
          <a:lstStyle/>
          <a:p>
            <a:pPr algn="l">
              <a:lnSpc>
                <a:spcPct val="114000"/>
              </a:lnSpc>
              <a:spcAft>
                <a:spcPts val="0"/>
              </a:spcAft>
            </a:pPr>
            <a:r>
              <a:rPr sz="1650" b="1" i="0">
                <a:solidFill>
                  <a:srgbClr val="12181D"/>
                </a:solidFill>
                <a:latin typeface="Calibri"/>
              </a:rPr>
              <a:t>A — Audience.</a:t>
            </a:r>
            <a:r>
              <a:rPr sz="1650" b="0" i="0">
                <a:solidFill>
                  <a:srgbClr val="545F69"/>
                </a:solidFill>
                <a:latin typeface="Calibri"/>
              </a:rPr>
              <a:t> À qui la réponse s'adresse-t-elle ? Un texte pour des experts et un texte pour des débutants n'ont rien en commun. « Elle sera lue par des candidats juniors, bac+2. »</a:t>
            </a:r>
          </a:p>
        </p:txBody>
      </p:sp>
      <p:sp>
        <p:nvSpPr>
          <p:cNvPr id="7" name="TextBox 6"/>
          <p:cNvSpPr txBox="1"/>
          <p:nvPr/>
        </p:nvSpPr>
        <p:spPr>
          <a:xfrm>
            <a:off x="777240" y="3410711"/>
            <a:ext cx="274320" cy="274320"/>
          </a:xfrm>
          <a:prstGeom prst="rect">
            <a:avLst/>
          </a:prstGeom>
          <a:noFill/>
        </p:spPr>
        <p:txBody>
          <a:bodyPr wrap="square" lIns="0" rIns="0" tIns="0" bIns="0" anchor="t">
            <a:spAutoFit/>
          </a:bodyPr>
          <a:lstStyle/>
          <a:p>
            <a:pPr algn="l">
              <a:lnSpc>
                <a:spcPct val="112000"/>
              </a:lnSpc>
              <a:spcAft>
                <a:spcPts val="0"/>
              </a:spcAft>
            </a:pPr>
            <a:r>
              <a:rPr sz="1650" b="1" i="0">
                <a:solidFill>
                  <a:srgbClr val="0B655E"/>
                </a:solidFill>
                <a:latin typeface="Calibri"/>
              </a:rPr>
              <a:t>—</a:t>
            </a:r>
          </a:p>
        </p:txBody>
      </p:sp>
      <p:sp>
        <p:nvSpPr>
          <p:cNvPr id="8" name="TextBox 7"/>
          <p:cNvSpPr txBox="1"/>
          <p:nvPr/>
        </p:nvSpPr>
        <p:spPr>
          <a:xfrm>
            <a:off x="1088136" y="3410711"/>
            <a:ext cx="8741664" cy="365760"/>
          </a:xfrm>
          <a:prstGeom prst="rect">
            <a:avLst/>
          </a:prstGeom>
          <a:noFill/>
        </p:spPr>
        <p:txBody>
          <a:bodyPr wrap="square" lIns="0" rIns="0" tIns="0" bIns="0" anchor="t">
            <a:spAutoFit/>
          </a:bodyPr>
          <a:lstStyle/>
          <a:p>
            <a:pPr algn="l">
              <a:lnSpc>
                <a:spcPct val="114000"/>
              </a:lnSpc>
              <a:spcAft>
                <a:spcPts val="0"/>
              </a:spcAft>
            </a:pPr>
            <a:r>
              <a:rPr sz="1650" b="1" i="0">
                <a:solidFill>
                  <a:srgbClr val="12181D"/>
                </a:solidFill>
                <a:latin typeface="Calibri"/>
              </a:rPr>
              <a:t>I — Instructions.</a:t>
            </a:r>
            <a:r>
              <a:rPr sz="1650" b="0" i="0">
                <a:solidFill>
                  <a:srgbClr val="545F69"/>
                </a:solidFill>
                <a:latin typeface="Calibri"/>
              </a:rPr>
              <a:t> Sous quelle forme, exactement ? Longueur, structure, ton, format de sortie. C'est la lettre la plus rentable : « 400 mots, trois parties titrées, tutoiement. »</a:t>
            </a:r>
          </a:p>
        </p:txBody>
      </p:sp>
      <p:sp>
        <p:nvSpPr>
          <p:cNvPr id="9" name="TextBox 8"/>
          <p:cNvSpPr txBox="1"/>
          <p:nvPr/>
        </p:nvSpPr>
        <p:spPr>
          <a:xfrm>
            <a:off x="777240" y="4221480"/>
            <a:ext cx="274320" cy="274320"/>
          </a:xfrm>
          <a:prstGeom prst="rect">
            <a:avLst/>
          </a:prstGeom>
          <a:noFill/>
        </p:spPr>
        <p:txBody>
          <a:bodyPr wrap="square" lIns="0" rIns="0" tIns="0" bIns="0" anchor="t">
            <a:spAutoFit/>
          </a:bodyPr>
          <a:lstStyle/>
          <a:p>
            <a:pPr algn="l">
              <a:lnSpc>
                <a:spcPct val="112000"/>
              </a:lnSpc>
              <a:spcAft>
                <a:spcPts val="0"/>
              </a:spcAft>
            </a:pPr>
            <a:r>
              <a:rPr sz="1650" b="1" i="0">
                <a:solidFill>
                  <a:srgbClr val="0B655E"/>
                </a:solidFill>
                <a:latin typeface="Calibri"/>
              </a:rPr>
              <a:t>—</a:t>
            </a:r>
          </a:p>
        </p:txBody>
      </p:sp>
      <p:sp>
        <p:nvSpPr>
          <p:cNvPr id="10" name="TextBox 9"/>
          <p:cNvSpPr txBox="1"/>
          <p:nvPr/>
        </p:nvSpPr>
        <p:spPr>
          <a:xfrm>
            <a:off x="1088136" y="4221480"/>
            <a:ext cx="8741664" cy="365760"/>
          </a:xfrm>
          <a:prstGeom prst="rect">
            <a:avLst/>
          </a:prstGeom>
          <a:noFill/>
        </p:spPr>
        <p:txBody>
          <a:bodyPr wrap="square" lIns="0" rIns="0" tIns="0" bIns="0" anchor="t">
            <a:spAutoFit/>
          </a:bodyPr>
          <a:lstStyle/>
          <a:p>
            <a:pPr algn="l">
              <a:lnSpc>
                <a:spcPct val="114000"/>
              </a:lnSpc>
              <a:spcAft>
                <a:spcPts val="0"/>
              </a:spcAft>
            </a:pPr>
            <a:r>
              <a:rPr sz="1650" b="1" i="0">
                <a:solidFill>
                  <a:srgbClr val="12181D"/>
                </a:solidFill>
                <a:latin typeface="Calibri"/>
              </a:rPr>
              <a:t>N — Négations.</a:t>
            </a:r>
            <a:r>
              <a:rPr sz="1650" b="0" i="0">
                <a:solidFill>
                  <a:srgbClr val="545F69"/>
                </a:solidFill>
                <a:latin typeface="Calibri"/>
              </a:rPr>
              <a:t> Qu'est-ce qu'il ne doit surtout pas faire ? Les interdits sont souvent plus efficaces que les consignes. « Pas de jargon RH, et pas de “équipe dynamique”. »</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77240" y="402336"/>
            <a:ext cx="10637215" cy="32004"/>
          </a:xfrm>
          <a:prstGeom prst="rect">
            <a:avLst/>
          </a:prstGeom>
          <a:solidFill>
            <a:srgbClr val="12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77240" y="502920"/>
            <a:ext cx="10637215" cy="274320"/>
          </a:xfrm>
          <a:prstGeom prst="rect">
            <a:avLst/>
          </a:prstGeom>
          <a:noFill/>
        </p:spPr>
        <p:txBody>
          <a:bodyPr wrap="square" lIns="0" rIns="0" tIns="0" bIns="0" anchor="t">
            <a:spAutoFit/>
          </a:bodyPr>
          <a:lstStyle/>
          <a:p>
            <a:pPr algn="l">
              <a:lnSpc>
                <a:spcPct val="112000"/>
              </a:lnSpc>
              <a:spcAft>
                <a:spcPts val="0"/>
              </a:spcAft>
            </a:pPr>
            <a:r>
              <a:rPr sz="1050" b="1" i="0" spc="150">
                <a:solidFill>
                  <a:srgbClr val="0B655E"/>
                </a:solidFill>
                <a:latin typeface="Consolas"/>
              </a:rPr>
              <a:t>SÉQUENCE 5</a:t>
            </a:r>
          </a:p>
        </p:txBody>
      </p:sp>
      <p:sp>
        <p:nvSpPr>
          <p:cNvPr id="4" name="TextBox 3"/>
          <p:cNvSpPr txBox="1"/>
          <p:nvPr/>
        </p:nvSpPr>
        <p:spPr>
          <a:xfrm>
            <a:off x="777240" y="868680"/>
            <a:ext cx="10637215" cy="1371600"/>
          </a:xfrm>
          <a:prstGeom prst="rect">
            <a:avLst/>
          </a:prstGeom>
          <a:noFill/>
        </p:spPr>
        <p:txBody>
          <a:bodyPr wrap="square" lIns="0" rIns="0" tIns="0" bIns="0" anchor="t">
            <a:spAutoFit/>
          </a:bodyPr>
          <a:lstStyle/>
          <a:p>
            <a:pPr algn="l">
              <a:lnSpc>
                <a:spcPct val="95000"/>
              </a:lnSpc>
              <a:spcAft>
                <a:spcPts val="0"/>
              </a:spcAft>
            </a:pPr>
            <a:r>
              <a:rPr sz="3800" b="1" i="0">
                <a:solidFill>
                  <a:srgbClr val="12181D"/>
                </a:solidFill>
                <a:latin typeface="Trebuchet MS"/>
              </a:rPr>
              <a:t>Cinq techniques qui changent tout</a:t>
            </a:r>
          </a:p>
        </p:txBody>
      </p:sp>
      <p:sp>
        <p:nvSpPr>
          <p:cNvPr id="5" name="TextBox 4"/>
          <p:cNvSpPr txBox="1"/>
          <p:nvPr/>
        </p:nvSpPr>
        <p:spPr>
          <a:xfrm>
            <a:off x="777240" y="2331720"/>
            <a:ext cx="274320" cy="274320"/>
          </a:xfrm>
          <a:prstGeom prst="rect">
            <a:avLst/>
          </a:prstGeom>
          <a:noFill/>
        </p:spPr>
        <p:txBody>
          <a:bodyPr wrap="square" lIns="0" rIns="0" tIns="0" bIns="0" anchor="t">
            <a:spAutoFit/>
          </a:bodyPr>
          <a:lstStyle/>
          <a:p>
            <a:pPr algn="l">
              <a:lnSpc>
                <a:spcPct val="112000"/>
              </a:lnSpc>
              <a:spcAft>
                <a:spcPts val="0"/>
              </a:spcAft>
            </a:pPr>
            <a:r>
              <a:rPr sz="1550" b="1" i="0">
                <a:solidFill>
                  <a:srgbClr val="0B655E"/>
                </a:solidFill>
                <a:latin typeface="Calibri"/>
              </a:rPr>
              <a:t>—</a:t>
            </a:r>
          </a:p>
        </p:txBody>
      </p:sp>
      <p:sp>
        <p:nvSpPr>
          <p:cNvPr id="6" name="TextBox 5"/>
          <p:cNvSpPr txBox="1"/>
          <p:nvPr/>
        </p:nvSpPr>
        <p:spPr>
          <a:xfrm>
            <a:off x="1088136" y="2331720"/>
            <a:ext cx="8741664" cy="365760"/>
          </a:xfrm>
          <a:prstGeom prst="rect">
            <a:avLst/>
          </a:prstGeom>
          <a:noFill/>
        </p:spPr>
        <p:txBody>
          <a:bodyPr wrap="square" lIns="0" rIns="0" tIns="0" bIns="0" anchor="t">
            <a:spAutoFit/>
          </a:bodyPr>
          <a:lstStyle/>
          <a:p>
            <a:pPr algn="l">
              <a:lnSpc>
                <a:spcPct val="114000"/>
              </a:lnSpc>
              <a:spcAft>
                <a:spcPts val="0"/>
              </a:spcAft>
            </a:pPr>
            <a:r>
              <a:rPr sz="1550" b="1" i="0">
                <a:solidFill>
                  <a:srgbClr val="12181D"/>
                </a:solidFill>
                <a:latin typeface="Calibri"/>
              </a:rPr>
              <a:t>Donnez des exemples.</a:t>
            </a:r>
            <a:r>
              <a:rPr sz="1550" b="0" i="0">
                <a:solidFill>
                  <a:srgbClr val="545F69"/>
                </a:solidFill>
                <a:latin typeface="Calibri"/>
              </a:rPr>
              <a:t> Deux ou trois échantillons de ce que vous voulez valent dix lignes de description. C'est la technique la plus efficace, et la moins utilisée.</a:t>
            </a:r>
          </a:p>
        </p:txBody>
      </p:sp>
      <p:sp>
        <p:nvSpPr>
          <p:cNvPr id="7" name="TextBox 6"/>
          <p:cNvSpPr txBox="1"/>
          <p:nvPr/>
        </p:nvSpPr>
        <p:spPr>
          <a:xfrm>
            <a:off x="777240" y="3109975"/>
            <a:ext cx="274320" cy="274320"/>
          </a:xfrm>
          <a:prstGeom prst="rect">
            <a:avLst/>
          </a:prstGeom>
          <a:noFill/>
        </p:spPr>
        <p:txBody>
          <a:bodyPr wrap="square" lIns="0" rIns="0" tIns="0" bIns="0" anchor="t">
            <a:spAutoFit/>
          </a:bodyPr>
          <a:lstStyle/>
          <a:p>
            <a:pPr algn="l">
              <a:lnSpc>
                <a:spcPct val="112000"/>
              </a:lnSpc>
              <a:spcAft>
                <a:spcPts val="0"/>
              </a:spcAft>
            </a:pPr>
            <a:r>
              <a:rPr sz="1550" b="1" i="0">
                <a:solidFill>
                  <a:srgbClr val="0B655E"/>
                </a:solidFill>
                <a:latin typeface="Calibri"/>
              </a:rPr>
              <a:t>—</a:t>
            </a:r>
          </a:p>
        </p:txBody>
      </p:sp>
      <p:sp>
        <p:nvSpPr>
          <p:cNvPr id="8" name="TextBox 7"/>
          <p:cNvSpPr txBox="1"/>
          <p:nvPr/>
        </p:nvSpPr>
        <p:spPr>
          <a:xfrm>
            <a:off x="1088136" y="3109975"/>
            <a:ext cx="8741664" cy="365760"/>
          </a:xfrm>
          <a:prstGeom prst="rect">
            <a:avLst/>
          </a:prstGeom>
          <a:noFill/>
        </p:spPr>
        <p:txBody>
          <a:bodyPr wrap="square" lIns="0" rIns="0" tIns="0" bIns="0" anchor="t">
            <a:spAutoFit/>
          </a:bodyPr>
          <a:lstStyle/>
          <a:p>
            <a:pPr algn="l">
              <a:lnSpc>
                <a:spcPct val="114000"/>
              </a:lnSpc>
              <a:spcAft>
                <a:spcPts val="0"/>
              </a:spcAft>
            </a:pPr>
            <a:r>
              <a:rPr sz="1550" b="1" i="0">
                <a:solidFill>
                  <a:srgbClr val="12181D"/>
                </a:solidFill>
                <a:latin typeface="Calibri"/>
              </a:rPr>
              <a:t>Imposez le format de sortie.</a:t>
            </a:r>
            <a:r>
              <a:rPr sz="1550" b="0" i="0">
                <a:solidFill>
                  <a:srgbClr val="545F69"/>
                </a:solidFill>
                <a:latin typeface="Calibri"/>
              </a:rPr>
              <a:t> « Réponds sous forme de tableau à trois colonnes » évite un aller-retour sur deux.</a:t>
            </a:r>
          </a:p>
        </p:txBody>
      </p:sp>
      <p:sp>
        <p:nvSpPr>
          <p:cNvPr id="9" name="TextBox 8"/>
          <p:cNvSpPr txBox="1"/>
          <p:nvPr/>
        </p:nvSpPr>
        <p:spPr>
          <a:xfrm>
            <a:off x="777240" y="3888231"/>
            <a:ext cx="274320" cy="274320"/>
          </a:xfrm>
          <a:prstGeom prst="rect">
            <a:avLst/>
          </a:prstGeom>
          <a:noFill/>
        </p:spPr>
        <p:txBody>
          <a:bodyPr wrap="square" lIns="0" rIns="0" tIns="0" bIns="0" anchor="t">
            <a:spAutoFit/>
          </a:bodyPr>
          <a:lstStyle/>
          <a:p>
            <a:pPr algn="l">
              <a:lnSpc>
                <a:spcPct val="112000"/>
              </a:lnSpc>
              <a:spcAft>
                <a:spcPts val="0"/>
              </a:spcAft>
            </a:pPr>
            <a:r>
              <a:rPr sz="1550" b="1" i="0">
                <a:solidFill>
                  <a:srgbClr val="0B655E"/>
                </a:solidFill>
                <a:latin typeface="Calibri"/>
              </a:rPr>
              <a:t>—</a:t>
            </a:r>
          </a:p>
        </p:txBody>
      </p:sp>
      <p:sp>
        <p:nvSpPr>
          <p:cNvPr id="10" name="TextBox 9"/>
          <p:cNvSpPr txBox="1"/>
          <p:nvPr/>
        </p:nvSpPr>
        <p:spPr>
          <a:xfrm>
            <a:off x="1088136" y="3888231"/>
            <a:ext cx="8741664" cy="365760"/>
          </a:xfrm>
          <a:prstGeom prst="rect">
            <a:avLst/>
          </a:prstGeom>
          <a:noFill/>
        </p:spPr>
        <p:txBody>
          <a:bodyPr wrap="square" lIns="0" rIns="0" tIns="0" bIns="0" anchor="t">
            <a:spAutoFit/>
          </a:bodyPr>
          <a:lstStyle/>
          <a:p>
            <a:pPr algn="l">
              <a:lnSpc>
                <a:spcPct val="114000"/>
              </a:lnSpc>
              <a:spcAft>
                <a:spcPts val="0"/>
              </a:spcAft>
            </a:pPr>
            <a:r>
              <a:rPr sz="1550" b="1" i="0">
                <a:solidFill>
                  <a:srgbClr val="12181D"/>
                </a:solidFill>
                <a:latin typeface="Calibri"/>
              </a:rPr>
              <a:t>Demandez le raisonnement.</a:t>
            </a:r>
            <a:r>
              <a:rPr sz="1550" b="0" i="0">
                <a:solidFill>
                  <a:srgbClr val="545F69"/>
                </a:solidFill>
                <a:latin typeface="Calibri"/>
              </a:rPr>
              <a:t> « Procède étape par étape et montre-moi ton raisonnement » améliore nettement les tâches d'analyse et de calcul.</a:t>
            </a:r>
          </a:p>
        </p:txBody>
      </p:sp>
      <p:sp>
        <p:nvSpPr>
          <p:cNvPr id="11" name="TextBox 10"/>
          <p:cNvSpPr txBox="1"/>
          <p:nvPr/>
        </p:nvSpPr>
        <p:spPr>
          <a:xfrm>
            <a:off x="777240" y="4666487"/>
            <a:ext cx="274320" cy="274320"/>
          </a:xfrm>
          <a:prstGeom prst="rect">
            <a:avLst/>
          </a:prstGeom>
          <a:noFill/>
        </p:spPr>
        <p:txBody>
          <a:bodyPr wrap="square" lIns="0" rIns="0" tIns="0" bIns="0" anchor="t">
            <a:spAutoFit/>
          </a:bodyPr>
          <a:lstStyle/>
          <a:p>
            <a:pPr algn="l">
              <a:lnSpc>
                <a:spcPct val="112000"/>
              </a:lnSpc>
              <a:spcAft>
                <a:spcPts val="0"/>
              </a:spcAft>
            </a:pPr>
            <a:r>
              <a:rPr sz="1550" b="1" i="0">
                <a:solidFill>
                  <a:srgbClr val="0B655E"/>
                </a:solidFill>
                <a:latin typeface="Calibri"/>
              </a:rPr>
              <a:t>—</a:t>
            </a:r>
          </a:p>
        </p:txBody>
      </p:sp>
      <p:sp>
        <p:nvSpPr>
          <p:cNvPr id="12" name="TextBox 11"/>
          <p:cNvSpPr txBox="1"/>
          <p:nvPr/>
        </p:nvSpPr>
        <p:spPr>
          <a:xfrm>
            <a:off x="1088136" y="4666487"/>
            <a:ext cx="8741664" cy="365760"/>
          </a:xfrm>
          <a:prstGeom prst="rect">
            <a:avLst/>
          </a:prstGeom>
          <a:noFill/>
        </p:spPr>
        <p:txBody>
          <a:bodyPr wrap="square" lIns="0" rIns="0" tIns="0" bIns="0" anchor="t">
            <a:spAutoFit/>
          </a:bodyPr>
          <a:lstStyle/>
          <a:p>
            <a:pPr algn="l">
              <a:lnSpc>
                <a:spcPct val="114000"/>
              </a:lnSpc>
              <a:spcAft>
                <a:spcPts val="0"/>
              </a:spcAft>
            </a:pPr>
            <a:r>
              <a:rPr sz="1550" b="1" i="0">
                <a:solidFill>
                  <a:srgbClr val="12181D"/>
                </a:solidFill>
                <a:latin typeface="Calibri"/>
              </a:rPr>
              <a:t>Découpez.</a:t>
            </a:r>
            <a:r>
              <a:rPr sz="1550" b="0" i="0">
                <a:solidFill>
                  <a:srgbClr val="545F69"/>
                </a:solidFill>
                <a:latin typeface="Calibri"/>
              </a:rPr>
              <a:t> Une grande demande donne un résultat moyen. Trois demandes enchaînées donnent trois bons résultats.</a:t>
            </a:r>
          </a:p>
        </p:txBody>
      </p:sp>
      <p:sp>
        <p:nvSpPr>
          <p:cNvPr id="13" name="TextBox 12"/>
          <p:cNvSpPr txBox="1"/>
          <p:nvPr/>
        </p:nvSpPr>
        <p:spPr>
          <a:xfrm>
            <a:off x="777240" y="5444743"/>
            <a:ext cx="274320" cy="274320"/>
          </a:xfrm>
          <a:prstGeom prst="rect">
            <a:avLst/>
          </a:prstGeom>
          <a:noFill/>
        </p:spPr>
        <p:txBody>
          <a:bodyPr wrap="square" lIns="0" rIns="0" tIns="0" bIns="0" anchor="t">
            <a:spAutoFit/>
          </a:bodyPr>
          <a:lstStyle/>
          <a:p>
            <a:pPr algn="l">
              <a:lnSpc>
                <a:spcPct val="112000"/>
              </a:lnSpc>
              <a:spcAft>
                <a:spcPts val="0"/>
              </a:spcAft>
            </a:pPr>
            <a:r>
              <a:rPr sz="1550" b="1" i="0">
                <a:solidFill>
                  <a:srgbClr val="0B655E"/>
                </a:solidFill>
                <a:latin typeface="Calibri"/>
              </a:rPr>
              <a:t>—</a:t>
            </a:r>
          </a:p>
        </p:txBody>
      </p:sp>
      <p:sp>
        <p:nvSpPr>
          <p:cNvPr id="14" name="TextBox 13"/>
          <p:cNvSpPr txBox="1"/>
          <p:nvPr/>
        </p:nvSpPr>
        <p:spPr>
          <a:xfrm>
            <a:off x="1088136" y="5444743"/>
            <a:ext cx="8741664" cy="365760"/>
          </a:xfrm>
          <a:prstGeom prst="rect">
            <a:avLst/>
          </a:prstGeom>
          <a:noFill/>
        </p:spPr>
        <p:txBody>
          <a:bodyPr wrap="square" lIns="0" rIns="0" tIns="0" bIns="0" anchor="t">
            <a:spAutoFit/>
          </a:bodyPr>
          <a:lstStyle/>
          <a:p>
            <a:pPr algn="l">
              <a:lnSpc>
                <a:spcPct val="114000"/>
              </a:lnSpc>
              <a:spcAft>
                <a:spcPts val="0"/>
              </a:spcAft>
            </a:pPr>
            <a:r>
              <a:rPr sz="1550" b="1" i="0">
                <a:solidFill>
                  <a:srgbClr val="12181D"/>
                </a:solidFill>
                <a:latin typeface="Calibri"/>
              </a:rPr>
              <a:t>Itérez.</a:t>
            </a:r>
            <a:r>
              <a:rPr sz="1550" b="0" i="0">
                <a:solidFill>
                  <a:srgbClr val="545F69"/>
                </a:solidFill>
                <a:latin typeface="Calibri"/>
              </a:rPr>
              <a:t> Le premier jet est une proposition, pas une livraison. Dites ce qui ne va pas et redemandez — c'est le N de « négocier ».</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777240" y="1828800"/>
            <a:ext cx="1280160" cy="45720"/>
          </a:xfrm>
          <a:prstGeom prst="rect">
            <a:avLst/>
          </a:prstGeom>
          <a:solidFill>
            <a:srgbClr val="0B6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2286000"/>
            <a:ext cx="10241280" cy="2194560"/>
          </a:xfrm>
          <a:prstGeom prst="rect">
            <a:avLst/>
          </a:prstGeom>
          <a:noFill/>
        </p:spPr>
        <p:txBody>
          <a:bodyPr wrap="square" lIns="0" rIns="0" tIns="0" bIns="0" anchor="t">
            <a:spAutoFit/>
          </a:bodyPr>
          <a:lstStyle/>
          <a:p>
            <a:pPr algn="l">
              <a:lnSpc>
                <a:spcPct val="100000"/>
              </a:lnSpc>
              <a:spcAft>
                <a:spcPts val="0"/>
              </a:spcAft>
            </a:pPr>
            <a:r>
              <a:rPr sz="4400" b="1" i="0">
                <a:solidFill>
                  <a:srgbClr val="12181D"/>
                </a:solidFill>
                <a:latin typeface="Trebuchet MS"/>
              </a:rPr>
              <a:t>« Pose-moi les questions</a:t>
            </a:r>
          </a:p>
          <a:p>
            <a:pPr algn="l">
              <a:lnSpc>
                <a:spcPct val="100000"/>
              </a:lnSpc>
              <a:spcAft>
                <a:spcPts val="0"/>
              </a:spcAft>
            </a:pPr>
            <a:r>
              <a:rPr sz="4400" b="1" i="0">
                <a:solidFill>
                  <a:srgbClr val="12181D"/>
                </a:solidFill>
                <a:latin typeface="Trebuchet MS"/>
              </a:rPr>
              <a:t>dont tu as besoin</a:t>
            </a:r>
          </a:p>
          <a:p>
            <a:pPr algn="l">
              <a:lnSpc>
                <a:spcPct val="100000"/>
              </a:lnSpc>
              <a:spcAft>
                <a:spcPts val="0"/>
              </a:spcAft>
            </a:pPr>
            <a:r>
              <a:rPr sz="4400" b="1" i="0">
                <a:solidFill>
                  <a:srgbClr val="12181D"/>
                </a:solidFill>
                <a:latin typeface="Trebuchet MS"/>
              </a:rPr>
              <a:t>avant de commencer. »</a:t>
            </a:r>
          </a:p>
        </p:txBody>
      </p:sp>
      <p:sp>
        <p:nvSpPr>
          <p:cNvPr id="5" name="TextBox 4"/>
          <p:cNvSpPr txBox="1"/>
          <p:nvPr/>
        </p:nvSpPr>
        <p:spPr>
          <a:xfrm>
            <a:off x="777240" y="4709160"/>
            <a:ext cx="9144000" cy="914400"/>
          </a:xfrm>
          <a:prstGeom prst="rect">
            <a:avLst/>
          </a:prstGeom>
          <a:noFill/>
        </p:spPr>
        <p:txBody>
          <a:bodyPr wrap="square" lIns="0" rIns="0" tIns="0" bIns="0" anchor="t">
            <a:spAutoFit/>
          </a:bodyPr>
          <a:lstStyle/>
          <a:p>
            <a:pPr algn="l">
              <a:lnSpc>
                <a:spcPct val="130000"/>
              </a:lnSpc>
              <a:spcAft>
                <a:spcPts val="0"/>
              </a:spcAft>
            </a:pPr>
            <a:r>
              <a:rPr sz="1900" b="0" i="0">
                <a:solidFill>
                  <a:srgbClr val="545F69"/>
                </a:solidFill>
                <a:latin typeface="Calibri"/>
              </a:rPr>
              <a:t>Une seule phrase, ajoutée à la fin de n'importe quelle demande. Elle transforme un monologue en entretien, et améliore le résultat plus sûrement que n'importe quelle astuce.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01168" cy="6858000"/>
          </a:xfrm>
          <a:prstGeom prst="rect">
            <a:avLst/>
          </a:prstGeom>
          <a:solidFill>
            <a:srgbClr val="0B6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548640"/>
            <a:ext cx="2651760" cy="384048"/>
          </a:xfrm>
          <a:prstGeom prst="rect">
            <a:avLst/>
          </a:prstGeom>
          <a:solidFill>
            <a:srgbClr val="0B6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41832" y="621792"/>
            <a:ext cx="2377440" cy="274320"/>
          </a:xfrm>
          <a:prstGeom prst="rect">
            <a:avLst/>
          </a:prstGeom>
          <a:noFill/>
        </p:spPr>
        <p:txBody>
          <a:bodyPr wrap="square" lIns="0" rIns="0" tIns="0" bIns="0" anchor="t">
            <a:spAutoFit/>
          </a:bodyPr>
          <a:lstStyle/>
          <a:p>
            <a:pPr algn="l">
              <a:lnSpc>
                <a:spcPct val="112000"/>
              </a:lnSpc>
              <a:spcAft>
                <a:spcPts val="0"/>
              </a:spcAft>
            </a:pPr>
            <a:r>
              <a:rPr sz="1150" b="1" i="0" spc="150">
                <a:solidFill>
                  <a:srgbClr val="FFFFFF"/>
                </a:solidFill>
                <a:latin typeface="Consolas"/>
              </a:rPr>
              <a:t>ATELIER 4 · 35 MIN</a:t>
            </a:r>
          </a:p>
        </p:txBody>
      </p:sp>
      <p:sp>
        <p:nvSpPr>
          <p:cNvPr id="6" name="TextBox 5"/>
          <p:cNvSpPr txBox="1"/>
          <p:nvPr/>
        </p:nvSpPr>
        <p:spPr>
          <a:xfrm>
            <a:off x="777240" y="1143000"/>
            <a:ext cx="10637215" cy="1371600"/>
          </a:xfrm>
          <a:prstGeom prst="rect">
            <a:avLst/>
          </a:prstGeom>
          <a:noFill/>
        </p:spPr>
        <p:txBody>
          <a:bodyPr wrap="square" lIns="0" rIns="0" tIns="0" bIns="0" anchor="t">
            <a:spAutoFit/>
          </a:bodyPr>
          <a:lstStyle/>
          <a:p>
            <a:pPr algn="l">
              <a:lnSpc>
                <a:spcPct val="95000"/>
              </a:lnSpc>
              <a:spcAft>
                <a:spcPts val="0"/>
              </a:spcAft>
            </a:pPr>
            <a:r>
              <a:rPr sz="3600" b="1" i="0">
                <a:solidFill>
                  <a:srgbClr val="12181D"/>
                </a:solidFill>
                <a:latin typeface="Trebuchet MS"/>
              </a:rPr>
              <a:t>Avant / après : mesurez l'écart vous-même</a:t>
            </a:r>
          </a:p>
        </p:txBody>
      </p:sp>
      <p:sp>
        <p:nvSpPr>
          <p:cNvPr id="7" name="TextBox 6"/>
          <p:cNvSpPr txBox="1"/>
          <p:nvPr/>
        </p:nvSpPr>
        <p:spPr>
          <a:xfrm>
            <a:off x="777240" y="2606040"/>
            <a:ext cx="2743200" cy="274320"/>
          </a:xfrm>
          <a:prstGeom prst="rect">
            <a:avLst/>
          </a:prstGeom>
          <a:noFill/>
        </p:spPr>
        <p:txBody>
          <a:bodyPr wrap="square" lIns="0" rIns="0" tIns="0" bIns="0" anchor="t">
            <a:spAutoFit/>
          </a:bodyPr>
          <a:lstStyle/>
          <a:p>
            <a:pPr algn="l">
              <a:lnSpc>
                <a:spcPct val="112000"/>
              </a:lnSpc>
              <a:spcAft>
                <a:spcPts val="0"/>
              </a:spcAft>
            </a:pPr>
            <a:r>
              <a:rPr sz="1000" b="1" i="0" spc="140">
                <a:solidFill>
                  <a:srgbClr val="0B655E"/>
                </a:solidFill>
                <a:latin typeface="Consolas"/>
              </a:rPr>
              <a:t>CONSIGNE</a:t>
            </a:r>
          </a:p>
        </p:txBody>
      </p:sp>
      <p:sp>
        <p:nvSpPr>
          <p:cNvPr id="8" name="TextBox 7"/>
          <p:cNvSpPr txBox="1"/>
          <p:nvPr/>
        </p:nvSpPr>
        <p:spPr>
          <a:xfrm>
            <a:off x="777240" y="2944368"/>
            <a:ext cx="274320" cy="274320"/>
          </a:xfrm>
          <a:prstGeom prst="rect">
            <a:avLst/>
          </a:prstGeom>
          <a:noFill/>
        </p:spPr>
        <p:txBody>
          <a:bodyPr wrap="square" lIns="0" rIns="0" tIns="0" bIns="0" anchor="t">
            <a:spAutoFit/>
          </a:bodyPr>
          <a:lstStyle/>
          <a:p>
            <a:pPr algn="l">
              <a:lnSpc>
                <a:spcPct val="112000"/>
              </a:lnSpc>
              <a:spcAft>
                <a:spcPts val="0"/>
              </a:spcAft>
            </a:pPr>
            <a:r>
              <a:rPr sz="1700" b="1" i="0">
                <a:solidFill>
                  <a:srgbClr val="0B655E"/>
                </a:solidFill>
                <a:latin typeface="Calibri"/>
              </a:rPr>
              <a:t>—</a:t>
            </a:r>
          </a:p>
        </p:txBody>
      </p:sp>
      <p:sp>
        <p:nvSpPr>
          <p:cNvPr id="9" name="TextBox 8"/>
          <p:cNvSpPr txBox="1"/>
          <p:nvPr/>
        </p:nvSpPr>
        <p:spPr>
          <a:xfrm>
            <a:off x="1088136" y="2944368"/>
            <a:ext cx="5632704" cy="365760"/>
          </a:xfrm>
          <a:prstGeom prst="rect">
            <a:avLst/>
          </a:prstGeom>
          <a:noFill/>
        </p:spPr>
        <p:txBody>
          <a:bodyPr wrap="square" lIns="0" rIns="0" tIns="0" bIns="0" anchor="t">
            <a:spAutoFit/>
          </a:bodyPr>
          <a:lstStyle/>
          <a:p>
            <a:pPr algn="l">
              <a:lnSpc>
                <a:spcPct val="114000"/>
              </a:lnSpc>
              <a:spcAft>
                <a:spcPts val="0"/>
              </a:spcAft>
            </a:pPr>
            <a:r>
              <a:rPr sz="1700" b="0" i="0">
                <a:solidFill>
                  <a:srgbClr val="12181D"/>
                </a:solidFill>
                <a:latin typeface="Calibri"/>
              </a:rPr>
              <a:t>Choisissez </a:t>
            </a:r>
            <a:r>
              <a:rPr sz="1700" b="1" i="0">
                <a:solidFill>
                  <a:srgbClr val="12181D"/>
                </a:solidFill>
                <a:latin typeface="Calibri"/>
              </a:rPr>
              <a:t>une tâche réelle</a:t>
            </a:r>
            <a:r>
              <a:rPr sz="1700" b="0" i="0">
                <a:solidFill>
                  <a:srgbClr val="12181D"/>
                </a:solidFill>
                <a:latin typeface="Calibri"/>
              </a:rPr>
              <a:t> que vous devez faire cette semaine.</a:t>
            </a:r>
          </a:p>
        </p:txBody>
      </p:sp>
      <p:sp>
        <p:nvSpPr>
          <p:cNvPr id="10" name="TextBox 9"/>
          <p:cNvSpPr txBox="1"/>
          <p:nvPr/>
        </p:nvSpPr>
        <p:spPr>
          <a:xfrm>
            <a:off x="777240" y="3771392"/>
            <a:ext cx="274320" cy="274320"/>
          </a:xfrm>
          <a:prstGeom prst="rect">
            <a:avLst/>
          </a:prstGeom>
          <a:noFill/>
        </p:spPr>
        <p:txBody>
          <a:bodyPr wrap="square" lIns="0" rIns="0" tIns="0" bIns="0" anchor="t">
            <a:spAutoFit/>
          </a:bodyPr>
          <a:lstStyle/>
          <a:p>
            <a:pPr algn="l">
              <a:lnSpc>
                <a:spcPct val="112000"/>
              </a:lnSpc>
              <a:spcAft>
                <a:spcPts val="0"/>
              </a:spcAft>
            </a:pPr>
            <a:r>
              <a:rPr sz="1700" b="1" i="0">
                <a:solidFill>
                  <a:srgbClr val="0B655E"/>
                </a:solidFill>
                <a:latin typeface="Calibri"/>
              </a:rPr>
              <a:t>—</a:t>
            </a:r>
          </a:p>
        </p:txBody>
      </p:sp>
      <p:sp>
        <p:nvSpPr>
          <p:cNvPr id="11" name="TextBox 10"/>
          <p:cNvSpPr txBox="1"/>
          <p:nvPr/>
        </p:nvSpPr>
        <p:spPr>
          <a:xfrm>
            <a:off x="1088136" y="3771392"/>
            <a:ext cx="5632704" cy="365760"/>
          </a:xfrm>
          <a:prstGeom prst="rect">
            <a:avLst/>
          </a:prstGeom>
          <a:noFill/>
        </p:spPr>
        <p:txBody>
          <a:bodyPr wrap="square" lIns="0" rIns="0" tIns="0" bIns="0" anchor="t">
            <a:spAutoFit/>
          </a:bodyPr>
          <a:lstStyle/>
          <a:p>
            <a:pPr algn="l">
              <a:lnSpc>
                <a:spcPct val="114000"/>
              </a:lnSpc>
              <a:spcAft>
                <a:spcPts val="0"/>
              </a:spcAft>
            </a:pPr>
            <a:r>
              <a:rPr sz="1700" b="0" i="0">
                <a:solidFill>
                  <a:srgbClr val="12181D"/>
                </a:solidFill>
                <a:latin typeface="Calibri"/>
              </a:rPr>
              <a:t>Écrivez le prompt que vous auriez écrit ce matin. Lancez. </a:t>
            </a:r>
            <a:r>
              <a:rPr sz="1700" b="1" i="0">
                <a:solidFill>
                  <a:srgbClr val="12181D"/>
                </a:solidFill>
                <a:latin typeface="Calibri"/>
              </a:rPr>
              <a:t>Notez le résultat sur 10.</a:t>
            </a:r>
          </a:p>
        </p:txBody>
      </p:sp>
      <p:sp>
        <p:nvSpPr>
          <p:cNvPr id="12" name="TextBox 11"/>
          <p:cNvSpPr txBox="1"/>
          <p:nvPr/>
        </p:nvSpPr>
        <p:spPr>
          <a:xfrm>
            <a:off x="777240" y="4598416"/>
            <a:ext cx="274320" cy="274320"/>
          </a:xfrm>
          <a:prstGeom prst="rect">
            <a:avLst/>
          </a:prstGeom>
          <a:noFill/>
        </p:spPr>
        <p:txBody>
          <a:bodyPr wrap="square" lIns="0" rIns="0" tIns="0" bIns="0" anchor="t">
            <a:spAutoFit/>
          </a:bodyPr>
          <a:lstStyle/>
          <a:p>
            <a:pPr algn="l">
              <a:lnSpc>
                <a:spcPct val="112000"/>
              </a:lnSpc>
              <a:spcAft>
                <a:spcPts val="0"/>
              </a:spcAft>
            </a:pPr>
            <a:r>
              <a:rPr sz="1700" b="1" i="0">
                <a:solidFill>
                  <a:srgbClr val="0B655E"/>
                </a:solidFill>
                <a:latin typeface="Calibri"/>
              </a:rPr>
              <a:t>—</a:t>
            </a:r>
          </a:p>
        </p:txBody>
      </p:sp>
      <p:sp>
        <p:nvSpPr>
          <p:cNvPr id="13" name="TextBox 12"/>
          <p:cNvSpPr txBox="1"/>
          <p:nvPr/>
        </p:nvSpPr>
        <p:spPr>
          <a:xfrm>
            <a:off x="1088136" y="4598416"/>
            <a:ext cx="5632704" cy="365760"/>
          </a:xfrm>
          <a:prstGeom prst="rect">
            <a:avLst/>
          </a:prstGeom>
          <a:noFill/>
        </p:spPr>
        <p:txBody>
          <a:bodyPr wrap="square" lIns="0" rIns="0" tIns="0" bIns="0" anchor="t">
            <a:spAutoFit/>
          </a:bodyPr>
          <a:lstStyle/>
          <a:p>
            <a:pPr algn="l">
              <a:lnSpc>
                <a:spcPct val="114000"/>
              </a:lnSpc>
              <a:spcAft>
                <a:spcPts val="0"/>
              </a:spcAft>
            </a:pPr>
            <a:r>
              <a:rPr sz="1700" b="0" i="0">
                <a:solidFill>
                  <a:srgbClr val="12181D"/>
                </a:solidFill>
                <a:latin typeface="Calibri"/>
              </a:rPr>
              <a:t>Réécrivez la demande avec les six lettres, et la phrase de relance en dernière ligne.</a:t>
            </a:r>
          </a:p>
        </p:txBody>
      </p:sp>
      <p:sp>
        <p:nvSpPr>
          <p:cNvPr id="14" name="TextBox 13"/>
          <p:cNvSpPr txBox="1"/>
          <p:nvPr/>
        </p:nvSpPr>
        <p:spPr>
          <a:xfrm>
            <a:off x="777240" y="5425440"/>
            <a:ext cx="274320" cy="274320"/>
          </a:xfrm>
          <a:prstGeom prst="rect">
            <a:avLst/>
          </a:prstGeom>
          <a:noFill/>
        </p:spPr>
        <p:txBody>
          <a:bodyPr wrap="square" lIns="0" rIns="0" tIns="0" bIns="0" anchor="t">
            <a:spAutoFit/>
          </a:bodyPr>
          <a:lstStyle/>
          <a:p>
            <a:pPr algn="l">
              <a:lnSpc>
                <a:spcPct val="112000"/>
              </a:lnSpc>
              <a:spcAft>
                <a:spcPts val="0"/>
              </a:spcAft>
            </a:pPr>
            <a:r>
              <a:rPr sz="1700" b="1" i="0">
                <a:solidFill>
                  <a:srgbClr val="0B655E"/>
                </a:solidFill>
                <a:latin typeface="Calibri"/>
              </a:rPr>
              <a:t>—</a:t>
            </a:r>
          </a:p>
        </p:txBody>
      </p:sp>
      <p:sp>
        <p:nvSpPr>
          <p:cNvPr id="15" name="TextBox 14"/>
          <p:cNvSpPr txBox="1"/>
          <p:nvPr/>
        </p:nvSpPr>
        <p:spPr>
          <a:xfrm>
            <a:off x="1088136" y="5425440"/>
            <a:ext cx="5632704" cy="365760"/>
          </a:xfrm>
          <a:prstGeom prst="rect">
            <a:avLst/>
          </a:prstGeom>
          <a:noFill/>
        </p:spPr>
        <p:txBody>
          <a:bodyPr wrap="square" lIns="0" rIns="0" tIns="0" bIns="0" anchor="t">
            <a:spAutoFit/>
          </a:bodyPr>
          <a:lstStyle/>
          <a:p>
            <a:pPr algn="l">
              <a:lnSpc>
                <a:spcPct val="114000"/>
              </a:lnSpc>
              <a:spcAft>
                <a:spcPts val="0"/>
              </a:spcAft>
            </a:pPr>
            <a:r>
              <a:rPr sz="1700" b="0" i="0">
                <a:solidFill>
                  <a:srgbClr val="12181D"/>
                </a:solidFill>
                <a:latin typeface="Calibri"/>
              </a:rPr>
              <a:t>Lancez à nouveau. Notez sur 10. </a:t>
            </a:r>
            <a:r>
              <a:rPr sz="1700" b="1" i="0">
                <a:solidFill>
                  <a:srgbClr val="12181D"/>
                </a:solidFill>
                <a:latin typeface="Calibri"/>
              </a:rPr>
              <a:t>Écrivez les deux notes au tableau.</a:t>
            </a:r>
          </a:p>
        </p:txBody>
      </p:sp>
      <p:sp>
        <p:nvSpPr>
          <p:cNvPr id="16" name="Rectangle 15"/>
          <p:cNvSpPr/>
          <p:nvPr/>
        </p:nvSpPr>
        <p:spPr>
          <a:xfrm>
            <a:off x="777240" y="5623560"/>
            <a:ext cx="5943600" cy="822960"/>
          </a:xfrm>
          <a:prstGeom prst="rect">
            <a:avLst/>
          </a:prstGeom>
          <a:solidFill>
            <a:srgbClr val="E4EF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5623560"/>
            <a:ext cx="41148" cy="822960"/>
          </a:xfrm>
          <a:prstGeom prst="rect">
            <a:avLst/>
          </a:prstGeom>
          <a:solidFill>
            <a:srgbClr val="0B6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033271" y="5824728"/>
            <a:ext cx="5486400" cy="228600"/>
          </a:xfrm>
          <a:prstGeom prst="rect">
            <a:avLst/>
          </a:prstGeom>
          <a:noFill/>
        </p:spPr>
        <p:txBody>
          <a:bodyPr wrap="square" lIns="0" rIns="0" tIns="0" bIns="0" anchor="t">
            <a:spAutoFit/>
          </a:bodyPr>
          <a:lstStyle/>
          <a:p>
            <a:pPr algn="l">
              <a:lnSpc>
                <a:spcPct val="112000"/>
              </a:lnSpc>
              <a:spcAft>
                <a:spcPts val="0"/>
              </a:spcAft>
            </a:pPr>
            <a:r>
              <a:rPr sz="1000" b="1" i="0" spc="140">
                <a:solidFill>
                  <a:srgbClr val="0B655E"/>
                </a:solidFill>
                <a:latin typeface="Consolas"/>
              </a:rPr>
              <a:t>LIVRABLE</a:t>
            </a:r>
          </a:p>
        </p:txBody>
      </p:sp>
      <p:sp>
        <p:nvSpPr>
          <p:cNvPr id="19" name="TextBox 18"/>
          <p:cNvSpPr txBox="1"/>
          <p:nvPr/>
        </p:nvSpPr>
        <p:spPr>
          <a:xfrm>
            <a:off x="1033271" y="6153912"/>
            <a:ext cx="5486400" cy="91439"/>
          </a:xfrm>
          <a:prstGeom prst="rect">
            <a:avLst/>
          </a:prstGeom>
          <a:noFill/>
        </p:spPr>
        <p:txBody>
          <a:bodyPr wrap="square" lIns="0" rIns="0" tIns="0" bIns="0" anchor="t">
            <a:spAutoFit/>
          </a:bodyPr>
          <a:lstStyle/>
          <a:p>
            <a:pPr algn="l">
              <a:lnSpc>
                <a:spcPct val="120000"/>
              </a:lnSpc>
              <a:spcAft>
                <a:spcPts val="0"/>
              </a:spcAft>
            </a:pPr>
            <a:r>
              <a:rPr sz="1500" b="0" i="0">
                <a:solidFill>
                  <a:srgbClr val="545F69"/>
                </a:solidFill>
                <a:latin typeface="Calibri"/>
              </a:rPr>
              <a:t>Un prompt C.O.P.A.I.N. testé, réutilisable dès demain sur une vraie tâche.</a:t>
            </a:r>
          </a:p>
        </p:txBody>
      </p:sp>
      <p:sp>
        <p:nvSpPr>
          <p:cNvPr id="20" name="Rectangle 19"/>
          <p:cNvSpPr/>
          <p:nvPr/>
        </p:nvSpPr>
        <p:spPr>
          <a:xfrm>
            <a:off x="7269479" y="2286000"/>
            <a:ext cx="4144975" cy="3383280"/>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7269479" y="2286000"/>
            <a:ext cx="41148" cy="3383280"/>
          </a:xfrm>
          <a:prstGeom prst="rect">
            <a:avLst/>
          </a:prstGeom>
          <a:solidFill>
            <a:srgbClr val="0B6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525511" y="2487168"/>
            <a:ext cx="3687775" cy="228600"/>
          </a:xfrm>
          <a:prstGeom prst="rect">
            <a:avLst/>
          </a:prstGeom>
          <a:noFill/>
        </p:spPr>
        <p:txBody>
          <a:bodyPr wrap="square" lIns="0" rIns="0" tIns="0" bIns="0" anchor="t">
            <a:spAutoFit/>
          </a:bodyPr>
          <a:lstStyle/>
          <a:p>
            <a:pPr algn="l">
              <a:lnSpc>
                <a:spcPct val="112000"/>
              </a:lnSpc>
              <a:spcAft>
                <a:spcPts val="0"/>
              </a:spcAft>
            </a:pPr>
            <a:r>
              <a:rPr sz="1000" b="1" i="0" spc="140">
                <a:solidFill>
                  <a:srgbClr val="0B655E"/>
                </a:solidFill>
                <a:latin typeface="Consolas"/>
              </a:rPr>
              <a:t>DÉBRIEF EN GRAND GROUPE</a:t>
            </a:r>
          </a:p>
        </p:txBody>
      </p:sp>
      <p:sp>
        <p:nvSpPr>
          <p:cNvPr id="23" name="TextBox 22"/>
          <p:cNvSpPr txBox="1"/>
          <p:nvPr/>
        </p:nvSpPr>
        <p:spPr>
          <a:xfrm>
            <a:off x="7525511" y="2816352"/>
            <a:ext cx="3687775" cy="2651760"/>
          </a:xfrm>
          <a:prstGeom prst="rect">
            <a:avLst/>
          </a:prstGeom>
          <a:noFill/>
        </p:spPr>
        <p:txBody>
          <a:bodyPr wrap="square" lIns="0" rIns="0" tIns="0" bIns="0" anchor="t">
            <a:spAutoFit/>
          </a:bodyPr>
          <a:lstStyle/>
          <a:p>
            <a:pPr algn="l">
              <a:lnSpc>
                <a:spcPct val="120000"/>
              </a:lnSpc>
              <a:spcAft>
                <a:spcPts val="0"/>
              </a:spcAft>
            </a:pPr>
            <a:r>
              <a:rPr sz="1600" b="0" i="0">
                <a:solidFill>
                  <a:srgbClr val="545F69"/>
                </a:solidFill>
                <a:latin typeface="Calibri"/>
              </a:rPr>
              <a:t>On calcule la moyenne des « avant » et la moyenne des « après » pour toute la salle. L'écart est votre meilleur argument, et il tient sur une ligne.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4EF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0B6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60120" y="1463040"/>
            <a:ext cx="7315200" cy="274320"/>
          </a:xfrm>
          <a:prstGeom prst="rect">
            <a:avLst/>
          </a:prstGeom>
          <a:noFill/>
        </p:spPr>
        <p:txBody>
          <a:bodyPr wrap="square" lIns="0" rIns="0" tIns="0" bIns="0" anchor="t">
            <a:spAutoFit/>
          </a:bodyPr>
          <a:lstStyle/>
          <a:p>
            <a:pPr algn="l">
              <a:lnSpc>
                <a:spcPct val="112000"/>
              </a:lnSpc>
              <a:spcAft>
                <a:spcPts val="0"/>
              </a:spcAft>
            </a:pPr>
            <a:r>
              <a:rPr sz="1200" b="1" i="0" spc="180">
                <a:solidFill>
                  <a:srgbClr val="0B655E"/>
                </a:solidFill>
                <a:latin typeface="Consolas"/>
              </a:rPr>
              <a:t>JOUR 1 · SÉQUENCE 6</a:t>
            </a:r>
          </a:p>
        </p:txBody>
      </p:sp>
      <p:sp>
        <p:nvSpPr>
          <p:cNvPr id="5" name="TextBox 4"/>
          <p:cNvSpPr txBox="1"/>
          <p:nvPr/>
        </p:nvSpPr>
        <p:spPr>
          <a:xfrm>
            <a:off x="960120" y="1965960"/>
            <a:ext cx="9601200" cy="2011680"/>
          </a:xfrm>
          <a:prstGeom prst="rect">
            <a:avLst/>
          </a:prstGeom>
          <a:noFill/>
        </p:spPr>
        <p:txBody>
          <a:bodyPr wrap="square" lIns="0" rIns="0" tIns="0" bIns="0" anchor="t">
            <a:spAutoFit/>
          </a:bodyPr>
          <a:lstStyle/>
          <a:p>
            <a:pPr algn="l">
              <a:lnSpc>
                <a:spcPct val="95000"/>
              </a:lnSpc>
              <a:spcAft>
                <a:spcPts val="0"/>
              </a:spcAft>
            </a:pPr>
            <a:r>
              <a:rPr sz="5000" b="1" i="0">
                <a:solidFill>
                  <a:srgbClr val="12181D"/>
                </a:solidFill>
                <a:latin typeface="Trebuchet MS"/>
              </a:rPr>
              <a:t>Cartographie des modèles</a:t>
            </a:r>
          </a:p>
        </p:txBody>
      </p:sp>
      <p:sp>
        <p:nvSpPr>
          <p:cNvPr id="6" name="Rectangle 5"/>
          <p:cNvSpPr/>
          <p:nvPr/>
        </p:nvSpPr>
        <p:spPr>
          <a:xfrm>
            <a:off x="960120" y="4114800"/>
            <a:ext cx="1463040" cy="41148"/>
          </a:xfrm>
          <a:prstGeom prst="rect">
            <a:avLst/>
          </a:prstGeom>
          <a:solidFill>
            <a:srgbClr val="0B6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60120" y="4480560"/>
            <a:ext cx="8595360" cy="1097280"/>
          </a:xfrm>
          <a:prstGeom prst="rect">
            <a:avLst/>
          </a:prstGeom>
          <a:noFill/>
        </p:spPr>
        <p:txBody>
          <a:bodyPr wrap="square" lIns="0" rIns="0" tIns="0" bIns="0" anchor="t">
            <a:spAutoFit/>
          </a:bodyPr>
          <a:lstStyle/>
          <a:p>
            <a:pPr algn="l">
              <a:lnSpc>
                <a:spcPct val="132000"/>
              </a:lnSpc>
              <a:spcAft>
                <a:spcPts val="0"/>
              </a:spcAft>
            </a:pPr>
            <a:r>
              <a:rPr sz="2000" b="0" i="0">
                <a:solidFill>
                  <a:srgbClr val="545F69"/>
                </a:solidFill>
                <a:latin typeface="Calibri"/>
              </a:rPr>
              <a:t>Il en sort un nouveau tous les mois. Voici comment choisir sans avoir à suivre l'actualité.</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6-cartographie-llm.png"/>
          <p:cNvPicPr>
            <a:picLocks noChangeAspect="1"/>
          </p:cNvPicPr>
          <p:nvPr/>
        </p:nvPicPr>
        <p:blipFill>
          <a:blip r:embed="rId2"/>
          <a:stretch>
            <a:fillRect/>
          </a:stretch>
        </p:blipFill>
        <p:spPr>
          <a:xfrm>
            <a:off x="0" y="0"/>
            <a:ext cx="12191695" cy="6857828"/>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77240" y="402336"/>
            <a:ext cx="10637215" cy="32004"/>
          </a:xfrm>
          <a:prstGeom prst="rect">
            <a:avLst/>
          </a:prstGeom>
          <a:solidFill>
            <a:srgbClr val="12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77240" y="502920"/>
            <a:ext cx="10637215" cy="274320"/>
          </a:xfrm>
          <a:prstGeom prst="rect">
            <a:avLst/>
          </a:prstGeom>
          <a:noFill/>
        </p:spPr>
        <p:txBody>
          <a:bodyPr wrap="square" lIns="0" rIns="0" tIns="0" bIns="0" anchor="t">
            <a:spAutoFit/>
          </a:bodyPr>
          <a:lstStyle/>
          <a:p>
            <a:pPr algn="l">
              <a:lnSpc>
                <a:spcPct val="112000"/>
              </a:lnSpc>
              <a:spcAft>
                <a:spcPts val="0"/>
              </a:spcAft>
            </a:pPr>
            <a:r>
              <a:rPr sz="1050" b="1" i="0" spc="150">
                <a:solidFill>
                  <a:srgbClr val="0B655E"/>
                </a:solidFill>
                <a:latin typeface="Consolas"/>
              </a:rPr>
              <a:t>SÉQUENCE 6</a:t>
            </a:r>
          </a:p>
        </p:txBody>
      </p:sp>
      <p:sp>
        <p:nvSpPr>
          <p:cNvPr id="4" name="TextBox 3"/>
          <p:cNvSpPr txBox="1"/>
          <p:nvPr/>
        </p:nvSpPr>
        <p:spPr>
          <a:xfrm>
            <a:off x="777240" y="868680"/>
            <a:ext cx="10637215" cy="1371600"/>
          </a:xfrm>
          <a:prstGeom prst="rect">
            <a:avLst/>
          </a:prstGeom>
          <a:noFill/>
        </p:spPr>
        <p:txBody>
          <a:bodyPr wrap="square" lIns="0" rIns="0" tIns="0" bIns="0" anchor="t">
            <a:spAutoFit/>
          </a:bodyPr>
          <a:lstStyle/>
          <a:p>
            <a:pPr algn="l">
              <a:lnSpc>
                <a:spcPct val="95000"/>
              </a:lnSpc>
              <a:spcAft>
                <a:spcPts val="0"/>
              </a:spcAft>
            </a:pPr>
            <a:r>
              <a:rPr sz="3800" b="1" i="0">
                <a:solidFill>
                  <a:srgbClr val="12181D"/>
                </a:solidFill>
                <a:latin typeface="Trebuchet MS"/>
              </a:rPr>
              <a:t>Les quatre questions, dans cet ordre</a:t>
            </a:r>
          </a:p>
        </p:txBody>
      </p:sp>
      <p:sp>
        <p:nvSpPr>
          <p:cNvPr id="5" name="TextBox 4"/>
          <p:cNvSpPr txBox="1"/>
          <p:nvPr/>
        </p:nvSpPr>
        <p:spPr>
          <a:xfrm>
            <a:off x="777240" y="2331720"/>
            <a:ext cx="274320" cy="274320"/>
          </a:xfrm>
          <a:prstGeom prst="rect">
            <a:avLst/>
          </a:prstGeom>
          <a:noFill/>
        </p:spPr>
        <p:txBody>
          <a:bodyPr wrap="square" lIns="0" rIns="0" tIns="0" bIns="0" anchor="t">
            <a:spAutoFit/>
          </a:bodyPr>
          <a:lstStyle/>
          <a:p>
            <a:pPr algn="l">
              <a:lnSpc>
                <a:spcPct val="112000"/>
              </a:lnSpc>
              <a:spcAft>
                <a:spcPts val="0"/>
              </a:spcAft>
            </a:pPr>
            <a:r>
              <a:rPr sz="1600" b="1" i="0">
                <a:solidFill>
                  <a:srgbClr val="0B655E"/>
                </a:solidFill>
                <a:latin typeface="Calibri"/>
              </a:rPr>
              <a:t>—</a:t>
            </a:r>
          </a:p>
        </p:txBody>
      </p:sp>
      <p:sp>
        <p:nvSpPr>
          <p:cNvPr id="6" name="TextBox 5"/>
          <p:cNvSpPr txBox="1"/>
          <p:nvPr/>
        </p:nvSpPr>
        <p:spPr>
          <a:xfrm>
            <a:off x="1088136" y="2331720"/>
            <a:ext cx="8741664" cy="365760"/>
          </a:xfrm>
          <a:prstGeom prst="rect">
            <a:avLst/>
          </a:prstGeom>
          <a:noFill/>
        </p:spPr>
        <p:txBody>
          <a:bodyPr wrap="square" lIns="0" rIns="0" tIns="0" bIns="0" anchor="t">
            <a:spAutoFit/>
          </a:bodyPr>
          <a:lstStyle/>
          <a:p>
            <a:pPr algn="l">
              <a:lnSpc>
                <a:spcPct val="114000"/>
              </a:lnSpc>
              <a:spcAft>
                <a:spcPts val="0"/>
              </a:spcAft>
            </a:pPr>
            <a:r>
              <a:rPr sz="1600" b="1" i="0">
                <a:solidFill>
                  <a:srgbClr val="12181D"/>
                </a:solidFill>
                <a:latin typeface="Calibri"/>
              </a:rPr>
              <a:t>Où partent mes données ?</a:t>
            </a:r>
            <a:r>
              <a:rPr sz="1600" b="0" i="0">
                <a:solidFill>
                  <a:srgbClr val="545F69"/>
                </a:solidFill>
                <a:latin typeface="Calibri"/>
              </a:rPr>
              <a:t> Elle décide plus souvent que toutes les autres réunies. Si la réponse est bloquante, les trois suivantes ne se posent même pas.</a:t>
            </a:r>
          </a:p>
        </p:txBody>
      </p:sp>
      <p:sp>
        <p:nvSpPr>
          <p:cNvPr id="7" name="TextBox 6"/>
          <p:cNvSpPr txBox="1"/>
          <p:nvPr/>
        </p:nvSpPr>
        <p:spPr>
          <a:xfrm>
            <a:off x="777240" y="3126232"/>
            <a:ext cx="274320" cy="274320"/>
          </a:xfrm>
          <a:prstGeom prst="rect">
            <a:avLst/>
          </a:prstGeom>
          <a:noFill/>
        </p:spPr>
        <p:txBody>
          <a:bodyPr wrap="square" lIns="0" rIns="0" tIns="0" bIns="0" anchor="t">
            <a:spAutoFit/>
          </a:bodyPr>
          <a:lstStyle/>
          <a:p>
            <a:pPr algn="l">
              <a:lnSpc>
                <a:spcPct val="112000"/>
              </a:lnSpc>
              <a:spcAft>
                <a:spcPts val="0"/>
              </a:spcAft>
            </a:pPr>
            <a:r>
              <a:rPr sz="1600" b="1" i="0">
                <a:solidFill>
                  <a:srgbClr val="0B655E"/>
                </a:solidFill>
                <a:latin typeface="Calibri"/>
              </a:rPr>
              <a:t>—</a:t>
            </a:r>
          </a:p>
        </p:txBody>
      </p:sp>
      <p:sp>
        <p:nvSpPr>
          <p:cNvPr id="8" name="TextBox 7"/>
          <p:cNvSpPr txBox="1"/>
          <p:nvPr/>
        </p:nvSpPr>
        <p:spPr>
          <a:xfrm>
            <a:off x="1088136" y="3126232"/>
            <a:ext cx="8741664" cy="365760"/>
          </a:xfrm>
          <a:prstGeom prst="rect">
            <a:avLst/>
          </a:prstGeom>
          <a:noFill/>
        </p:spPr>
        <p:txBody>
          <a:bodyPr wrap="square" lIns="0" rIns="0" tIns="0" bIns="0" anchor="t">
            <a:spAutoFit/>
          </a:bodyPr>
          <a:lstStyle/>
          <a:p>
            <a:pPr algn="l">
              <a:lnSpc>
                <a:spcPct val="114000"/>
              </a:lnSpc>
              <a:spcAft>
                <a:spcPts val="0"/>
              </a:spcAft>
            </a:pPr>
            <a:r>
              <a:rPr sz="1600" b="1" i="0">
                <a:solidFill>
                  <a:srgbClr val="12181D"/>
                </a:solidFill>
                <a:latin typeface="Calibri"/>
              </a:rPr>
              <a:t>Écrit-il bien dans ma langue ?</a:t>
            </a:r>
            <a:r>
              <a:rPr sz="1600" b="0" i="0">
                <a:solidFill>
                  <a:srgbClr val="545F69"/>
                </a:solidFill>
                <a:latin typeface="Calibri"/>
              </a:rPr>
              <a:t> Testez sur vos propres textes, jamais sur un classement. Un modèle premier au benchmark peut produire un français plat et scolaire.</a:t>
            </a:r>
          </a:p>
        </p:txBody>
      </p:sp>
      <p:sp>
        <p:nvSpPr>
          <p:cNvPr id="9" name="TextBox 8"/>
          <p:cNvSpPr txBox="1"/>
          <p:nvPr/>
        </p:nvSpPr>
        <p:spPr>
          <a:xfrm>
            <a:off x="777240" y="3920743"/>
            <a:ext cx="274320" cy="274320"/>
          </a:xfrm>
          <a:prstGeom prst="rect">
            <a:avLst/>
          </a:prstGeom>
          <a:noFill/>
        </p:spPr>
        <p:txBody>
          <a:bodyPr wrap="square" lIns="0" rIns="0" tIns="0" bIns="0" anchor="t">
            <a:spAutoFit/>
          </a:bodyPr>
          <a:lstStyle/>
          <a:p>
            <a:pPr algn="l">
              <a:lnSpc>
                <a:spcPct val="112000"/>
              </a:lnSpc>
              <a:spcAft>
                <a:spcPts val="0"/>
              </a:spcAft>
            </a:pPr>
            <a:r>
              <a:rPr sz="1600" b="1" i="0">
                <a:solidFill>
                  <a:srgbClr val="0B655E"/>
                </a:solidFill>
                <a:latin typeface="Calibri"/>
              </a:rPr>
              <a:t>—</a:t>
            </a:r>
          </a:p>
        </p:txBody>
      </p:sp>
      <p:sp>
        <p:nvSpPr>
          <p:cNvPr id="10" name="TextBox 9"/>
          <p:cNvSpPr txBox="1"/>
          <p:nvPr/>
        </p:nvSpPr>
        <p:spPr>
          <a:xfrm>
            <a:off x="1088136" y="3920743"/>
            <a:ext cx="8741664" cy="365760"/>
          </a:xfrm>
          <a:prstGeom prst="rect">
            <a:avLst/>
          </a:prstGeom>
          <a:noFill/>
        </p:spPr>
        <p:txBody>
          <a:bodyPr wrap="square" lIns="0" rIns="0" tIns="0" bIns="0" anchor="t">
            <a:spAutoFit/>
          </a:bodyPr>
          <a:lstStyle/>
          <a:p>
            <a:pPr algn="l">
              <a:lnSpc>
                <a:spcPct val="114000"/>
              </a:lnSpc>
              <a:spcAft>
                <a:spcPts val="0"/>
              </a:spcAft>
            </a:pPr>
            <a:r>
              <a:rPr sz="1600" b="1" i="0">
                <a:solidFill>
                  <a:srgbClr val="12181D"/>
                </a:solidFill>
                <a:latin typeface="Calibri"/>
              </a:rPr>
              <a:t>Est-ce déjà dans les outils que j'utilise ?</a:t>
            </a:r>
            <a:r>
              <a:rPr sz="1600" b="0" i="0">
                <a:solidFill>
                  <a:srgbClr val="545F69"/>
                </a:solidFill>
                <a:latin typeface="Calibri"/>
              </a:rPr>
              <a:t> L'outil qu'on ouvre par réflexe bat systématiquement l'outil parfait qu'on oublie d'ouvrir.</a:t>
            </a:r>
          </a:p>
        </p:txBody>
      </p:sp>
      <p:sp>
        <p:nvSpPr>
          <p:cNvPr id="11" name="TextBox 10"/>
          <p:cNvSpPr txBox="1"/>
          <p:nvPr/>
        </p:nvSpPr>
        <p:spPr>
          <a:xfrm>
            <a:off x="777240" y="4715256"/>
            <a:ext cx="274320" cy="274320"/>
          </a:xfrm>
          <a:prstGeom prst="rect">
            <a:avLst/>
          </a:prstGeom>
          <a:noFill/>
        </p:spPr>
        <p:txBody>
          <a:bodyPr wrap="square" lIns="0" rIns="0" tIns="0" bIns="0" anchor="t">
            <a:spAutoFit/>
          </a:bodyPr>
          <a:lstStyle/>
          <a:p>
            <a:pPr algn="l">
              <a:lnSpc>
                <a:spcPct val="112000"/>
              </a:lnSpc>
              <a:spcAft>
                <a:spcPts val="0"/>
              </a:spcAft>
            </a:pPr>
            <a:r>
              <a:rPr sz="1600" b="1" i="0">
                <a:solidFill>
                  <a:srgbClr val="0B655E"/>
                </a:solidFill>
                <a:latin typeface="Calibri"/>
              </a:rPr>
              <a:t>—</a:t>
            </a:r>
          </a:p>
        </p:txBody>
      </p:sp>
      <p:sp>
        <p:nvSpPr>
          <p:cNvPr id="12" name="TextBox 11"/>
          <p:cNvSpPr txBox="1"/>
          <p:nvPr/>
        </p:nvSpPr>
        <p:spPr>
          <a:xfrm>
            <a:off x="1088136" y="4715256"/>
            <a:ext cx="8741664" cy="365760"/>
          </a:xfrm>
          <a:prstGeom prst="rect">
            <a:avLst/>
          </a:prstGeom>
          <a:noFill/>
        </p:spPr>
        <p:txBody>
          <a:bodyPr wrap="square" lIns="0" rIns="0" tIns="0" bIns="0" anchor="t">
            <a:spAutoFit/>
          </a:bodyPr>
          <a:lstStyle/>
          <a:p>
            <a:pPr algn="l">
              <a:lnSpc>
                <a:spcPct val="114000"/>
              </a:lnSpc>
              <a:spcAft>
                <a:spcPts val="0"/>
              </a:spcAft>
            </a:pPr>
            <a:r>
              <a:rPr sz="1600" b="1" i="0">
                <a:solidFill>
                  <a:srgbClr val="12181D"/>
                </a:solidFill>
                <a:latin typeface="Calibri"/>
              </a:rPr>
              <a:t>Combien à mon volume réel ?</a:t>
            </a:r>
            <a:r>
              <a:rPr sz="1600" b="0" i="0">
                <a:solidFill>
                  <a:srgbClr val="545F69"/>
                </a:solidFill>
                <a:latin typeface="Calibri"/>
              </a:rPr>
              <a:t> Raisonnez en abonnements mensuels par personne. Le prix au million de tokens ne veut rien dire pour un utilisateur.</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77240" y="402336"/>
            <a:ext cx="10637215" cy="32004"/>
          </a:xfrm>
          <a:prstGeom prst="rect">
            <a:avLst/>
          </a:prstGeom>
          <a:solidFill>
            <a:srgbClr val="12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77240" y="502920"/>
            <a:ext cx="10637215" cy="274320"/>
          </a:xfrm>
          <a:prstGeom prst="rect">
            <a:avLst/>
          </a:prstGeom>
          <a:noFill/>
        </p:spPr>
        <p:txBody>
          <a:bodyPr wrap="square" lIns="0" rIns="0" tIns="0" bIns="0" anchor="t">
            <a:spAutoFit/>
          </a:bodyPr>
          <a:lstStyle/>
          <a:p>
            <a:pPr algn="l">
              <a:lnSpc>
                <a:spcPct val="112000"/>
              </a:lnSpc>
              <a:spcAft>
                <a:spcPts val="0"/>
              </a:spcAft>
            </a:pPr>
            <a:r>
              <a:rPr sz="1050" b="1" i="0" spc="150">
                <a:solidFill>
                  <a:srgbClr val="0B655E"/>
                </a:solidFill>
                <a:latin typeface="Consolas"/>
              </a:rPr>
              <a:t>SÉQUENCE 6</a:t>
            </a:r>
          </a:p>
        </p:txBody>
      </p:sp>
      <p:sp>
        <p:nvSpPr>
          <p:cNvPr id="4" name="TextBox 3"/>
          <p:cNvSpPr txBox="1"/>
          <p:nvPr/>
        </p:nvSpPr>
        <p:spPr>
          <a:xfrm>
            <a:off x="777240" y="868680"/>
            <a:ext cx="10637215" cy="1371600"/>
          </a:xfrm>
          <a:prstGeom prst="rect">
            <a:avLst/>
          </a:prstGeom>
          <a:noFill/>
        </p:spPr>
        <p:txBody>
          <a:bodyPr wrap="square" lIns="0" rIns="0" tIns="0" bIns="0" anchor="t">
            <a:spAutoFit/>
          </a:bodyPr>
          <a:lstStyle/>
          <a:p>
            <a:pPr algn="l">
              <a:lnSpc>
                <a:spcPct val="95000"/>
              </a:lnSpc>
              <a:spcAft>
                <a:spcPts val="0"/>
              </a:spcAft>
            </a:pPr>
            <a:r>
              <a:rPr sz="3800" b="1" i="0">
                <a:solidFill>
                  <a:srgbClr val="12181D"/>
                </a:solidFill>
                <a:latin typeface="Trebuchet MS"/>
              </a:rPr>
              <a:t>Quatre familles, quatre usages</a:t>
            </a:r>
          </a:p>
        </p:txBody>
      </p:sp>
      <p:sp>
        <p:nvSpPr>
          <p:cNvPr id="5" name="Rectangle 4"/>
          <p:cNvSpPr/>
          <p:nvPr/>
        </p:nvSpPr>
        <p:spPr>
          <a:xfrm>
            <a:off x="777240" y="2286000"/>
            <a:ext cx="5120640" cy="36576"/>
          </a:xfrm>
          <a:prstGeom prst="rect">
            <a:avLst/>
          </a:prstGeom>
          <a:solidFill>
            <a:srgbClr val="0B6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77240" y="2450592"/>
            <a:ext cx="5029200" cy="365760"/>
          </a:xfrm>
          <a:prstGeom prst="rect">
            <a:avLst/>
          </a:prstGeom>
          <a:noFill/>
        </p:spPr>
        <p:txBody>
          <a:bodyPr wrap="square" lIns="0" rIns="0" tIns="0" bIns="0" anchor="t">
            <a:spAutoFit/>
          </a:bodyPr>
          <a:lstStyle/>
          <a:p>
            <a:pPr algn="l">
              <a:lnSpc>
                <a:spcPct val="112000"/>
              </a:lnSpc>
              <a:spcAft>
                <a:spcPts val="0"/>
              </a:spcAft>
            </a:pPr>
            <a:r>
              <a:rPr sz="2100" b="1" i="0">
                <a:solidFill>
                  <a:srgbClr val="12181D"/>
                </a:solidFill>
                <a:latin typeface="Trebuchet MS"/>
              </a:rPr>
              <a:t>Les généralistes</a:t>
            </a:r>
          </a:p>
        </p:txBody>
      </p:sp>
      <p:sp>
        <p:nvSpPr>
          <p:cNvPr id="7" name="TextBox 6"/>
          <p:cNvSpPr txBox="1"/>
          <p:nvPr/>
        </p:nvSpPr>
        <p:spPr>
          <a:xfrm>
            <a:off x="777240" y="2852928"/>
            <a:ext cx="5029200" cy="228600"/>
          </a:xfrm>
          <a:prstGeom prst="rect">
            <a:avLst/>
          </a:prstGeom>
          <a:noFill/>
        </p:spPr>
        <p:txBody>
          <a:bodyPr wrap="square" lIns="0" rIns="0" tIns="0" bIns="0" anchor="t">
            <a:spAutoFit/>
          </a:bodyPr>
          <a:lstStyle/>
          <a:p>
            <a:pPr algn="l">
              <a:lnSpc>
                <a:spcPct val="112000"/>
              </a:lnSpc>
              <a:spcAft>
                <a:spcPts val="0"/>
              </a:spcAft>
            </a:pPr>
            <a:r>
              <a:rPr sz="950" b="1" i="0" spc="120">
                <a:solidFill>
                  <a:srgbClr val="0B655E"/>
                </a:solidFill>
                <a:latin typeface="Consolas"/>
              </a:rPr>
              <a:t>OPENAI · ANTHROPIC · GOOGLE · XAI</a:t>
            </a:r>
          </a:p>
        </p:txBody>
      </p:sp>
      <p:sp>
        <p:nvSpPr>
          <p:cNvPr id="8" name="TextBox 7"/>
          <p:cNvSpPr txBox="1"/>
          <p:nvPr/>
        </p:nvSpPr>
        <p:spPr>
          <a:xfrm>
            <a:off x="777240" y="3154680"/>
            <a:ext cx="5029200" cy="914400"/>
          </a:xfrm>
          <a:prstGeom prst="rect">
            <a:avLst/>
          </a:prstGeom>
          <a:noFill/>
        </p:spPr>
        <p:txBody>
          <a:bodyPr wrap="square" lIns="0" rIns="0" tIns="0" bIns="0" anchor="t">
            <a:spAutoFit/>
          </a:bodyPr>
          <a:lstStyle/>
          <a:p>
            <a:pPr algn="l">
              <a:lnSpc>
                <a:spcPct val="122000"/>
              </a:lnSpc>
              <a:spcAft>
                <a:spcPts val="0"/>
              </a:spcAft>
            </a:pPr>
            <a:r>
              <a:rPr sz="1450" b="0" i="0">
                <a:solidFill>
                  <a:srgbClr val="545F69"/>
                </a:solidFill>
                <a:latin typeface="Calibri"/>
              </a:rPr>
              <a:t>Les plus polyvalents, le plus d'outils autour. Le choix par défaut au quotidien. Hébergement hors UE sauf offre entreprise.</a:t>
            </a:r>
          </a:p>
        </p:txBody>
      </p:sp>
      <p:sp>
        <p:nvSpPr>
          <p:cNvPr id="9" name="Rectangle 8"/>
          <p:cNvSpPr/>
          <p:nvPr/>
        </p:nvSpPr>
        <p:spPr>
          <a:xfrm>
            <a:off x="6217920" y="2286000"/>
            <a:ext cx="5120640" cy="36576"/>
          </a:xfrm>
          <a:prstGeom prst="rect">
            <a:avLst/>
          </a:prstGeom>
          <a:solidFill>
            <a:srgbClr val="0B6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217920" y="2450592"/>
            <a:ext cx="5029200" cy="365760"/>
          </a:xfrm>
          <a:prstGeom prst="rect">
            <a:avLst/>
          </a:prstGeom>
          <a:noFill/>
        </p:spPr>
        <p:txBody>
          <a:bodyPr wrap="square" lIns="0" rIns="0" tIns="0" bIns="0" anchor="t">
            <a:spAutoFit/>
          </a:bodyPr>
          <a:lstStyle/>
          <a:p>
            <a:pPr algn="l">
              <a:lnSpc>
                <a:spcPct val="112000"/>
              </a:lnSpc>
              <a:spcAft>
                <a:spcPts val="0"/>
              </a:spcAft>
            </a:pPr>
            <a:r>
              <a:rPr sz="2100" b="1" i="0">
                <a:solidFill>
                  <a:srgbClr val="12181D"/>
                </a:solidFill>
                <a:latin typeface="Trebuchet MS"/>
              </a:rPr>
              <a:t>Le souverain européen</a:t>
            </a:r>
          </a:p>
        </p:txBody>
      </p:sp>
      <p:sp>
        <p:nvSpPr>
          <p:cNvPr id="11" name="TextBox 10"/>
          <p:cNvSpPr txBox="1"/>
          <p:nvPr/>
        </p:nvSpPr>
        <p:spPr>
          <a:xfrm>
            <a:off x="6217920" y="2852928"/>
            <a:ext cx="5029200" cy="228600"/>
          </a:xfrm>
          <a:prstGeom prst="rect">
            <a:avLst/>
          </a:prstGeom>
          <a:noFill/>
        </p:spPr>
        <p:txBody>
          <a:bodyPr wrap="square" lIns="0" rIns="0" tIns="0" bIns="0" anchor="t">
            <a:spAutoFit/>
          </a:bodyPr>
          <a:lstStyle/>
          <a:p>
            <a:pPr algn="l">
              <a:lnSpc>
                <a:spcPct val="112000"/>
              </a:lnSpc>
              <a:spcAft>
                <a:spcPts val="0"/>
              </a:spcAft>
            </a:pPr>
            <a:r>
              <a:rPr sz="950" b="1" i="0" spc="120">
                <a:solidFill>
                  <a:srgbClr val="0B655E"/>
                </a:solidFill>
                <a:latin typeface="Consolas"/>
              </a:rPr>
              <a:t>MISTRAL · KYUTAI</a:t>
            </a:r>
          </a:p>
        </p:txBody>
      </p:sp>
      <p:sp>
        <p:nvSpPr>
          <p:cNvPr id="12" name="TextBox 11"/>
          <p:cNvSpPr txBox="1"/>
          <p:nvPr/>
        </p:nvSpPr>
        <p:spPr>
          <a:xfrm>
            <a:off x="6217920" y="3154680"/>
            <a:ext cx="5029200" cy="914400"/>
          </a:xfrm>
          <a:prstGeom prst="rect">
            <a:avLst/>
          </a:prstGeom>
          <a:noFill/>
        </p:spPr>
        <p:txBody>
          <a:bodyPr wrap="square" lIns="0" rIns="0" tIns="0" bIns="0" anchor="t">
            <a:spAutoFit/>
          </a:bodyPr>
          <a:lstStyle/>
          <a:p>
            <a:pPr algn="l">
              <a:lnSpc>
                <a:spcPct val="122000"/>
              </a:lnSpc>
              <a:spcAft>
                <a:spcPts val="0"/>
              </a:spcAft>
            </a:pPr>
            <a:r>
              <a:rPr sz="1450" b="0" i="0">
                <a:solidFill>
                  <a:srgbClr val="545F69"/>
                </a:solidFill>
                <a:latin typeface="Calibri"/>
              </a:rPr>
              <a:t>Hébergement en Europe, excellent français, engagement écrit sur le pays où sont stockées les données. La réponse quand la question 1 bloque.</a:t>
            </a:r>
          </a:p>
        </p:txBody>
      </p:sp>
      <p:sp>
        <p:nvSpPr>
          <p:cNvPr id="13" name="Rectangle 12"/>
          <p:cNvSpPr/>
          <p:nvPr/>
        </p:nvSpPr>
        <p:spPr>
          <a:xfrm>
            <a:off x="777240" y="4160520"/>
            <a:ext cx="5120640" cy="36576"/>
          </a:xfrm>
          <a:prstGeom prst="rect">
            <a:avLst/>
          </a:prstGeom>
          <a:solidFill>
            <a:srgbClr val="0B6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77240" y="4325112"/>
            <a:ext cx="5029200" cy="365760"/>
          </a:xfrm>
          <a:prstGeom prst="rect">
            <a:avLst/>
          </a:prstGeom>
          <a:noFill/>
        </p:spPr>
        <p:txBody>
          <a:bodyPr wrap="square" lIns="0" rIns="0" tIns="0" bIns="0" anchor="t">
            <a:spAutoFit/>
          </a:bodyPr>
          <a:lstStyle/>
          <a:p>
            <a:pPr algn="l">
              <a:lnSpc>
                <a:spcPct val="112000"/>
              </a:lnSpc>
              <a:spcAft>
                <a:spcPts val="0"/>
              </a:spcAft>
            </a:pPr>
            <a:r>
              <a:rPr sz="2100" b="1" i="0">
                <a:solidFill>
                  <a:srgbClr val="12181D"/>
                </a:solidFill>
                <a:latin typeface="Trebuchet MS"/>
              </a:rPr>
              <a:t>Les modèles ouverts</a:t>
            </a:r>
          </a:p>
        </p:txBody>
      </p:sp>
      <p:sp>
        <p:nvSpPr>
          <p:cNvPr id="15" name="TextBox 14"/>
          <p:cNvSpPr txBox="1"/>
          <p:nvPr/>
        </p:nvSpPr>
        <p:spPr>
          <a:xfrm>
            <a:off x="777240" y="4727448"/>
            <a:ext cx="5029200" cy="228600"/>
          </a:xfrm>
          <a:prstGeom prst="rect">
            <a:avLst/>
          </a:prstGeom>
          <a:noFill/>
        </p:spPr>
        <p:txBody>
          <a:bodyPr wrap="square" lIns="0" rIns="0" tIns="0" bIns="0" anchor="t">
            <a:spAutoFit/>
          </a:bodyPr>
          <a:lstStyle/>
          <a:p>
            <a:pPr algn="l">
              <a:lnSpc>
                <a:spcPct val="112000"/>
              </a:lnSpc>
              <a:spcAft>
                <a:spcPts val="0"/>
              </a:spcAft>
            </a:pPr>
            <a:r>
              <a:rPr sz="950" b="1" i="0" spc="120">
                <a:solidFill>
                  <a:srgbClr val="0B655E"/>
                </a:solidFill>
                <a:latin typeface="Consolas"/>
              </a:rPr>
              <a:t>LLAMA · MISTRAL OUVERTS · QWEN · DEEPSEEK</a:t>
            </a:r>
          </a:p>
        </p:txBody>
      </p:sp>
      <p:sp>
        <p:nvSpPr>
          <p:cNvPr id="16" name="TextBox 15"/>
          <p:cNvSpPr txBox="1"/>
          <p:nvPr/>
        </p:nvSpPr>
        <p:spPr>
          <a:xfrm>
            <a:off x="777240" y="5029200"/>
            <a:ext cx="5029200" cy="914400"/>
          </a:xfrm>
          <a:prstGeom prst="rect">
            <a:avLst/>
          </a:prstGeom>
          <a:noFill/>
        </p:spPr>
        <p:txBody>
          <a:bodyPr wrap="square" lIns="0" rIns="0" tIns="0" bIns="0" anchor="t">
            <a:spAutoFit/>
          </a:bodyPr>
          <a:lstStyle/>
          <a:p>
            <a:pPr algn="l">
              <a:lnSpc>
                <a:spcPct val="122000"/>
              </a:lnSpc>
              <a:spcAft>
                <a:spcPts val="0"/>
              </a:spcAft>
            </a:pPr>
            <a:r>
              <a:rPr sz="1450" b="0" i="0">
                <a:solidFill>
                  <a:srgbClr val="545F69"/>
                </a:solidFill>
                <a:latin typeface="Calibri"/>
              </a:rPr>
              <a:t>Installables chez vous : les données ne sortent jamais, l'usage ne se facture pas au message. Demande une compétence technique réelle.</a:t>
            </a:r>
          </a:p>
        </p:txBody>
      </p:sp>
      <p:sp>
        <p:nvSpPr>
          <p:cNvPr id="17" name="Rectangle 16"/>
          <p:cNvSpPr/>
          <p:nvPr/>
        </p:nvSpPr>
        <p:spPr>
          <a:xfrm>
            <a:off x="6217920" y="4160520"/>
            <a:ext cx="5120640" cy="36576"/>
          </a:xfrm>
          <a:prstGeom prst="rect">
            <a:avLst/>
          </a:prstGeom>
          <a:solidFill>
            <a:srgbClr val="0B6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217920" y="4325112"/>
            <a:ext cx="5029200" cy="365760"/>
          </a:xfrm>
          <a:prstGeom prst="rect">
            <a:avLst/>
          </a:prstGeom>
          <a:noFill/>
        </p:spPr>
        <p:txBody>
          <a:bodyPr wrap="square" lIns="0" rIns="0" tIns="0" bIns="0" anchor="t">
            <a:spAutoFit/>
          </a:bodyPr>
          <a:lstStyle/>
          <a:p>
            <a:pPr algn="l">
              <a:lnSpc>
                <a:spcPct val="112000"/>
              </a:lnSpc>
              <a:spcAft>
                <a:spcPts val="0"/>
              </a:spcAft>
            </a:pPr>
            <a:r>
              <a:rPr sz="2100" b="1" i="0">
                <a:solidFill>
                  <a:srgbClr val="12181D"/>
                </a:solidFill>
                <a:latin typeface="Trebuchet MS"/>
              </a:rPr>
              <a:t>Les spécialisés</a:t>
            </a:r>
          </a:p>
        </p:txBody>
      </p:sp>
      <p:sp>
        <p:nvSpPr>
          <p:cNvPr id="19" name="TextBox 18"/>
          <p:cNvSpPr txBox="1"/>
          <p:nvPr/>
        </p:nvSpPr>
        <p:spPr>
          <a:xfrm>
            <a:off x="6217920" y="4727448"/>
            <a:ext cx="5029200" cy="228600"/>
          </a:xfrm>
          <a:prstGeom prst="rect">
            <a:avLst/>
          </a:prstGeom>
          <a:noFill/>
        </p:spPr>
        <p:txBody>
          <a:bodyPr wrap="square" lIns="0" rIns="0" tIns="0" bIns="0" anchor="t">
            <a:spAutoFit/>
          </a:bodyPr>
          <a:lstStyle/>
          <a:p>
            <a:pPr algn="l">
              <a:lnSpc>
                <a:spcPct val="112000"/>
              </a:lnSpc>
              <a:spcAft>
                <a:spcPts val="0"/>
              </a:spcAft>
            </a:pPr>
            <a:r>
              <a:rPr sz="950" b="1" i="0" spc="120">
                <a:solidFill>
                  <a:srgbClr val="0B655E"/>
                </a:solidFill>
                <a:latin typeface="Consolas"/>
              </a:rPr>
              <a:t>TRANSCRIPTION · DOCUMENTS SCANNÉS · TRADUCTION · IMAGE · VOIX</a:t>
            </a:r>
          </a:p>
        </p:txBody>
      </p:sp>
      <p:sp>
        <p:nvSpPr>
          <p:cNvPr id="20" name="TextBox 19"/>
          <p:cNvSpPr txBox="1"/>
          <p:nvPr/>
        </p:nvSpPr>
        <p:spPr>
          <a:xfrm>
            <a:off x="6217920" y="5029200"/>
            <a:ext cx="5029200" cy="914400"/>
          </a:xfrm>
          <a:prstGeom prst="rect">
            <a:avLst/>
          </a:prstGeom>
          <a:noFill/>
        </p:spPr>
        <p:txBody>
          <a:bodyPr wrap="square" lIns="0" rIns="0" tIns="0" bIns="0" anchor="t">
            <a:spAutoFit/>
          </a:bodyPr>
          <a:lstStyle/>
          <a:p>
            <a:pPr algn="l">
              <a:lnSpc>
                <a:spcPct val="122000"/>
              </a:lnSpc>
              <a:spcAft>
                <a:spcPts val="0"/>
              </a:spcAft>
            </a:pPr>
            <a:r>
              <a:rPr sz="1450" b="0" i="0">
                <a:solidFill>
                  <a:srgbClr val="545F69"/>
                </a:solidFill>
                <a:latin typeface="Calibri"/>
              </a:rPr>
              <a:t>Une tâche, très bien faite, pour une fraction du prix. Souvent la meilleure réponse à un besoin précis et répétitif.</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01168" cy="6858000"/>
          </a:xfrm>
          <a:prstGeom prst="rect">
            <a:avLst/>
          </a:prstGeom>
          <a:solidFill>
            <a:srgbClr val="0B6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548640"/>
            <a:ext cx="2651760" cy="384048"/>
          </a:xfrm>
          <a:prstGeom prst="rect">
            <a:avLst/>
          </a:prstGeom>
          <a:solidFill>
            <a:srgbClr val="0B6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41832" y="621792"/>
            <a:ext cx="2377440" cy="274320"/>
          </a:xfrm>
          <a:prstGeom prst="rect">
            <a:avLst/>
          </a:prstGeom>
          <a:noFill/>
        </p:spPr>
        <p:txBody>
          <a:bodyPr wrap="square" lIns="0" rIns="0" tIns="0" bIns="0" anchor="t">
            <a:spAutoFit/>
          </a:bodyPr>
          <a:lstStyle/>
          <a:p>
            <a:pPr algn="l">
              <a:lnSpc>
                <a:spcPct val="112000"/>
              </a:lnSpc>
              <a:spcAft>
                <a:spcPts val="0"/>
              </a:spcAft>
            </a:pPr>
            <a:r>
              <a:rPr sz="1150" b="1" i="0" spc="150">
                <a:solidFill>
                  <a:srgbClr val="FFFFFF"/>
                </a:solidFill>
                <a:latin typeface="Consolas"/>
              </a:rPr>
              <a:t>ATELIER 5 · 25 MIN</a:t>
            </a:r>
          </a:p>
        </p:txBody>
      </p:sp>
      <p:sp>
        <p:nvSpPr>
          <p:cNvPr id="6" name="TextBox 5"/>
          <p:cNvSpPr txBox="1"/>
          <p:nvPr/>
        </p:nvSpPr>
        <p:spPr>
          <a:xfrm>
            <a:off x="777240" y="1143000"/>
            <a:ext cx="10637215" cy="1371600"/>
          </a:xfrm>
          <a:prstGeom prst="rect">
            <a:avLst/>
          </a:prstGeom>
          <a:noFill/>
        </p:spPr>
        <p:txBody>
          <a:bodyPr wrap="square" lIns="0" rIns="0" tIns="0" bIns="0" anchor="t">
            <a:spAutoFit/>
          </a:bodyPr>
          <a:lstStyle/>
          <a:p>
            <a:pPr algn="l">
              <a:lnSpc>
                <a:spcPct val="95000"/>
              </a:lnSpc>
              <a:spcAft>
                <a:spcPts val="0"/>
              </a:spcAft>
            </a:pPr>
            <a:r>
              <a:rPr sz="3600" b="1" i="0">
                <a:solidFill>
                  <a:srgbClr val="12181D"/>
                </a:solidFill>
                <a:latin typeface="Trebuchet MS"/>
              </a:rPr>
              <a:t>Trois collègues vous demandent conseil</a:t>
            </a:r>
          </a:p>
        </p:txBody>
      </p:sp>
      <p:sp>
        <p:nvSpPr>
          <p:cNvPr id="7" name="TextBox 6"/>
          <p:cNvSpPr txBox="1"/>
          <p:nvPr/>
        </p:nvSpPr>
        <p:spPr>
          <a:xfrm>
            <a:off x="777240" y="2606040"/>
            <a:ext cx="2743200" cy="274320"/>
          </a:xfrm>
          <a:prstGeom prst="rect">
            <a:avLst/>
          </a:prstGeom>
          <a:noFill/>
        </p:spPr>
        <p:txBody>
          <a:bodyPr wrap="square" lIns="0" rIns="0" tIns="0" bIns="0" anchor="t">
            <a:spAutoFit/>
          </a:bodyPr>
          <a:lstStyle/>
          <a:p>
            <a:pPr algn="l">
              <a:lnSpc>
                <a:spcPct val="112000"/>
              </a:lnSpc>
              <a:spcAft>
                <a:spcPts val="0"/>
              </a:spcAft>
            </a:pPr>
            <a:r>
              <a:rPr sz="1000" b="1" i="0" spc="140">
                <a:solidFill>
                  <a:srgbClr val="0B655E"/>
                </a:solidFill>
                <a:latin typeface="Consolas"/>
              </a:rPr>
              <a:t>CONSIGNE</a:t>
            </a:r>
          </a:p>
        </p:txBody>
      </p:sp>
      <p:sp>
        <p:nvSpPr>
          <p:cNvPr id="8" name="TextBox 7"/>
          <p:cNvSpPr txBox="1"/>
          <p:nvPr/>
        </p:nvSpPr>
        <p:spPr>
          <a:xfrm>
            <a:off x="777240" y="2944368"/>
            <a:ext cx="274320" cy="274320"/>
          </a:xfrm>
          <a:prstGeom prst="rect">
            <a:avLst/>
          </a:prstGeom>
          <a:noFill/>
        </p:spPr>
        <p:txBody>
          <a:bodyPr wrap="square" lIns="0" rIns="0" tIns="0" bIns="0" anchor="t">
            <a:spAutoFit/>
          </a:bodyPr>
          <a:lstStyle/>
          <a:p>
            <a:pPr algn="l">
              <a:lnSpc>
                <a:spcPct val="112000"/>
              </a:lnSpc>
              <a:spcAft>
                <a:spcPts val="0"/>
              </a:spcAft>
            </a:pPr>
            <a:r>
              <a:rPr sz="1700" b="1" i="0">
                <a:solidFill>
                  <a:srgbClr val="0B655E"/>
                </a:solidFill>
                <a:latin typeface="Calibri"/>
              </a:rPr>
              <a:t>—</a:t>
            </a:r>
          </a:p>
        </p:txBody>
      </p:sp>
      <p:sp>
        <p:nvSpPr>
          <p:cNvPr id="9" name="TextBox 8"/>
          <p:cNvSpPr txBox="1"/>
          <p:nvPr/>
        </p:nvSpPr>
        <p:spPr>
          <a:xfrm>
            <a:off x="1088136" y="2944368"/>
            <a:ext cx="5632704" cy="365760"/>
          </a:xfrm>
          <a:prstGeom prst="rect">
            <a:avLst/>
          </a:prstGeom>
          <a:noFill/>
        </p:spPr>
        <p:txBody>
          <a:bodyPr wrap="square" lIns="0" rIns="0" tIns="0" bIns="0" anchor="t">
            <a:spAutoFit/>
          </a:bodyPr>
          <a:lstStyle/>
          <a:p>
            <a:pPr algn="l">
              <a:lnSpc>
                <a:spcPct val="114000"/>
              </a:lnSpc>
              <a:spcAft>
                <a:spcPts val="0"/>
              </a:spcAft>
            </a:pPr>
            <a:r>
              <a:rPr sz="1700" b="0" i="0">
                <a:solidFill>
                  <a:srgbClr val="12181D"/>
                </a:solidFill>
                <a:latin typeface="Calibri"/>
              </a:rPr>
              <a:t>Par groupes de trois. Chaque groupe reçoit une personne :</a:t>
            </a:r>
          </a:p>
        </p:txBody>
      </p:sp>
      <p:sp>
        <p:nvSpPr>
          <p:cNvPr id="10" name="TextBox 9"/>
          <p:cNvSpPr txBox="1"/>
          <p:nvPr/>
        </p:nvSpPr>
        <p:spPr>
          <a:xfrm>
            <a:off x="777240" y="3495040"/>
            <a:ext cx="274320" cy="274320"/>
          </a:xfrm>
          <a:prstGeom prst="rect">
            <a:avLst/>
          </a:prstGeom>
          <a:noFill/>
        </p:spPr>
        <p:txBody>
          <a:bodyPr wrap="square" lIns="0" rIns="0" tIns="0" bIns="0" anchor="t">
            <a:spAutoFit/>
          </a:bodyPr>
          <a:lstStyle/>
          <a:p>
            <a:pPr algn="l">
              <a:lnSpc>
                <a:spcPct val="112000"/>
              </a:lnSpc>
              <a:spcAft>
                <a:spcPts val="0"/>
              </a:spcAft>
            </a:pPr>
            <a:r>
              <a:rPr sz="1700" b="1" i="0">
                <a:solidFill>
                  <a:srgbClr val="0B655E"/>
                </a:solidFill>
                <a:latin typeface="Calibri"/>
              </a:rPr>
              <a:t>—</a:t>
            </a:r>
          </a:p>
        </p:txBody>
      </p:sp>
      <p:sp>
        <p:nvSpPr>
          <p:cNvPr id="11" name="TextBox 10"/>
          <p:cNvSpPr txBox="1"/>
          <p:nvPr/>
        </p:nvSpPr>
        <p:spPr>
          <a:xfrm>
            <a:off x="1088136" y="3495040"/>
            <a:ext cx="5632704" cy="365760"/>
          </a:xfrm>
          <a:prstGeom prst="rect">
            <a:avLst/>
          </a:prstGeom>
          <a:noFill/>
        </p:spPr>
        <p:txBody>
          <a:bodyPr wrap="square" lIns="0" rIns="0" tIns="0" bIns="0" anchor="t">
            <a:spAutoFit/>
          </a:bodyPr>
          <a:lstStyle/>
          <a:p>
            <a:pPr algn="l">
              <a:lnSpc>
                <a:spcPct val="114000"/>
              </a:lnSpc>
              <a:spcAft>
                <a:spcPts val="0"/>
              </a:spcAft>
            </a:pPr>
            <a:r>
              <a:rPr sz="1700" b="1" i="0">
                <a:solidFill>
                  <a:srgbClr val="12181D"/>
                </a:solidFill>
                <a:latin typeface="Calibri"/>
              </a:rPr>
              <a:t>Sophie</a:t>
            </a:r>
            <a:r>
              <a:rPr sz="1700" b="0" i="0">
                <a:solidFill>
                  <a:srgbClr val="12181D"/>
                </a:solidFill>
                <a:latin typeface="Calibri"/>
              </a:rPr>
              <a:t>, assistante RH : elle doit trier 80 candidatures et rédiger les réponses.</a:t>
            </a:r>
          </a:p>
        </p:txBody>
      </p:sp>
      <p:sp>
        <p:nvSpPr>
          <p:cNvPr id="12" name="TextBox 11"/>
          <p:cNvSpPr txBox="1"/>
          <p:nvPr/>
        </p:nvSpPr>
        <p:spPr>
          <a:xfrm>
            <a:off x="777240" y="4322064"/>
            <a:ext cx="274320" cy="274320"/>
          </a:xfrm>
          <a:prstGeom prst="rect">
            <a:avLst/>
          </a:prstGeom>
          <a:noFill/>
        </p:spPr>
        <p:txBody>
          <a:bodyPr wrap="square" lIns="0" rIns="0" tIns="0" bIns="0" anchor="t">
            <a:spAutoFit/>
          </a:bodyPr>
          <a:lstStyle/>
          <a:p>
            <a:pPr algn="l">
              <a:lnSpc>
                <a:spcPct val="112000"/>
              </a:lnSpc>
              <a:spcAft>
                <a:spcPts val="0"/>
              </a:spcAft>
            </a:pPr>
            <a:r>
              <a:rPr sz="1700" b="1" i="0">
                <a:solidFill>
                  <a:srgbClr val="0B655E"/>
                </a:solidFill>
                <a:latin typeface="Calibri"/>
              </a:rPr>
              <a:t>—</a:t>
            </a:r>
          </a:p>
        </p:txBody>
      </p:sp>
      <p:sp>
        <p:nvSpPr>
          <p:cNvPr id="13" name="TextBox 12"/>
          <p:cNvSpPr txBox="1"/>
          <p:nvPr/>
        </p:nvSpPr>
        <p:spPr>
          <a:xfrm>
            <a:off x="1088136" y="4322064"/>
            <a:ext cx="5632704" cy="365760"/>
          </a:xfrm>
          <a:prstGeom prst="rect">
            <a:avLst/>
          </a:prstGeom>
          <a:noFill/>
        </p:spPr>
        <p:txBody>
          <a:bodyPr wrap="square" lIns="0" rIns="0" tIns="0" bIns="0" anchor="t">
            <a:spAutoFit/>
          </a:bodyPr>
          <a:lstStyle/>
          <a:p>
            <a:pPr algn="l">
              <a:lnSpc>
                <a:spcPct val="114000"/>
              </a:lnSpc>
              <a:spcAft>
                <a:spcPts val="0"/>
              </a:spcAft>
            </a:pPr>
            <a:r>
              <a:rPr sz="1700" b="1" i="0">
                <a:solidFill>
                  <a:srgbClr val="12181D"/>
                </a:solidFill>
                <a:latin typeface="Calibri"/>
              </a:rPr>
              <a:t>Marc</a:t>
            </a:r>
            <a:r>
              <a:rPr sz="1700" b="0" i="0">
                <a:solidFill>
                  <a:srgbClr val="12181D"/>
                </a:solidFill>
                <a:latin typeface="Calibri"/>
              </a:rPr>
              <a:t>, artisan à son compte : il veut refaire ses devis et le texte de son site.</a:t>
            </a:r>
          </a:p>
        </p:txBody>
      </p:sp>
      <p:sp>
        <p:nvSpPr>
          <p:cNvPr id="14" name="TextBox 13"/>
          <p:cNvSpPr txBox="1"/>
          <p:nvPr/>
        </p:nvSpPr>
        <p:spPr>
          <a:xfrm>
            <a:off x="777240" y="5149088"/>
            <a:ext cx="274320" cy="274320"/>
          </a:xfrm>
          <a:prstGeom prst="rect">
            <a:avLst/>
          </a:prstGeom>
          <a:noFill/>
        </p:spPr>
        <p:txBody>
          <a:bodyPr wrap="square" lIns="0" rIns="0" tIns="0" bIns="0" anchor="t">
            <a:spAutoFit/>
          </a:bodyPr>
          <a:lstStyle/>
          <a:p>
            <a:pPr algn="l">
              <a:lnSpc>
                <a:spcPct val="112000"/>
              </a:lnSpc>
              <a:spcAft>
                <a:spcPts val="0"/>
              </a:spcAft>
            </a:pPr>
            <a:r>
              <a:rPr sz="1700" b="1" i="0">
                <a:solidFill>
                  <a:srgbClr val="0B655E"/>
                </a:solidFill>
                <a:latin typeface="Calibri"/>
              </a:rPr>
              <a:t>—</a:t>
            </a:r>
          </a:p>
        </p:txBody>
      </p:sp>
      <p:sp>
        <p:nvSpPr>
          <p:cNvPr id="15" name="TextBox 14"/>
          <p:cNvSpPr txBox="1"/>
          <p:nvPr/>
        </p:nvSpPr>
        <p:spPr>
          <a:xfrm>
            <a:off x="1088136" y="5149088"/>
            <a:ext cx="5632704" cy="365760"/>
          </a:xfrm>
          <a:prstGeom prst="rect">
            <a:avLst/>
          </a:prstGeom>
          <a:noFill/>
        </p:spPr>
        <p:txBody>
          <a:bodyPr wrap="square" lIns="0" rIns="0" tIns="0" bIns="0" anchor="t">
            <a:spAutoFit/>
          </a:bodyPr>
          <a:lstStyle/>
          <a:p>
            <a:pPr algn="l">
              <a:lnSpc>
                <a:spcPct val="114000"/>
              </a:lnSpc>
              <a:spcAft>
                <a:spcPts val="0"/>
              </a:spcAft>
            </a:pPr>
            <a:r>
              <a:rPr sz="1700" b="1" i="0">
                <a:solidFill>
                  <a:srgbClr val="12181D"/>
                </a:solidFill>
                <a:latin typeface="Calibri"/>
              </a:rPr>
              <a:t>Nadia</a:t>
            </a:r>
            <a:r>
              <a:rPr sz="1700" b="0" i="0">
                <a:solidFill>
                  <a:srgbClr val="12181D"/>
                </a:solidFill>
                <a:latin typeface="Calibri"/>
              </a:rPr>
              <a:t>, agent en mairie : elle doit résumer les comptes rendus du conseil municipal.</a:t>
            </a:r>
          </a:p>
        </p:txBody>
      </p:sp>
      <p:sp>
        <p:nvSpPr>
          <p:cNvPr id="16" name="TextBox 15"/>
          <p:cNvSpPr txBox="1"/>
          <p:nvPr/>
        </p:nvSpPr>
        <p:spPr>
          <a:xfrm>
            <a:off x="777240" y="5976112"/>
            <a:ext cx="274320" cy="274320"/>
          </a:xfrm>
          <a:prstGeom prst="rect">
            <a:avLst/>
          </a:prstGeom>
          <a:noFill/>
        </p:spPr>
        <p:txBody>
          <a:bodyPr wrap="square" lIns="0" rIns="0" tIns="0" bIns="0" anchor="t">
            <a:spAutoFit/>
          </a:bodyPr>
          <a:lstStyle/>
          <a:p>
            <a:pPr algn="l">
              <a:lnSpc>
                <a:spcPct val="112000"/>
              </a:lnSpc>
              <a:spcAft>
                <a:spcPts val="0"/>
              </a:spcAft>
            </a:pPr>
            <a:r>
              <a:rPr sz="1700" b="1" i="0">
                <a:solidFill>
                  <a:srgbClr val="0B655E"/>
                </a:solidFill>
                <a:latin typeface="Calibri"/>
              </a:rPr>
              <a:t>—</a:t>
            </a:r>
          </a:p>
        </p:txBody>
      </p:sp>
      <p:sp>
        <p:nvSpPr>
          <p:cNvPr id="17" name="TextBox 16"/>
          <p:cNvSpPr txBox="1"/>
          <p:nvPr/>
        </p:nvSpPr>
        <p:spPr>
          <a:xfrm>
            <a:off x="1088136" y="5976112"/>
            <a:ext cx="5632704" cy="365760"/>
          </a:xfrm>
          <a:prstGeom prst="rect">
            <a:avLst/>
          </a:prstGeom>
          <a:noFill/>
        </p:spPr>
        <p:txBody>
          <a:bodyPr wrap="square" lIns="0" rIns="0" tIns="0" bIns="0" anchor="t">
            <a:spAutoFit/>
          </a:bodyPr>
          <a:lstStyle/>
          <a:p>
            <a:pPr algn="l">
              <a:lnSpc>
                <a:spcPct val="114000"/>
              </a:lnSpc>
              <a:spcAft>
                <a:spcPts val="0"/>
              </a:spcAft>
            </a:pPr>
            <a:r>
              <a:rPr sz="1700" b="0" i="0">
                <a:solidFill>
                  <a:srgbClr val="12181D"/>
                </a:solidFill>
                <a:latin typeface="Calibri"/>
              </a:rPr>
              <a:t>Posez-vous les quatre questions </a:t>
            </a:r>
            <a:r>
              <a:rPr sz="1700" b="1" i="0">
                <a:solidFill>
                  <a:srgbClr val="12181D"/>
                </a:solidFill>
                <a:latin typeface="Calibri"/>
              </a:rPr>
              <a:t>à sa place</a:t>
            </a:r>
            <a:r>
              <a:rPr sz="1700" b="0" i="0">
                <a:solidFill>
                  <a:srgbClr val="12181D"/>
                </a:solidFill>
                <a:latin typeface="Calibri"/>
              </a:rPr>
              <a:t>, puis dites-lui quelle famille d'outils lui convient. </a:t>
            </a:r>
            <a:r>
              <a:rPr sz="1700" b="1" i="0">
                <a:solidFill>
                  <a:srgbClr val="12181D"/>
                </a:solidFill>
                <a:latin typeface="Calibri"/>
              </a:rPr>
              <a:t>Trois minutes pour raconter.</a:t>
            </a:r>
          </a:p>
        </p:txBody>
      </p:sp>
      <p:sp>
        <p:nvSpPr>
          <p:cNvPr id="18" name="Rectangle 17"/>
          <p:cNvSpPr/>
          <p:nvPr/>
        </p:nvSpPr>
        <p:spPr>
          <a:xfrm>
            <a:off x="7269479" y="2286000"/>
            <a:ext cx="4144975" cy="3383280"/>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269479" y="2286000"/>
            <a:ext cx="41148" cy="3383280"/>
          </a:xfrm>
          <a:prstGeom prst="rect">
            <a:avLst/>
          </a:prstGeom>
          <a:solidFill>
            <a:srgbClr val="0B6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525511" y="2487168"/>
            <a:ext cx="3687775" cy="228600"/>
          </a:xfrm>
          <a:prstGeom prst="rect">
            <a:avLst/>
          </a:prstGeom>
          <a:noFill/>
        </p:spPr>
        <p:txBody>
          <a:bodyPr wrap="square" lIns="0" rIns="0" tIns="0" bIns="0" anchor="t">
            <a:spAutoFit/>
          </a:bodyPr>
          <a:lstStyle/>
          <a:p>
            <a:pPr algn="l">
              <a:lnSpc>
                <a:spcPct val="112000"/>
              </a:lnSpc>
              <a:spcAft>
                <a:spcPts val="0"/>
              </a:spcAft>
            </a:pPr>
            <a:r>
              <a:rPr sz="1000" b="1" i="0" spc="140">
                <a:solidFill>
                  <a:srgbClr val="0B655E"/>
                </a:solidFill>
                <a:latin typeface="Consolas"/>
              </a:rPr>
              <a:t>DÉBRIEF EN GRAND GROUPE</a:t>
            </a:r>
          </a:p>
        </p:txBody>
      </p:sp>
      <p:sp>
        <p:nvSpPr>
          <p:cNvPr id="21" name="TextBox 20"/>
          <p:cNvSpPr txBox="1"/>
          <p:nvPr/>
        </p:nvSpPr>
        <p:spPr>
          <a:xfrm>
            <a:off x="7525511" y="2816352"/>
            <a:ext cx="3687775" cy="2651760"/>
          </a:xfrm>
          <a:prstGeom prst="rect">
            <a:avLst/>
          </a:prstGeom>
          <a:noFill/>
        </p:spPr>
        <p:txBody>
          <a:bodyPr wrap="square" lIns="0" rIns="0" tIns="0" bIns="0" anchor="t">
            <a:spAutoFit/>
          </a:bodyPr>
          <a:lstStyle/>
          <a:p>
            <a:pPr algn="l">
              <a:lnSpc>
                <a:spcPct val="120000"/>
              </a:lnSpc>
              <a:spcAft>
                <a:spcPts val="0"/>
              </a:spcAft>
            </a:pPr>
            <a:r>
              <a:rPr sz="1600" b="0" i="0">
                <a:solidFill>
                  <a:srgbClr val="545F69"/>
                </a:solidFill>
                <a:latin typeface="Calibri"/>
              </a:rPr>
              <a:t>Les trois groupes ne donneront pas le même conseil, et c'est le résultat attendu. Faites dire </a:t>
            </a:r>
            <a:r>
              <a:rPr sz="1600" b="1" i="0">
                <a:solidFill>
                  <a:srgbClr val="12181D"/>
                </a:solidFill>
                <a:latin typeface="Calibri"/>
              </a:rPr>
              <a:t>quelle question a tranché</a:t>
            </a:r>
            <a:r>
              <a:rPr sz="1600" b="0" i="0">
                <a:solidFill>
                  <a:srgbClr val="545F69"/>
                </a:solidFill>
                <a:latin typeface="Calibri"/>
              </a:rPr>
              <a:t> : pour Sophie ce sont les données personnelles, pour Marc le prix, pour Nadia le lieu d'hébergement.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4EF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0B6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60120" y="1463040"/>
            <a:ext cx="7315200" cy="274320"/>
          </a:xfrm>
          <a:prstGeom prst="rect">
            <a:avLst/>
          </a:prstGeom>
          <a:noFill/>
        </p:spPr>
        <p:txBody>
          <a:bodyPr wrap="square" lIns="0" rIns="0" tIns="0" bIns="0" anchor="t">
            <a:spAutoFit/>
          </a:bodyPr>
          <a:lstStyle/>
          <a:p>
            <a:pPr algn="l">
              <a:lnSpc>
                <a:spcPct val="112000"/>
              </a:lnSpc>
              <a:spcAft>
                <a:spcPts val="0"/>
              </a:spcAft>
            </a:pPr>
            <a:r>
              <a:rPr sz="1200" b="1" i="0" spc="180">
                <a:solidFill>
                  <a:srgbClr val="0B655E"/>
                </a:solidFill>
                <a:latin typeface="Consolas"/>
              </a:rPr>
              <a:t>JOUR 1 · SÉQUENCE 7</a:t>
            </a:r>
          </a:p>
        </p:txBody>
      </p:sp>
      <p:sp>
        <p:nvSpPr>
          <p:cNvPr id="5" name="TextBox 4"/>
          <p:cNvSpPr txBox="1"/>
          <p:nvPr/>
        </p:nvSpPr>
        <p:spPr>
          <a:xfrm>
            <a:off x="960120" y="1965960"/>
            <a:ext cx="9601200" cy="2011680"/>
          </a:xfrm>
          <a:prstGeom prst="rect">
            <a:avLst/>
          </a:prstGeom>
          <a:noFill/>
        </p:spPr>
        <p:txBody>
          <a:bodyPr wrap="square" lIns="0" rIns="0" tIns="0" bIns="0" anchor="t">
            <a:spAutoFit/>
          </a:bodyPr>
          <a:lstStyle/>
          <a:p>
            <a:pPr algn="l">
              <a:lnSpc>
                <a:spcPct val="95000"/>
              </a:lnSpc>
              <a:spcAft>
                <a:spcPts val="0"/>
              </a:spcAft>
            </a:pPr>
            <a:r>
              <a:rPr sz="5000" b="1" i="0">
                <a:solidFill>
                  <a:srgbClr val="12181D"/>
                </a:solidFill>
                <a:latin typeface="Trebuchet MS"/>
              </a:rPr>
              <a:t>Données, droit et cadre</a:t>
            </a:r>
          </a:p>
        </p:txBody>
      </p:sp>
      <p:sp>
        <p:nvSpPr>
          <p:cNvPr id="6" name="Rectangle 5"/>
          <p:cNvSpPr/>
          <p:nvPr/>
        </p:nvSpPr>
        <p:spPr>
          <a:xfrm>
            <a:off x="960120" y="4114800"/>
            <a:ext cx="1463040" cy="41148"/>
          </a:xfrm>
          <a:prstGeom prst="rect">
            <a:avLst/>
          </a:prstGeom>
          <a:solidFill>
            <a:srgbClr val="0B6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60120" y="4480560"/>
            <a:ext cx="8595360" cy="1097280"/>
          </a:xfrm>
          <a:prstGeom prst="rect">
            <a:avLst/>
          </a:prstGeom>
          <a:noFill/>
        </p:spPr>
        <p:txBody>
          <a:bodyPr wrap="square" lIns="0" rIns="0" tIns="0" bIns="0" anchor="t">
            <a:spAutoFit/>
          </a:bodyPr>
          <a:lstStyle/>
          <a:p>
            <a:pPr algn="l">
              <a:lnSpc>
                <a:spcPct val="132000"/>
              </a:lnSpc>
              <a:spcAft>
                <a:spcPts val="0"/>
              </a:spcAft>
            </a:pPr>
            <a:r>
              <a:rPr sz="2000" b="0" i="0">
                <a:solidFill>
                  <a:srgbClr val="545F69"/>
                </a:solidFill>
                <a:latin typeface="Calibri"/>
              </a:rPr>
              <a:t>La séquence qu'on rogne toujours quand on a pris du retard. C'est celle qui lève les freins — et celle qui vous protège.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5-trois-feux.png"/>
          <p:cNvPicPr>
            <a:picLocks noChangeAspect="1"/>
          </p:cNvPicPr>
          <p:nvPr/>
        </p:nvPicPr>
        <p:blipFill>
          <a:blip r:embed="rId2"/>
          <a:stretch>
            <a:fillRect/>
          </a:stretch>
        </p:blipFill>
        <p:spPr>
          <a:xfrm>
            <a:off x="0" y="0"/>
            <a:ext cx="12191695" cy="6857828"/>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77240" y="402336"/>
            <a:ext cx="10637215" cy="32004"/>
          </a:xfrm>
          <a:prstGeom prst="rect">
            <a:avLst/>
          </a:prstGeom>
          <a:solidFill>
            <a:srgbClr val="12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77240" y="502920"/>
            <a:ext cx="10637215" cy="274320"/>
          </a:xfrm>
          <a:prstGeom prst="rect">
            <a:avLst/>
          </a:prstGeom>
          <a:noFill/>
        </p:spPr>
        <p:txBody>
          <a:bodyPr wrap="square" lIns="0" rIns="0" tIns="0" bIns="0" anchor="t">
            <a:spAutoFit/>
          </a:bodyPr>
          <a:lstStyle/>
          <a:p>
            <a:pPr algn="l">
              <a:lnSpc>
                <a:spcPct val="112000"/>
              </a:lnSpc>
              <a:spcAft>
                <a:spcPts val="0"/>
              </a:spcAft>
            </a:pPr>
            <a:r>
              <a:rPr sz="1050" b="1" i="0" spc="150">
                <a:solidFill>
                  <a:srgbClr val="8A5A00"/>
                </a:solidFill>
                <a:latin typeface="Consolas"/>
              </a:rPr>
              <a:t>CONFIDENTIALITÉ</a:t>
            </a:r>
          </a:p>
        </p:txBody>
      </p:sp>
      <p:sp>
        <p:nvSpPr>
          <p:cNvPr id="4" name="TextBox 3"/>
          <p:cNvSpPr txBox="1"/>
          <p:nvPr/>
        </p:nvSpPr>
        <p:spPr>
          <a:xfrm>
            <a:off x="777240" y="868680"/>
            <a:ext cx="10637215" cy="1371600"/>
          </a:xfrm>
          <a:prstGeom prst="rect">
            <a:avLst/>
          </a:prstGeom>
          <a:noFill/>
        </p:spPr>
        <p:txBody>
          <a:bodyPr wrap="square" lIns="0" rIns="0" tIns="0" bIns="0" anchor="t">
            <a:spAutoFit/>
          </a:bodyPr>
          <a:lstStyle/>
          <a:p>
            <a:pPr algn="l">
              <a:lnSpc>
                <a:spcPct val="95000"/>
              </a:lnSpc>
              <a:spcAft>
                <a:spcPts val="0"/>
              </a:spcAft>
            </a:pPr>
            <a:r>
              <a:rPr sz="3800" b="1" i="0">
                <a:solidFill>
                  <a:srgbClr val="12181D"/>
                </a:solidFill>
                <a:latin typeface="Trebuchet MS"/>
              </a:rPr>
              <a:t>Ce que devient ce que vous collez</a:t>
            </a:r>
          </a:p>
        </p:txBody>
      </p:sp>
      <p:sp>
        <p:nvSpPr>
          <p:cNvPr id="5" name="TextBox 4"/>
          <p:cNvSpPr txBox="1"/>
          <p:nvPr/>
        </p:nvSpPr>
        <p:spPr>
          <a:xfrm>
            <a:off x="777240" y="2331720"/>
            <a:ext cx="274320" cy="274320"/>
          </a:xfrm>
          <a:prstGeom prst="rect">
            <a:avLst/>
          </a:prstGeom>
          <a:noFill/>
        </p:spPr>
        <p:txBody>
          <a:bodyPr wrap="square" lIns="0" rIns="0" tIns="0" bIns="0" anchor="t">
            <a:spAutoFit/>
          </a:bodyPr>
          <a:lstStyle/>
          <a:p>
            <a:pPr algn="l">
              <a:lnSpc>
                <a:spcPct val="112000"/>
              </a:lnSpc>
              <a:spcAft>
                <a:spcPts val="0"/>
              </a:spcAft>
            </a:pPr>
            <a:r>
              <a:rPr sz="1650" b="1" i="0">
                <a:solidFill>
                  <a:srgbClr val="8A5A00"/>
                </a:solidFill>
                <a:latin typeface="Calibri"/>
              </a:rPr>
              <a:t>—</a:t>
            </a:r>
          </a:p>
        </p:txBody>
      </p:sp>
      <p:sp>
        <p:nvSpPr>
          <p:cNvPr id="6" name="TextBox 5"/>
          <p:cNvSpPr txBox="1"/>
          <p:nvPr/>
        </p:nvSpPr>
        <p:spPr>
          <a:xfrm>
            <a:off x="1088136" y="2331720"/>
            <a:ext cx="5724144" cy="365760"/>
          </a:xfrm>
          <a:prstGeom prst="rect">
            <a:avLst/>
          </a:prstGeom>
          <a:noFill/>
        </p:spPr>
        <p:txBody>
          <a:bodyPr wrap="square" lIns="0" rIns="0" tIns="0" bIns="0" anchor="t">
            <a:spAutoFit/>
          </a:bodyPr>
          <a:lstStyle/>
          <a:p>
            <a:pPr algn="l">
              <a:lnSpc>
                <a:spcPct val="114000"/>
              </a:lnSpc>
              <a:spcAft>
                <a:spcPts val="0"/>
              </a:spcAft>
            </a:pPr>
            <a:r>
              <a:rPr sz="1650" b="0" i="0">
                <a:solidFill>
                  <a:srgbClr val="545F69"/>
                </a:solidFill>
                <a:latin typeface="Calibri"/>
              </a:rPr>
              <a:t>Dans une offre </a:t>
            </a:r>
            <a:r>
              <a:rPr sz="1650" b="1" i="0">
                <a:solidFill>
                  <a:srgbClr val="12181D"/>
                </a:solidFill>
                <a:latin typeface="Calibri"/>
              </a:rPr>
              <a:t>grand public</a:t>
            </a:r>
            <a:r>
              <a:rPr sz="1650" b="0" i="0">
                <a:solidFill>
                  <a:srgbClr val="545F69"/>
                </a:solidFill>
                <a:latin typeface="Calibri"/>
              </a:rPr>
              <a:t>, vos conversations peuvent être conservées, relues par des humains pour le contrôle qualité, et servir à améliorer le modèle. C'est écrit dans les conditions d'utilisation, et c'est souvent désactivable dans les réglages.</a:t>
            </a:r>
          </a:p>
        </p:txBody>
      </p:sp>
      <p:sp>
        <p:nvSpPr>
          <p:cNvPr id="7" name="TextBox 6"/>
          <p:cNvSpPr txBox="1"/>
          <p:nvPr/>
        </p:nvSpPr>
        <p:spPr>
          <a:xfrm>
            <a:off x="777240" y="3947160"/>
            <a:ext cx="274320" cy="274320"/>
          </a:xfrm>
          <a:prstGeom prst="rect">
            <a:avLst/>
          </a:prstGeom>
          <a:noFill/>
        </p:spPr>
        <p:txBody>
          <a:bodyPr wrap="square" lIns="0" rIns="0" tIns="0" bIns="0" anchor="t">
            <a:spAutoFit/>
          </a:bodyPr>
          <a:lstStyle/>
          <a:p>
            <a:pPr algn="l">
              <a:lnSpc>
                <a:spcPct val="112000"/>
              </a:lnSpc>
              <a:spcAft>
                <a:spcPts val="0"/>
              </a:spcAft>
            </a:pPr>
            <a:r>
              <a:rPr sz="1650" b="1" i="0">
                <a:solidFill>
                  <a:srgbClr val="8A5A00"/>
                </a:solidFill>
                <a:latin typeface="Calibri"/>
              </a:rPr>
              <a:t>—</a:t>
            </a:r>
          </a:p>
        </p:txBody>
      </p:sp>
      <p:sp>
        <p:nvSpPr>
          <p:cNvPr id="8" name="TextBox 7"/>
          <p:cNvSpPr txBox="1"/>
          <p:nvPr/>
        </p:nvSpPr>
        <p:spPr>
          <a:xfrm>
            <a:off x="1088136" y="3947160"/>
            <a:ext cx="5724144" cy="365760"/>
          </a:xfrm>
          <a:prstGeom prst="rect">
            <a:avLst/>
          </a:prstGeom>
          <a:noFill/>
        </p:spPr>
        <p:txBody>
          <a:bodyPr wrap="square" lIns="0" rIns="0" tIns="0" bIns="0" anchor="t">
            <a:spAutoFit/>
          </a:bodyPr>
          <a:lstStyle/>
          <a:p>
            <a:pPr algn="l">
              <a:lnSpc>
                <a:spcPct val="114000"/>
              </a:lnSpc>
              <a:spcAft>
                <a:spcPts val="0"/>
              </a:spcAft>
            </a:pPr>
            <a:r>
              <a:rPr sz="1650" b="0" i="0">
                <a:solidFill>
                  <a:srgbClr val="545F69"/>
                </a:solidFill>
                <a:latin typeface="Calibri"/>
              </a:rPr>
              <a:t>Dans une offre </a:t>
            </a:r>
            <a:r>
              <a:rPr sz="1650" b="1" i="0">
                <a:solidFill>
                  <a:srgbClr val="12181D"/>
                </a:solidFill>
                <a:latin typeface="Calibri"/>
              </a:rPr>
              <a:t>entreprise</a:t>
            </a:r>
            <a:r>
              <a:rPr sz="1650" b="0" i="0">
                <a:solidFill>
                  <a:srgbClr val="545F69"/>
                </a:solidFill>
                <a:latin typeface="Calibri"/>
              </a:rPr>
              <a:t>, l'éditeur s'engage contractuellement à ne pas entraîner ses modèles sur vos données. C'est la différence principale entre les deux, bien plus que les fonctionnalités.</a:t>
            </a:r>
          </a:p>
        </p:txBody>
      </p:sp>
      <p:sp>
        <p:nvSpPr>
          <p:cNvPr id="9" name="TextBox 8"/>
          <p:cNvSpPr txBox="1"/>
          <p:nvPr/>
        </p:nvSpPr>
        <p:spPr>
          <a:xfrm>
            <a:off x="777240" y="5294376"/>
            <a:ext cx="274320" cy="274320"/>
          </a:xfrm>
          <a:prstGeom prst="rect">
            <a:avLst/>
          </a:prstGeom>
          <a:noFill/>
        </p:spPr>
        <p:txBody>
          <a:bodyPr wrap="square" lIns="0" rIns="0" tIns="0" bIns="0" anchor="t">
            <a:spAutoFit/>
          </a:bodyPr>
          <a:lstStyle/>
          <a:p>
            <a:pPr algn="l">
              <a:lnSpc>
                <a:spcPct val="112000"/>
              </a:lnSpc>
              <a:spcAft>
                <a:spcPts val="0"/>
              </a:spcAft>
            </a:pPr>
            <a:r>
              <a:rPr sz="1650" b="1" i="0">
                <a:solidFill>
                  <a:srgbClr val="8A5A00"/>
                </a:solidFill>
                <a:latin typeface="Calibri"/>
              </a:rPr>
              <a:t>—</a:t>
            </a:r>
          </a:p>
        </p:txBody>
      </p:sp>
      <p:sp>
        <p:nvSpPr>
          <p:cNvPr id="10" name="TextBox 9"/>
          <p:cNvSpPr txBox="1"/>
          <p:nvPr/>
        </p:nvSpPr>
        <p:spPr>
          <a:xfrm>
            <a:off x="1088136" y="5294376"/>
            <a:ext cx="5724144" cy="365760"/>
          </a:xfrm>
          <a:prstGeom prst="rect">
            <a:avLst/>
          </a:prstGeom>
          <a:noFill/>
        </p:spPr>
        <p:txBody>
          <a:bodyPr wrap="square" lIns="0" rIns="0" tIns="0" bIns="0" anchor="t">
            <a:spAutoFit/>
          </a:bodyPr>
          <a:lstStyle/>
          <a:p>
            <a:pPr algn="l">
              <a:lnSpc>
                <a:spcPct val="114000"/>
              </a:lnSpc>
              <a:spcAft>
                <a:spcPts val="0"/>
              </a:spcAft>
            </a:pPr>
            <a:r>
              <a:rPr sz="1650" b="1" i="0">
                <a:solidFill>
                  <a:srgbClr val="12181D"/>
                </a:solidFill>
                <a:latin typeface="Calibri"/>
              </a:rPr>
              <a:t>Le réflexe à prendre aujourd'hui</a:t>
            </a:r>
            <a:r>
              <a:rPr sz="1650" b="0" i="0">
                <a:solidFill>
                  <a:srgbClr val="545F69"/>
                </a:solidFill>
                <a:latin typeface="Calibri"/>
              </a:rPr>
              <a:t> : ouvrez les paramètres de votre outil et cherchez l'option d'amélioration du modèle. Désactivez-la. Deux minutes, tout de suite.</a:t>
            </a:r>
          </a:p>
        </p:txBody>
      </p:sp>
      <p:sp>
        <p:nvSpPr>
          <p:cNvPr id="11" name="Rectangle 10"/>
          <p:cNvSpPr/>
          <p:nvPr/>
        </p:nvSpPr>
        <p:spPr>
          <a:xfrm>
            <a:off x="7269479" y="2286000"/>
            <a:ext cx="4144975" cy="3291840"/>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269479" y="2286000"/>
            <a:ext cx="41148" cy="3291840"/>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525511" y="2487168"/>
            <a:ext cx="3687775" cy="228600"/>
          </a:xfrm>
          <a:prstGeom prst="rect">
            <a:avLst/>
          </a:prstGeom>
          <a:noFill/>
        </p:spPr>
        <p:txBody>
          <a:bodyPr wrap="square" lIns="0" rIns="0" tIns="0" bIns="0" anchor="t">
            <a:spAutoFit/>
          </a:bodyPr>
          <a:lstStyle/>
          <a:p>
            <a:pPr algn="l">
              <a:lnSpc>
                <a:spcPct val="112000"/>
              </a:lnSpc>
              <a:spcAft>
                <a:spcPts val="0"/>
              </a:spcAft>
            </a:pPr>
            <a:r>
              <a:rPr sz="1000" b="1" i="0" spc="140">
                <a:solidFill>
                  <a:srgbClr val="8A5A00"/>
                </a:solidFill>
                <a:latin typeface="Consolas"/>
              </a:rPr>
              <a:t>À FAIRE VÉRIFIER PAR LE CLIENT</a:t>
            </a:r>
          </a:p>
        </p:txBody>
      </p:sp>
      <p:sp>
        <p:nvSpPr>
          <p:cNvPr id="14" name="TextBox 13"/>
          <p:cNvSpPr txBox="1"/>
          <p:nvPr/>
        </p:nvSpPr>
        <p:spPr>
          <a:xfrm>
            <a:off x="7525511" y="2816352"/>
            <a:ext cx="3687775" cy="2560320"/>
          </a:xfrm>
          <a:prstGeom prst="rect">
            <a:avLst/>
          </a:prstGeom>
          <a:noFill/>
        </p:spPr>
        <p:txBody>
          <a:bodyPr wrap="square" lIns="0" rIns="0" tIns="0" bIns="0" anchor="t">
            <a:spAutoFit/>
          </a:bodyPr>
          <a:lstStyle/>
          <a:p>
            <a:pPr algn="l">
              <a:lnSpc>
                <a:spcPct val="120000"/>
              </a:lnSpc>
              <a:spcAft>
                <a:spcPts val="0"/>
              </a:spcAft>
            </a:pPr>
            <a:r>
              <a:rPr sz="1500" b="0" i="0">
                <a:solidFill>
                  <a:srgbClr val="545F69"/>
                </a:solidFill>
                <a:latin typeface="Calibri"/>
              </a:rPr>
              <a:t>Quel outil est officiellement autorisé chez vous ?</a:t>
            </a:r>
          </a:p>
          <a:p>
            <a:pPr algn="l">
              <a:lnSpc>
                <a:spcPct val="120000"/>
              </a:lnSpc>
              <a:spcAft>
                <a:spcPts val="0"/>
              </a:spcAft>
            </a:pPr>
          </a:p>
          <a:p>
            <a:pPr algn="l">
              <a:lnSpc>
                <a:spcPct val="120000"/>
              </a:lnSpc>
              <a:spcAft>
                <a:spcPts val="0"/>
              </a:spcAft>
            </a:pPr>
            <a:r>
              <a:rPr sz="1500" b="0" i="0">
                <a:solidFill>
                  <a:srgbClr val="545F69"/>
                </a:solidFill>
                <a:latin typeface="Calibri"/>
              </a:rPr>
              <a:t>Beaucoup d'organisations n'ont jamais tranché — et l'absence de réponse pousse les équipes vers les comptes personnels.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77240" y="402336"/>
            <a:ext cx="10637215" cy="32004"/>
          </a:xfrm>
          <a:prstGeom prst="rect">
            <a:avLst/>
          </a:prstGeom>
          <a:solidFill>
            <a:srgbClr val="12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77240" y="502920"/>
            <a:ext cx="10637215" cy="274320"/>
          </a:xfrm>
          <a:prstGeom prst="rect">
            <a:avLst/>
          </a:prstGeom>
          <a:noFill/>
        </p:spPr>
        <p:txBody>
          <a:bodyPr wrap="square" lIns="0" rIns="0" tIns="0" bIns="0" anchor="t">
            <a:spAutoFit/>
          </a:bodyPr>
          <a:lstStyle/>
          <a:p>
            <a:pPr algn="l">
              <a:lnSpc>
                <a:spcPct val="112000"/>
              </a:lnSpc>
              <a:spcAft>
                <a:spcPts val="0"/>
              </a:spcAft>
            </a:pPr>
            <a:r>
              <a:rPr sz="1050" b="1" i="0" spc="150">
                <a:solidFill>
                  <a:srgbClr val="8A5A00"/>
                </a:solidFill>
                <a:latin typeface="Consolas"/>
              </a:rPr>
              <a:t>CADRE LÉGAL</a:t>
            </a:r>
          </a:p>
        </p:txBody>
      </p:sp>
      <p:sp>
        <p:nvSpPr>
          <p:cNvPr id="4" name="TextBox 3"/>
          <p:cNvSpPr txBox="1"/>
          <p:nvPr/>
        </p:nvSpPr>
        <p:spPr>
          <a:xfrm>
            <a:off x="777240" y="868680"/>
            <a:ext cx="10637215" cy="1371600"/>
          </a:xfrm>
          <a:prstGeom prst="rect">
            <a:avLst/>
          </a:prstGeom>
          <a:noFill/>
        </p:spPr>
        <p:txBody>
          <a:bodyPr wrap="square" lIns="0" rIns="0" tIns="0" bIns="0" anchor="t">
            <a:spAutoFit/>
          </a:bodyPr>
          <a:lstStyle/>
          <a:p>
            <a:pPr algn="l">
              <a:lnSpc>
                <a:spcPct val="95000"/>
              </a:lnSpc>
              <a:spcAft>
                <a:spcPts val="0"/>
              </a:spcAft>
            </a:pPr>
            <a:r>
              <a:rPr sz="3800" b="1" i="0">
                <a:solidFill>
                  <a:srgbClr val="12181D"/>
                </a:solidFill>
                <a:latin typeface="Trebuchet MS"/>
              </a:rPr>
              <a:t>Ce que la loi vous demande déjà</a:t>
            </a:r>
          </a:p>
        </p:txBody>
      </p:sp>
      <p:sp>
        <p:nvSpPr>
          <p:cNvPr id="5" name="TextBox 4"/>
          <p:cNvSpPr txBox="1"/>
          <p:nvPr/>
        </p:nvSpPr>
        <p:spPr>
          <a:xfrm>
            <a:off x="777240" y="2240280"/>
            <a:ext cx="9052560" cy="914400"/>
          </a:xfrm>
          <a:prstGeom prst="rect">
            <a:avLst/>
          </a:prstGeom>
          <a:noFill/>
        </p:spPr>
        <p:txBody>
          <a:bodyPr wrap="square" lIns="0" rIns="0" tIns="0" bIns="0" anchor="t">
            <a:spAutoFit/>
          </a:bodyPr>
          <a:lstStyle/>
          <a:p>
            <a:pPr algn="l">
              <a:lnSpc>
                <a:spcPct val="110000"/>
              </a:lnSpc>
              <a:spcAft>
                <a:spcPts val="0"/>
              </a:spcAft>
            </a:pPr>
            <a:r>
              <a:rPr sz="2400" b="1" i="0">
                <a:solidFill>
                  <a:srgbClr val="8A5A00"/>
                </a:solidFill>
                <a:latin typeface="Trebuchet MS"/>
              </a:rPr>
              <a:t>Former vos équipes à l'IA est une obligation européenne depuis février 2025.</a:t>
            </a:r>
          </a:p>
        </p:txBody>
      </p:sp>
      <p:sp>
        <p:nvSpPr>
          <p:cNvPr id="6" name="TextBox 5"/>
          <p:cNvSpPr txBox="1"/>
          <p:nvPr/>
        </p:nvSpPr>
        <p:spPr>
          <a:xfrm>
            <a:off x="777240" y="3154680"/>
            <a:ext cx="274320" cy="274320"/>
          </a:xfrm>
          <a:prstGeom prst="rect">
            <a:avLst/>
          </a:prstGeom>
          <a:noFill/>
        </p:spPr>
        <p:txBody>
          <a:bodyPr wrap="square" lIns="0" rIns="0" tIns="0" bIns="0" anchor="t">
            <a:spAutoFit/>
          </a:bodyPr>
          <a:lstStyle/>
          <a:p>
            <a:pPr algn="l">
              <a:lnSpc>
                <a:spcPct val="112000"/>
              </a:lnSpc>
              <a:spcAft>
                <a:spcPts val="0"/>
              </a:spcAft>
            </a:pPr>
            <a:r>
              <a:rPr sz="1600" b="1" i="0">
                <a:solidFill>
                  <a:srgbClr val="8A5A00"/>
                </a:solidFill>
                <a:latin typeface="Calibri"/>
              </a:rPr>
              <a:t>—</a:t>
            </a:r>
          </a:p>
        </p:txBody>
      </p:sp>
      <p:sp>
        <p:nvSpPr>
          <p:cNvPr id="7" name="TextBox 6"/>
          <p:cNvSpPr txBox="1"/>
          <p:nvPr/>
        </p:nvSpPr>
        <p:spPr>
          <a:xfrm>
            <a:off x="1088136" y="3154680"/>
            <a:ext cx="8741664" cy="365760"/>
          </a:xfrm>
          <a:prstGeom prst="rect">
            <a:avLst/>
          </a:prstGeom>
          <a:noFill/>
        </p:spPr>
        <p:txBody>
          <a:bodyPr wrap="square" lIns="0" rIns="0" tIns="0" bIns="0" anchor="t">
            <a:spAutoFit/>
          </a:bodyPr>
          <a:lstStyle/>
          <a:p>
            <a:pPr algn="l">
              <a:lnSpc>
                <a:spcPct val="114000"/>
              </a:lnSpc>
              <a:spcAft>
                <a:spcPts val="0"/>
              </a:spcAft>
            </a:pPr>
            <a:r>
              <a:rPr sz="1600" b="1" i="0">
                <a:solidFill>
                  <a:srgbClr val="12181D"/>
                </a:solidFill>
                <a:latin typeface="Calibri"/>
              </a:rPr>
              <a:t>L'article 4 du règlement européen sur l'IA</a:t>
            </a:r>
            <a:r>
              <a:rPr sz="1600" b="0" i="0">
                <a:solidFill>
                  <a:srgbClr val="545F69"/>
                </a:solidFill>
                <a:latin typeface="Calibri"/>
              </a:rPr>
              <a:t> impose aux organisations qui déploient des systèmes d'IA de veiller à ce que leurs équipes sachent s'en servir. Cela vaut pour les salariés, mais aussi pour les prestataires qui travaillent pour eux.</a:t>
            </a:r>
          </a:p>
        </p:txBody>
      </p:sp>
      <p:sp>
        <p:nvSpPr>
          <p:cNvPr id="8" name="TextBox 7"/>
          <p:cNvSpPr txBox="1"/>
          <p:nvPr/>
        </p:nvSpPr>
        <p:spPr>
          <a:xfrm>
            <a:off x="777240" y="4209288"/>
            <a:ext cx="274320" cy="274320"/>
          </a:xfrm>
          <a:prstGeom prst="rect">
            <a:avLst/>
          </a:prstGeom>
          <a:noFill/>
        </p:spPr>
        <p:txBody>
          <a:bodyPr wrap="square" lIns="0" rIns="0" tIns="0" bIns="0" anchor="t">
            <a:spAutoFit/>
          </a:bodyPr>
          <a:lstStyle/>
          <a:p>
            <a:pPr algn="l">
              <a:lnSpc>
                <a:spcPct val="112000"/>
              </a:lnSpc>
              <a:spcAft>
                <a:spcPts val="0"/>
              </a:spcAft>
            </a:pPr>
            <a:r>
              <a:rPr sz="1600" b="1" i="0">
                <a:solidFill>
                  <a:srgbClr val="8A5A00"/>
                </a:solidFill>
                <a:latin typeface="Calibri"/>
              </a:rPr>
              <a:t>—</a:t>
            </a:r>
          </a:p>
        </p:txBody>
      </p:sp>
      <p:sp>
        <p:nvSpPr>
          <p:cNvPr id="9" name="TextBox 8"/>
          <p:cNvSpPr txBox="1"/>
          <p:nvPr/>
        </p:nvSpPr>
        <p:spPr>
          <a:xfrm>
            <a:off x="1088136" y="4209288"/>
            <a:ext cx="8741664" cy="365760"/>
          </a:xfrm>
          <a:prstGeom prst="rect">
            <a:avLst/>
          </a:prstGeom>
          <a:noFill/>
        </p:spPr>
        <p:txBody>
          <a:bodyPr wrap="square" lIns="0" rIns="0" tIns="0" bIns="0" anchor="t">
            <a:spAutoFit/>
          </a:bodyPr>
          <a:lstStyle/>
          <a:p>
            <a:pPr algn="l">
              <a:lnSpc>
                <a:spcPct val="114000"/>
              </a:lnSpc>
              <a:spcAft>
                <a:spcPts val="0"/>
              </a:spcAft>
            </a:pPr>
            <a:r>
              <a:rPr sz="1600" b="0" i="0">
                <a:solidFill>
                  <a:srgbClr val="545F69"/>
                </a:solidFill>
                <a:latin typeface="Calibri"/>
              </a:rPr>
              <a:t>La loi demande de faire des efforts, pas d'atteindre un résultat mesurable. </a:t>
            </a:r>
            <a:r>
              <a:rPr sz="1600" b="1" i="0">
                <a:solidFill>
                  <a:srgbClr val="12181D"/>
                </a:solidFill>
                <a:latin typeface="Calibri"/>
              </a:rPr>
              <a:t>Cette formation y répond</a:t>
            </a:r>
            <a:r>
              <a:rPr sz="1600" b="0" i="0">
                <a:solidFill>
                  <a:srgbClr val="545F69"/>
                </a:solidFill>
                <a:latin typeface="Calibri"/>
              </a:rPr>
              <a:t> : conservez l'attestation de participation.</a:t>
            </a:r>
          </a:p>
        </p:txBody>
      </p:sp>
      <p:sp>
        <p:nvSpPr>
          <p:cNvPr id="10" name="TextBox 9"/>
          <p:cNvSpPr txBox="1"/>
          <p:nvPr/>
        </p:nvSpPr>
        <p:spPr>
          <a:xfrm>
            <a:off x="777240" y="5003800"/>
            <a:ext cx="274320" cy="274320"/>
          </a:xfrm>
          <a:prstGeom prst="rect">
            <a:avLst/>
          </a:prstGeom>
          <a:noFill/>
        </p:spPr>
        <p:txBody>
          <a:bodyPr wrap="square" lIns="0" rIns="0" tIns="0" bIns="0" anchor="t">
            <a:spAutoFit/>
          </a:bodyPr>
          <a:lstStyle/>
          <a:p>
            <a:pPr algn="l">
              <a:lnSpc>
                <a:spcPct val="112000"/>
              </a:lnSpc>
              <a:spcAft>
                <a:spcPts val="0"/>
              </a:spcAft>
            </a:pPr>
            <a:r>
              <a:rPr sz="1600" b="1" i="0">
                <a:solidFill>
                  <a:srgbClr val="8A5A00"/>
                </a:solidFill>
                <a:latin typeface="Calibri"/>
              </a:rPr>
              <a:t>—</a:t>
            </a:r>
          </a:p>
        </p:txBody>
      </p:sp>
      <p:sp>
        <p:nvSpPr>
          <p:cNvPr id="11" name="TextBox 10"/>
          <p:cNvSpPr txBox="1"/>
          <p:nvPr/>
        </p:nvSpPr>
        <p:spPr>
          <a:xfrm>
            <a:off x="1088136" y="5003800"/>
            <a:ext cx="8741664" cy="365760"/>
          </a:xfrm>
          <a:prstGeom prst="rect">
            <a:avLst/>
          </a:prstGeom>
          <a:noFill/>
        </p:spPr>
        <p:txBody>
          <a:bodyPr wrap="square" lIns="0" rIns="0" tIns="0" bIns="0" anchor="t">
            <a:spAutoFit/>
          </a:bodyPr>
          <a:lstStyle/>
          <a:p>
            <a:pPr algn="l">
              <a:lnSpc>
                <a:spcPct val="114000"/>
              </a:lnSpc>
              <a:spcAft>
                <a:spcPts val="0"/>
              </a:spcAft>
            </a:pPr>
            <a:r>
              <a:rPr sz="1600" b="1" i="0">
                <a:solidFill>
                  <a:srgbClr val="12181D"/>
                </a:solidFill>
                <a:latin typeface="Calibri"/>
              </a:rPr>
              <a:t>Le RGPD continue de s'appliquer intégralement.</a:t>
            </a:r>
            <a:r>
              <a:rPr sz="1600" b="0" i="0">
                <a:solidFill>
                  <a:srgbClr val="545F69"/>
                </a:solidFill>
                <a:latin typeface="Calibri"/>
              </a:rPr>
              <a:t> Saisir des données personnelles dans un outil tiers est un transfert de données, avec tout ce que cela implique.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77240" y="402336"/>
            <a:ext cx="10637215" cy="32004"/>
          </a:xfrm>
          <a:prstGeom prst="rect">
            <a:avLst/>
          </a:prstGeom>
          <a:solidFill>
            <a:srgbClr val="12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77240" y="502920"/>
            <a:ext cx="10637215" cy="274320"/>
          </a:xfrm>
          <a:prstGeom prst="rect">
            <a:avLst/>
          </a:prstGeom>
          <a:noFill/>
        </p:spPr>
        <p:txBody>
          <a:bodyPr wrap="square" lIns="0" rIns="0" tIns="0" bIns="0" anchor="t">
            <a:spAutoFit/>
          </a:bodyPr>
          <a:lstStyle/>
          <a:p>
            <a:pPr algn="l">
              <a:lnSpc>
                <a:spcPct val="112000"/>
              </a:lnSpc>
              <a:spcAft>
                <a:spcPts val="0"/>
              </a:spcAft>
            </a:pPr>
            <a:r>
              <a:rPr sz="1050" b="1" i="0" spc="150">
                <a:solidFill>
                  <a:srgbClr val="8A5A00"/>
                </a:solidFill>
                <a:latin typeface="Consolas"/>
              </a:rPr>
              <a:t>CADRE LÉGAL</a:t>
            </a:r>
          </a:p>
        </p:txBody>
      </p:sp>
      <p:sp>
        <p:nvSpPr>
          <p:cNvPr id="4" name="TextBox 3"/>
          <p:cNvSpPr txBox="1"/>
          <p:nvPr/>
        </p:nvSpPr>
        <p:spPr>
          <a:xfrm>
            <a:off x="777240" y="868680"/>
            <a:ext cx="10637215" cy="1371600"/>
          </a:xfrm>
          <a:prstGeom prst="rect">
            <a:avLst/>
          </a:prstGeom>
          <a:noFill/>
        </p:spPr>
        <p:txBody>
          <a:bodyPr wrap="square" lIns="0" rIns="0" tIns="0" bIns="0" anchor="t">
            <a:spAutoFit/>
          </a:bodyPr>
          <a:lstStyle/>
          <a:p>
            <a:pPr algn="l">
              <a:lnSpc>
                <a:spcPct val="95000"/>
              </a:lnSpc>
              <a:spcAft>
                <a:spcPts val="0"/>
              </a:spcAft>
            </a:pPr>
            <a:r>
              <a:rPr sz="3800" b="1" i="0">
                <a:solidFill>
                  <a:srgbClr val="12181D"/>
                </a:solidFill>
                <a:latin typeface="Trebuchet MS"/>
              </a:rPr>
              <a:t>Droit d'auteur, biais, responsabilité</a:t>
            </a:r>
          </a:p>
        </p:txBody>
      </p:sp>
      <p:sp>
        <p:nvSpPr>
          <p:cNvPr id="5" name="TextBox 4"/>
          <p:cNvSpPr txBox="1"/>
          <p:nvPr/>
        </p:nvSpPr>
        <p:spPr>
          <a:xfrm>
            <a:off x="777240" y="2331720"/>
            <a:ext cx="274320" cy="274320"/>
          </a:xfrm>
          <a:prstGeom prst="rect">
            <a:avLst/>
          </a:prstGeom>
          <a:noFill/>
        </p:spPr>
        <p:txBody>
          <a:bodyPr wrap="square" lIns="0" rIns="0" tIns="0" bIns="0" anchor="t">
            <a:spAutoFit/>
          </a:bodyPr>
          <a:lstStyle/>
          <a:p>
            <a:pPr algn="l">
              <a:lnSpc>
                <a:spcPct val="112000"/>
              </a:lnSpc>
              <a:spcAft>
                <a:spcPts val="0"/>
              </a:spcAft>
            </a:pPr>
            <a:r>
              <a:rPr sz="1600" b="1" i="0">
                <a:solidFill>
                  <a:srgbClr val="8A5A00"/>
                </a:solidFill>
                <a:latin typeface="Calibri"/>
              </a:rPr>
              <a:t>—</a:t>
            </a:r>
          </a:p>
        </p:txBody>
      </p:sp>
      <p:sp>
        <p:nvSpPr>
          <p:cNvPr id="6" name="TextBox 5"/>
          <p:cNvSpPr txBox="1"/>
          <p:nvPr/>
        </p:nvSpPr>
        <p:spPr>
          <a:xfrm>
            <a:off x="1088136" y="2331720"/>
            <a:ext cx="8741664" cy="365760"/>
          </a:xfrm>
          <a:prstGeom prst="rect">
            <a:avLst/>
          </a:prstGeom>
          <a:noFill/>
        </p:spPr>
        <p:txBody>
          <a:bodyPr wrap="square" lIns="0" rIns="0" tIns="0" bIns="0" anchor="t">
            <a:spAutoFit/>
          </a:bodyPr>
          <a:lstStyle/>
          <a:p>
            <a:pPr algn="l">
              <a:lnSpc>
                <a:spcPct val="114000"/>
              </a:lnSpc>
              <a:spcAft>
                <a:spcPts val="0"/>
              </a:spcAft>
            </a:pPr>
            <a:r>
              <a:rPr sz="1600" b="1" i="0">
                <a:solidFill>
                  <a:srgbClr val="12181D"/>
                </a:solidFill>
                <a:latin typeface="Calibri"/>
              </a:rPr>
              <a:t>Les images générées</a:t>
            </a:r>
            <a:r>
              <a:rPr sz="1600" b="0" i="0">
                <a:solidFill>
                  <a:srgbClr val="545F69"/>
                </a:solidFill>
                <a:latin typeface="Calibri"/>
              </a:rPr>
              <a:t> : le statut juridique reste discuté en Europe, et les conditions varient d'un outil à l'autre. Pour un usage commercial, vérifiez la licence de l'outil — et méfiez-vous des styles imitant un artiste identifiable.</a:t>
            </a:r>
          </a:p>
        </p:txBody>
      </p:sp>
      <p:sp>
        <p:nvSpPr>
          <p:cNvPr id="7" name="TextBox 6"/>
          <p:cNvSpPr txBox="1"/>
          <p:nvPr/>
        </p:nvSpPr>
        <p:spPr>
          <a:xfrm>
            <a:off x="777240" y="3386328"/>
            <a:ext cx="274320" cy="274320"/>
          </a:xfrm>
          <a:prstGeom prst="rect">
            <a:avLst/>
          </a:prstGeom>
          <a:noFill/>
        </p:spPr>
        <p:txBody>
          <a:bodyPr wrap="square" lIns="0" rIns="0" tIns="0" bIns="0" anchor="t">
            <a:spAutoFit/>
          </a:bodyPr>
          <a:lstStyle/>
          <a:p>
            <a:pPr algn="l">
              <a:lnSpc>
                <a:spcPct val="112000"/>
              </a:lnSpc>
              <a:spcAft>
                <a:spcPts val="0"/>
              </a:spcAft>
            </a:pPr>
            <a:r>
              <a:rPr sz="1600" b="1" i="0">
                <a:solidFill>
                  <a:srgbClr val="8A5A00"/>
                </a:solidFill>
                <a:latin typeface="Calibri"/>
              </a:rPr>
              <a:t>—</a:t>
            </a:r>
          </a:p>
        </p:txBody>
      </p:sp>
      <p:sp>
        <p:nvSpPr>
          <p:cNvPr id="8" name="TextBox 7"/>
          <p:cNvSpPr txBox="1"/>
          <p:nvPr/>
        </p:nvSpPr>
        <p:spPr>
          <a:xfrm>
            <a:off x="1088136" y="3386328"/>
            <a:ext cx="8741664" cy="365760"/>
          </a:xfrm>
          <a:prstGeom prst="rect">
            <a:avLst/>
          </a:prstGeom>
          <a:noFill/>
        </p:spPr>
        <p:txBody>
          <a:bodyPr wrap="square" lIns="0" rIns="0" tIns="0" bIns="0" anchor="t">
            <a:spAutoFit/>
          </a:bodyPr>
          <a:lstStyle/>
          <a:p>
            <a:pPr algn="l">
              <a:lnSpc>
                <a:spcPct val="114000"/>
              </a:lnSpc>
              <a:spcAft>
                <a:spcPts val="0"/>
              </a:spcAft>
            </a:pPr>
            <a:r>
              <a:rPr sz="1600" b="1" i="0">
                <a:solidFill>
                  <a:srgbClr val="12181D"/>
                </a:solidFill>
                <a:latin typeface="Calibri"/>
              </a:rPr>
              <a:t>Les biais</a:t>
            </a:r>
            <a:r>
              <a:rPr sz="1600" b="0" i="0">
                <a:solidFill>
                  <a:srgbClr val="545F69"/>
                </a:solidFill>
                <a:latin typeface="Calibri"/>
              </a:rPr>
              <a:t> : le modèle a appris sur des textes existants, avec leurs stéréotypes. Sur du recrutement, de l'évaluation ou de l'orientation, la vigilance doit être maximale.</a:t>
            </a:r>
          </a:p>
        </p:txBody>
      </p:sp>
      <p:sp>
        <p:nvSpPr>
          <p:cNvPr id="9" name="TextBox 8"/>
          <p:cNvSpPr txBox="1"/>
          <p:nvPr/>
        </p:nvSpPr>
        <p:spPr>
          <a:xfrm>
            <a:off x="777240" y="4180839"/>
            <a:ext cx="274320" cy="274320"/>
          </a:xfrm>
          <a:prstGeom prst="rect">
            <a:avLst/>
          </a:prstGeom>
          <a:noFill/>
        </p:spPr>
        <p:txBody>
          <a:bodyPr wrap="square" lIns="0" rIns="0" tIns="0" bIns="0" anchor="t">
            <a:spAutoFit/>
          </a:bodyPr>
          <a:lstStyle/>
          <a:p>
            <a:pPr algn="l">
              <a:lnSpc>
                <a:spcPct val="112000"/>
              </a:lnSpc>
              <a:spcAft>
                <a:spcPts val="0"/>
              </a:spcAft>
            </a:pPr>
            <a:r>
              <a:rPr sz="1600" b="1" i="0">
                <a:solidFill>
                  <a:srgbClr val="8A5A00"/>
                </a:solidFill>
                <a:latin typeface="Calibri"/>
              </a:rPr>
              <a:t>—</a:t>
            </a:r>
          </a:p>
        </p:txBody>
      </p:sp>
      <p:sp>
        <p:nvSpPr>
          <p:cNvPr id="10" name="TextBox 9"/>
          <p:cNvSpPr txBox="1"/>
          <p:nvPr/>
        </p:nvSpPr>
        <p:spPr>
          <a:xfrm>
            <a:off x="1088136" y="4180839"/>
            <a:ext cx="8741664" cy="365760"/>
          </a:xfrm>
          <a:prstGeom prst="rect">
            <a:avLst/>
          </a:prstGeom>
          <a:noFill/>
        </p:spPr>
        <p:txBody>
          <a:bodyPr wrap="square" lIns="0" rIns="0" tIns="0" bIns="0" anchor="t">
            <a:spAutoFit/>
          </a:bodyPr>
          <a:lstStyle/>
          <a:p>
            <a:pPr algn="l">
              <a:lnSpc>
                <a:spcPct val="114000"/>
              </a:lnSpc>
              <a:spcAft>
                <a:spcPts val="0"/>
              </a:spcAft>
            </a:pPr>
            <a:r>
              <a:rPr sz="1600" b="1" i="0">
                <a:solidFill>
                  <a:srgbClr val="12181D"/>
                </a:solidFill>
                <a:latin typeface="Calibri"/>
              </a:rPr>
              <a:t>La responsabilité ne se délègue pas.</a:t>
            </a:r>
            <a:r>
              <a:rPr sz="1600" b="0" i="0">
                <a:solidFill>
                  <a:srgbClr val="545F69"/>
                </a:solidFill>
                <a:latin typeface="Calibri"/>
              </a:rPr>
              <a:t> Un texte signé de votre nom vous engage, qu'il ait été écrit par vous ou proposé par une machine. « C'est l'IA qui l'a écrit » n'est pas une défense.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01168" cy="6858000"/>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548640"/>
            <a:ext cx="2651760" cy="384048"/>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41832" y="621792"/>
            <a:ext cx="2377440" cy="274320"/>
          </a:xfrm>
          <a:prstGeom prst="rect">
            <a:avLst/>
          </a:prstGeom>
          <a:noFill/>
        </p:spPr>
        <p:txBody>
          <a:bodyPr wrap="square" lIns="0" rIns="0" tIns="0" bIns="0" anchor="t">
            <a:spAutoFit/>
          </a:bodyPr>
          <a:lstStyle/>
          <a:p>
            <a:pPr algn="l">
              <a:lnSpc>
                <a:spcPct val="112000"/>
              </a:lnSpc>
              <a:spcAft>
                <a:spcPts val="0"/>
              </a:spcAft>
            </a:pPr>
            <a:r>
              <a:rPr sz="1150" b="1" i="0" spc="150">
                <a:solidFill>
                  <a:srgbClr val="FFFFFF"/>
                </a:solidFill>
                <a:latin typeface="Consolas"/>
              </a:rPr>
              <a:t>ATELIER 6 · 15 MIN</a:t>
            </a:r>
          </a:p>
        </p:txBody>
      </p:sp>
      <p:sp>
        <p:nvSpPr>
          <p:cNvPr id="6" name="TextBox 5"/>
          <p:cNvSpPr txBox="1"/>
          <p:nvPr/>
        </p:nvSpPr>
        <p:spPr>
          <a:xfrm>
            <a:off x="777240" y="1143000"/>
            <a:ext cx="10637215" cy="1371600"/>
          </a:xfrm>
          <a:prstGeom prst="rect">
            <a:avLst/>
          </a:prstGeom>
          <a:noFill/>
        </p:spPr>
        <p:txBody>
          <a:bodyPr wrap="square" lIns="0" rIns="0" tIns="0" bIns="0" anchor="t">
            <a:spAutoFit/>
          </a:bodyPr>
          <a:lstStyle/>
          <a:p>
            <a:pPr algn="l">
              <a:lnSpc>
                <a:spcPct val="95000"/>
              </a:lnSpc>
              <a:spcAft>
                <a:spcPts val="0"/>
              </a:spcAft>
            </a:pPr>
            <a:r>
              <a:rPr sz="3600" b="1" i="0">
                <a:solidFill>
                  <a:srgbClr val="12181D"/>
                </a:solidFill>
                <a:latin typeface="Trebuchet MS"/>
              </a:rPr>
              <a:t>Votre charte personnelle, en cinq lignes</a:t>
            </a:r>
          </a:p>
        </p:txBody>
      </p:sp>
      <p:sp>
        <p:nvSpPr>
          <p:cNvPr id="7" name="TextBox 6"/>
          <p:cNvSpPr txBox="1"/>
          <p:nvPr/>
        </p:nvSpPr>
        <p:spPr>
          <a:xfrm>
            <a:off x="777240" y="2606040"/>
            <a:ext cx="2743200" cy="274320"/>
          </a:xfrm>
          <a:prstGeom prst="rect">
            <a:avLst/>
          </a:prstGeom>
          <a:noFill/>
        </p:spPr>
        <p:txBody>
          <a:bodyPr wrap="square" lIns="0" rIns="0" tIns="0" bIns="0" anchor="t">
            <a:spAutoFit/>
          </a:bodyPr>
          <a:lstStyle/>
          <a:p>
            <a:pPr algn="l">
              <a:lnSpc>
                <a:spcPct val="112000"/>
              </a:lnSpc>
              <a:spcAft>
                <a:spcPts val="0"/>
              </a:spcAft>
            </a:pPr>
            <a:r>
              <a:rPr sz="1000" b="1" i="0" spc="140">
                <a:solidFill>
                  <a:srgbClr val="8A5A00"/>
                </a:solidFill>
                <a:latin typeface="Consolas"/>
              </a:rPr>
              <a:t>CONSIGNE</a:t>
            </a:r>
          </a:p>
        </p:txBody>
      </p:sp>
      <p:sp>
        <p:nvSpPr>
          <p:cNvPr id="8" name="TextBox 7"/>
          <p:cNvSpPr txBox="1"/>
          <p:nvPr/>
        </p:nvSpPr>
        <p:spPr>
          <a:xfrm>
            <a:off x="777240" y="2944368"/>
            <a:ext cx="274320" cy="274320"/>
          </a:xfrm>
          <a:prstGeom prst="rect">
            <a:avLst/>
          </a:prstGeom>
          <a:noFill/>
        </p:spPr>
        <p:txBody>
          <a:bodyPr wrap="square" lIns="0" rIns="0" tIns="0" bIns="0" anchor="t">
            <a:spAutoFit/>
          </a:bodyPr>
          <a:lstStyle/>
          <a:p>
            <a:pPr algn="l">
              <a:lnSpc>
                <a:spcPct val="112000"/>
              </a:lnSpc>
              <a:spcAft>
                <a:spcPts val="0"/>
              </a:spcAft>
            </a:pPr>
            <a:r>
              <a:rPr sz="1700" b="1" i="0">
                <a:solidFill>
                  <a:srgbClr val="8A5A00"/>
                </a:solidFill>
                <a:latin typeface="Calibri"/>
              </a:rPr>
              <a:t>—</a:t>
            </a:r>
          </a:p>
        </p:txBody>
      </p:sp>
      <p:sp>
        <p:nvSpPr>
          <p:cNvPr id="9" name="TextBox 8"/>
          <p:cNvSpPr txBox="1"/>
          <p:nvPr/>
        </p:nvSpPr>
        <p:spPr>
          <a:xfrm>
            <a:off x="1088136" y="2944368"/>
            <a:ext cx="5632704" cy="365760"/>
          </a:xfrm>
          <a:prstGeom prst="rect">
            <a:avLst/>
          </a:prstGeom>
          <a:noFill/>
        </p:spPr>
        <p:txBody>
          <a:bodyPr wrap="square" lIns="0" rIns="0" tIns="0" bIns="0" anchor="t">
            <a:spAutoFit/>
          </a:bodyPr>
          <a:lstStyle/>
          <a:p>
            <a:pPr algn="l">
              <a:lnSpc>
                <a:spcPct val="114000"/>
              </a:lnSpc>
              <a:spcAft>
                <a:spcPts val="0"/>
              </a:spcAft>
            </a:pPr>
            <a:r>
              <a:rPr sz="1700" b="0" i="0">
                <a:solidFill>
                  <a:srgbClr val="12181D"/>
                </a:solidFill>
                <a:latin typeface="Calibri"/>
              </a:rPr>
              <a:t>Sur une feuille, écrivez cinq phrases qui commencent par </a:t>
            </a:r>
            <a:r>
              <a:rPr sz="1700" b="1" i="0">
                <a:solidFill>
                  <a:srgbClr val="12181D"/>
                </a:solidFill>
                <a:latin typeface="Calibri"/>
              </a:rPr>
              <a:t>« Je »</a:t>
            </a:r>
            <a:r>
              <a:rPr sz="1700" b="0" i="0">
                <a:solidFill>
                  <a:srgbClr val="12181D"/>
                </a:solidFill>
                <a:latin typeface="Calibri"/>
              </a:rPr>
              <a:t>.</a:t>
            </a:r>
          </a:p>
        </p:txBody>
      </p:sp>
      <p:sp>
        <p:nvSpPr>
          <p:cNvPr id="10" name="TextBox 9"/>
          <p:cNvSpPr txBox="1"/>
          <p:nvPr/>
        </p:nvSpPr>
        <p:spPr>
          <a:xfrm>
            <a:off x="777240" y="3771392"/>
            <a:ext cx="274320" cy="274320"/>
          </a:xfrm>
          <a:prstGeom prst="rect">
            <a:avLst/>
          </a:prstGeom>
          <a:noFill/>
        </p:spPr>
        <p:txBody>
          <a:bodyPr wrap="square" lIns="0" rIns="0" tIns="0" bIns="0" anchor="t">
            <a:spAutoFit/>
          </a:bodyPr>
          <a:lstStyle/>
          <a:p>
            <a:pPr algn="l">
              <a:lnSpc>
                <a:spcPct val="112000"/>
              </a:lnSpc>
              <a:spcAft>
                <a:spcPts val="0"/>
              </a:spcAft>
            </a:pPr>
            <a:r>
              <a:rPr sz="1700" b="1" i="0">
                <a:solidFill>
                  <a:srgbClr val="8A5A00"/>
                </a:solidFill>
                <a:latin typeface="Calibri"/>
              </a:rPr>
              <a:t>—</a:t>
            </a:r>
          </a:p>
        </p:txBody>
      </p:sp>
      <p:sp>
        <p:nvSpPr>
          <p:cNvPr id="11" name="TextBox 10"/>
          <p:cNvSpPr txBox="1"/>
          <p:nvPr/>
        </p:nvSpPr>
        <p:spPr>
          <a:xfrm>
            <a:off x="1088136" y="3771392"/>
            <a:ext cx="5632704" cy="365760"/>
          </a:xfrm>
          <a:prstGeom prst="rect">
            <a:avLst/>
          </a:prstGeom>
          <a:noFill/>
        </p:spPr>
        <p:txBody>
          <a:bodyPr wrap="square" lIns="0" rIns="0" tIns="0" bIns="0" anchor="t">
            <a:spAutoFit/>
          </a:bodyPr>
          <a:lstStyle/>
          <a:p>
            <a:pPr algn="l">
              <a:lnSpc>
                <a:spcPct val="114000"/>
              </a:lnSpc>
              <a:spcAft>
                <a:spcPts val="0"/>
              </a:spcAft>
            </a:pPr>
            <a:r>
              <a:rPr sz="1700" b="0" i="0">
                <a:solidFill>
                  <a:srgbClr val="12181D"/>
                </a:solidFill>
                <a:latin typeface="Calibri"/>
              </a:rPr>
              <a:t>Deux choses que vous vous autorisez désormais.</a:t>
            </a:r>
          </a:p>
        </p:txBody>
      </p:sp>
      <p:sp>
        <p:nvSpPr>
          <p:cNvPr id="12" name="TextBox 11"/>
          <p:cNvSpPr txBox="1"/>
          <p:nvPr/>
        </p:nvSpPr>
        <p:spPr>
          <a:xfrm>
            <a:off x="777240" y="4322064"/>
            <a:ext cx="274320" cy="274320"/>
          </a:xfrm>
          <a:prstGeom prst="rect">
            <a:avLst/>
          </a:prstGeom>
          <a:noFill/>
        </p:spPr>
        <p:txBody>
          <a:bodyPr wrap="square" lIns="0" rIns="0" tIns="0" bIns="0" anchor="t">
            <a:spAutoFit/>
          </a:bodyPr>
          <a:lstStyle/>
          <a:p>
            <a:pPr algn="l">
              <a:lnSpc>
                <a:spcPct val="112000"/>
              </a:lnSpc>
              <a:spcAft>
                <a:spcPts val="0"/>
              </a:spcAft>
            </a:pPr>
            <a:r>
              <a:rPr sz="1700" b="1" i="0">
                <a:solidFill>
                  <a:srgbClr val="8A5A00"/>
                </a:solidFill>
                <a:latin typeface="Calibri"/>
              </a:rPr>
              <a:t>—</a:t>
            </a:r>
          </a:p>
        </p:txBody>
      </p:sp>
      <p:sp>
        <p:nvSpPr>
          <p:cNvPr id="13" name="TextBox 12"/>
          <p:cNvSpPr txBox="1"/>
          <p:nvPr/>
        </p:nvSpPr>
        <p:spPr>
          <a:xfrm>
            <a:off x="1088136" y="4322064"/>
            <a:ext cx="5632704" cy="365760"/>
          </a:xfrm>
          <a:prstGeom prst="rect">
            <a:avLst/>
          </a:prstGeom>
          <a:noFill/>
        </p:spPr>
        <p:txBody>
          <a:bodyPr wrap="square" lIns="0" rIns="0" tIns="0" bIns="0" anchor="t">
            <a:spAutoFit/>
          </a:bodyPr>
          <a:lstStyle/>
          <a:p>
            <a:pPr algn="l">
              <a:lnSpc>
                <a:spcPct val="114000"/>
              </a:lnSpc>
              <a:spcAft>
                <a:spcPts val="0"/>
              </a:spcAft>
            </a:pPr>
            <a:r>
              <a:rPr sz="1700" b="0" i="0">
                <a:solidFill>
                  <a:srgbClr val="12181D"/>
                </a:solidFill>
                <a:latin typeface="Calibri"/>
              </a:rPr>
              <a:t>Deux choses que vous ne ferez jamais.</a:t>
            </a:r>
          </a:p>
        </p:txBody>
      </p:sp>
      <p:sp>
        <p:nvSpPr>
          <p:cNvPr id="14" name="TextBox 13"/>
          <p:cNvSpPr txBox="1"/>
          <p:nvPr/>
        </p:nvSpPr>
        <p:spPr>
          <a:xfrm>
            <a:off x="777240" y="4872736"/>
            <a:ext cx="274320" cy="274320"/>
          </a:xfrm>
          <a:prstGeom prst="rect">
            <a:avLst/>
          </a:prstGeom>
          <a:noFill/>
        </p:spPr>
        <p:txBody>
          <a:bodyPr wrap="square" lIns="0" rIns="0" tIns="0" bIns="0" anchor="t">
            <a:spAutoFit/>
          </a:bodyPr>
          <a:lstStyle/>
          <a:p>
            <a:pPr algn="l">
              <a:lnSpc>
                <a:spcPct val="112000"/>
              </a:lnSpc>
              <a:spcAft>
                <a:spcPts val="0"/>
              </a:spcAft>
            </a:pPr>
            <a:r>
              <a:rPr sz="1700" b="1" i="0">
                <a:solidFill>
                  <a:srgbClr val="8A5A00"/>
                </a:solidFill>
                <a:latin typeface="Calibri"/>
              </a:rPr>
              <a:t>—</a:t>
            </a:r>
          </a:p>
        </p:txBody>
      </p:sp>
      <p:sp>
        <p:nvSpPr>
          <p:cNvPr id="15" name="TextBox 14"/>
          <p:cNvSpPr txBox="1"/>
          <p:nvPr/>
        </p:nvSpPr>
        <p:spPr>
          <a:xfrm>
            <a:off x="1088136" y="4872736"/>
            <a:ext cx="5632704" cy="365760"/>
          </a:xfrm>
          <a:prstGeom prst="rect">
            <a:avLst/>
          </a:prstGeom>
          <a:noFill/>
        </p:spPr>
        <p:txBody>
          <a:bodyPr wrap="square" lIns="0" rIns="0" tIns="0" bIns="0" anchor="t">
            <a:spAutoFit/>
          </a:bodyPr>
          <a:lstStyle/>
          <a:p>
            <a:pPr algn="l">
              <a:lnSpc>
                <a:spcPct val="114000"/>
              </a:lnSpc>
              <a:spcAft>
                <a:spcPts val="0"/>
              </a:spcAft>
            </a:pPr>
            <a:r>
              <a:rPr sz="1700" b="0" i="0">
                <a:solidFill>
                  <a:srgbClr val="12181D"/>
                </a:solidFill>
                <a:latin typeface="Calibri"/>
              </a:rPr>
              <a:t>Une chose que vous devez aller vérifier auprès de votre organisation.</a:t>
            </a:r>
          </a:p>
        </p:txBody>
      </p:sp>
      <p:sp>
        <p:nvSpPr>
          <p:cNvPr id="16" name="Rectangle 15"/>
          <p:cNvSpPr/>
          <p:nvPr/>
        </p:nvSpPr>
        <p:spPr>
          <a:xfrm>
            <a:off x="777240" y="5623560"/>
            <a:ext cx="5943600" cy="822960"/>
          </a:xfrm>
          <a:prstGeom prst="rect">
            <a:avLst/>
          </a:prstGeom>
          <a:solidFill>
            <a:srgbClr val="FAF1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5623560"/>
            <a:ext cx="41148" cy="822960"/>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033271" y="5824728"/>
            <a:ext cx="5486400" cy="228600"/>
          </a:xfrm>
          <a:prstGeom prst="rect">
            <a:avLst/>
          </a:prstGeom>
          <a:noFill/>
        </p:spPr>
        <p:txBody>
          <a:bodyPr wrap="square" lIns="0" rIns="0" tIns="0" bIns="0" anchor="t">
            <a:spAutoFit/>
          </a:bodyPr>
          <a:lstStyle/>
          <a:p>
            <a:pPr algn="l">
              <a:lnSpc>
                <a:spcPct val="112000"/>
              </a:lnSpc>
              <a:spcAft>
                <a:spcPts val="0"/>
              </a:spcAft>
            </a:pPr>
            <a:r>
              <a:rPr sz="1000" b="1" i="0" spc="140">
                <a:solidFill>
                  <a:srgbClr val="8A5A00"/>
                </a:solidFill>
                <a:latin typeface="Consolas"/>
              </a:rPr>
              <a:t>LIVRABLE</a:t>
            </a:r>
          </a:p>
        </p:txBody>
      </p:sp>
      <p:sp>
        <p:nvSpPr>
          <p:cNvPr id="19" name="TextBox 18"/>
          <p:cNvSpPr txBox="1"/>
          <p:nvPr/>
        </p:nvSpPr>
        <p:spPr>
          <a:xfrm>
            <a:off x="1033271" y="6153912"/>
            <a:ext cx="5486400" cy="91439"/>
          </a:xfrm>
          <a:prstGeom prst="rect">
            <a:avLst/>
          </a:prstGeom>
          <a:noFill/>
        </p:spPr>
        <p:txBody>
          <a:bodyPr wrap="square" lIns="0" rIns="0" tIns="0" bIns="0" anchor="t">
            <a:spAutoFit/>
          </a:bodyPr>
          <a:lstStyle/>
          <a:p>
            <a:pPr algn="l">
              <a:lnSpc>
                <a:spcPct val="120000"/>
              </a:lnSpc>
              <a:spcAft>
                <a:spcPts val="0"/>
              </a:spcAft>
            </a:pPr>
            <a:r>
              <a:rPr sz="1500" b="0" i="0">
                <a:solidFill>
                  <a:srgbClr val="545F69"/>
                </a:solidFill>
                <a:latin typeface="Calibri"/>
              </a:rPr>
              <a:t>Une charte personnelle écrite, signée, emportée. C'est le premier livrable de la formation.</a:t>
            </a:r>
          </a:p>
        </p:txBody>
      </p:sp>
      <p:sp>
        <p:nvSpPr>
          <p:cNvPr id="20" name="Rectangle 19"/>
          <p:cNvSpPr/>
          <p:nvPr/>
        </p:nvSpPr>
        <p:spPr>
          <a:xfrm>
            <a:off x="7269479" y="2286000"/>
            <a:ext cx="4144975" cy="3383280"/>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7269479" y="2286000"/>
            <a:ext cx="41148" cy="3383280"/>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525511" y="2487168"/>
            <a:ext cx="3687775" cy="228600"/>
          </a:xfrm>
          <a:prstGeom prst="rect">
            <a:avLst/>
          </a:prstGeom>
          <a:noFill/>
        </p:spPr>
        <p:txBody>
          <a:bodyPr wrap="square" lIns="0" rIns="0" tIns="0" bIns="0" anchor="t">
            <a:spAutoFit/>
          </a:bodyPr>
          <a:lstStyle/>
          <a:p>
            <a:pPr algn="l">
              <a:lnSpc>
                <a:spcPct val="112000"/>
              </a:lnSpc>
              <a:spcAft>
                <a:spcPts val="0"/>
              </a:spcAft>
            </a:pPr>
            <a:r>
              <a:rPr sz="1000" b="1" i="0" spc="140">
                <a:solidFill>
                  <a:srgbClr val="8A5A00"/>
                </a:solidFill>
                <a:latin typeface="Consolas"/>
              </a:rPr>
              <a:t>DÉBRIEF EN GRAND GROUPE</a:t>
            </a:r>
          </a:p>
        </p:txBody>
      </p:sp>
      <p:sp>
        <p:nvSpPr>
          <p:cNvPr id="23" name="TextBox 22"/>
          <p:cNvSpPr txBox="1"/>
          <p:nvPr/>
        </p:nvSpPr>
        <p:spPr>
          <a:xfrm>
            <a:off x="7525511" y="2816352"/>
            <a:ext cx="3687775" cy="2651760"/>
          </a:xfrm>
          <a:prstGeom prst="rect">
            <a:avLst/>
          </a:prstGeom>
          <a:noFill/>
        </p:spPr>
        <p:txBody>
          <a:bodyPr wrap="square" lIns="0" rIns="0" tIns="0" bIns="0" anchor="t">
            <a:spAutoFit/>
          </a:bodyPr>
          <a:lstStyle/>
          <a:p>
            <a:pPr algn="l">
              <a:lnSpc>
                <a:spcPct val="120000"/>
              </a:lnSpc>
              <a:spcAft>
                <a:spcPts val="0"/>
              </a:spcAft>
            </a:pPr>
            <a:r>
              <a:rPr sz="1600" b="0" i="0">
                <a:solidFill>
                  <a:srgbClr val="545F69"/>
                </a:solidFill>
                <a:latin typeface="Calibri"/>
              </a:rPr>
              <a:t>Trois volontaires lisent leur charte à voix haute. On repère les points communs : ils forment, sans le dire, la charte de l'équipe.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77240" y="402336"/>
            <a:ext cx="10637215" cy="32004"/>
          </a:xfrm>
          <a:prstGeom prst="rect">
            <a:avLst/>
          </a:prstGeom>
          <a:solidFill>
            <a:srgbClr val="12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77240" y="502920"/>
            <a:ext cx="10637215" cy="274320"/>
          </a:xfrm>
          <a:prstGeom prst="rect">
            <a:avLst/>
          </a:prstGeom>
          <a:noFill/>
        </p:spPr>
        <p:txBody>
          <a:bodyPr wrap="square" lIns="0" rIns="0" tIns="0" bIns="0" anchor="t">
            <a:spAutoFit/>
          </a:bodyPr>
          <a:lstStyle/>
          <a:p>
            <a:pPr algn="l">
              <a:lnSpc>
                <a:spcPct val="112000"/>
              </a:lnSpc>
              <a:spcAft>
                <a:spcPts val="0"/>
              </a:spcAft>
            </a:pPr>
            <a:r>
              <a:rPr sz="1050" b="1" i="0" spc="150">
                <a:solidFill>
                  <a:srgbClr val="0B655E"/>
                </a:solidFill>
                <a:latin typeface="Consolas"/>
              </a:rPr>
              <a:t>FIN DE JOURNÉE</a:t>
            </a:r>
          </a:p>
        </p:txBody>
      </p:sp>
      <p:sp>
        <p:nvSpPr>
          <p:cNvPr id="4" name="TextBox 3"/>
          <p:cNvSpPr txBox="1"/>
          <p:nvPr/>
        </p:nvSpPr>
        <p:spPr>
          <a:xfrm>
            <a:off x="777240" y="868680"/>
            <a:ext cx="10637215" cy="1371600"/>
          </a:xfrm>
          <a:prstGeom prst="rect">
            <a:avLst/>
          </a:prstGeom>
          <a:noFill/>
        </p:spPr>
        <p:txBody>
          <a:bodyPr wrap="square" lIns="0" rIns="0" tIns="0" bIns="0" anchor="t">
            <a:spAutoFit/>
          </a:bodyPr>
          <a:lstStyle/>
          <a:p>
            <a:pPr algn="l">
              <a:lnSpc>
                <a:spcPct val="95000"/>
              </a:lnSpc>
              <a:spcAft>
                <a:spcPts val="0"/>
              </a:spcAft>
            </a:pPr>
            <a:r>
              <a:rPr sz="3800" b="1" i="0">
                <a:solidFill>
                  <a:srgbClr val="12181D"/>
                </a:solidFill>
                <a:latin typeface="Trebuchet MS"/>
              </a:rPr>
              <a:t>Pour ce soir, si vous voulez</a:t>
            </a:r>
          </a:p>
        </p:txBody>
      </p:sp>
      <p:sp>
        <p:nvSpPr>
          <p:cNvPr id="5" name="TextBox 4"/>
          <p:cNvSpPr txBox="1"/>
          <p:nvPr/>
        </p:nvSpPr>
        <p:spPr>
          <a:xfrm>
            <a:off x="777240" y="2240280"/>
            <a:ext cx="9052560" cy="914400"/>
          </a:xfrm>
          <a:prstGeom prst="rect">
            <a:avLst/>
          </a:prstGeom>
          <a:noFill/>
        </p:spPr>
        <p:txBody>
          <a:bodyPr wrap="square" lIns="0" rIns="0" tIns="0" bIns="0" anchor="t">
            <a:spAutoFit/>
          </a:bodyPr>
          <a:lstStyle/>
          <a:p>
            <a:pPr algn="l">
              <a:lnSpc>
                <a:spcPct val="110000"/>
              </a:lnSpc>
              <a:spcAft>
                <a:spcPts val="0"/>
              </a:spcAft>
            </a:pPr>
            <a:r>
              <a:rPr sz="2400" b="1" i="0">
                <a:solidFill>
                  <a:srgbClr val="0B655E"/>
                </a:solidFill>
                <a:latin typeface="Trebuchet MS"/>
              </a:rPr>
              <a:t>Quinze minutes, une vraie tâche, et notez ce qui a raté.</a:t>
            </a:r>
          </a:p>
        </p:txBody>
      </p:sp>
      <p:sp>
        <p:nvSpPr>
          <p:cNvPr id="6" name="TextBox 5"/>
          <p:cNvSpPr txBox="1"/>
          <p:nvPr/>
        </p:nvSpPr>
        <p:spPr>
          <a:xfrm>
            <a:off x="777240" y="3154680"/>
            <a:ext cx="274320" cy="274320"/>
          </a:xfrm>
          <a:prstGeom prst="rect">
            <a:avLst/>
          </a:prstGeom>
          <a:noFill/>
        </p:spPr>
        <p:txBody>
          <a:bodyPr wrap="square" lIns="0" rIns="0" tIns="0" bIns="0" anchor="t">
            <a:spAutoFit/>
          </a:bodyPr>
          <a:lstStyle/>
          <a:p>
            <a:pPr algn="l">
              <a:lnSpc>
                <a:spcPct val="112000"/>
              </a:lnSpc>
              <a:spcAft>
                <a:spcPts val="0"/>
              </a:spcAft>
            </a:pPr>
            <a:r>
              <a:rPr sz="1700" b="1" i="0">
                <a:solidFill>
                  <a:srgbClr val="0B655E"/>
                </a:solidFill>
                <a:latin typeface="Calibri"/>
              </a:rPr>
              <a:t>—</a:t>
            </a:r>
          </a:p>
        </p:txBody>
      </p:sp>
      <p:sp>
        <p:nvSpPr>
          <p:cNvPr id="7" name="TextBox 6"/>
          <p:cNvSpPr txBox="1"/>
          <p:nvPr/>
        </p:nvSpPr>
        <p:spPr>
          <a:xfrm>
            <a:off x="1088136" y="3154680"/>
            <a:ext cx="8741664" cy="365760"/>
          </a:xfrm>
          <a:prstGeom prst="rect">
            <a:avLst/>
          </a:prstGeom>
          <a:noFill/>
        </p:spPr>
        <p:txBody>
          <a:bodyPr wrap="square" lIns="0" rIns="0" tIns="0" bIns="0" anchor="t">
            <a:spAutoFit/>
          </a:bodyPr>
          <a:lstStyle/>
          <a:p>
            <a:pPr algn="l">
              <a:lnSpc>
                <a:spcPct val="114000"/>
              </a:lnSpc>
              <a:spcAft>
                <a:spcPts val="0"/>
              </a:spcAft>
            </a:pPr>
            <a:r>
              <a:rPr sz="1700" b="0" i="0">
                <a:solidFill>
                  <a:srgbClr val="545F69"/>
                </a:solidFill>
                <a:latin typeface="Calibri"/>
              </a:rPr>
              <a:t>Prenez </a:t>
            </a:r>
            <a:r>
              <a:rPr sz="1700" b="1" i="0">
                <a:solidFill>
                  <a:srgbClr val="12181D"/>
                </a:solidFill>
                <a:latin typeface="Calibri"/>
              </a:rPr>
              <a:t>une seule tâche</a:t>
            </a:r>
            <a:r>
              <a:rPr sz="1700" b="0" i="0">
                <a:solidFill>
                  <a:srgbClr val="545F69"/>
                </a:solidFill>
                <a:latin typeface="Calibri"/>
              </a:rPr>
              <a:t> de votre quotidien et faites-la avec l'IA, en appliquant les six lettres.</a:t>
            </a:r>
          </a:p>
        </p:txBody>
      </p:sp>
      <p:sp>
        <p:nvSpPr>
          <p:cNvPr id="8" name="TextBox 7"/>
          <p:cNvSpPr txBox="1"/>
          <p:nvPr/>
        </p:nvSpPr>
        <p:spPr>
          <a:xfrm>
            <a:off x="777240" y="3981704"/>
            <a:ext cx="274320" cy="274320"/>
          </a:xfrm>
          <a:prstGeom prst="rect">
            <a:avLst/>
          </a:prstGeom>
          <a:noFill/>
        </p:spPr>
        <p:txBody>
          <a:bodyPr wrap="square" lIns="0" rIns="0" tIns="0" bIns="0" anchor="t">
            <a:spAutoFit/>
          </a:bodyPr>
          <a:lstStyle/>
          <a:p>
            <a:pPr algn="l">
              <a:lnSpc>
                <a:spcPct val="112000"/>
              </a:lnSpc>
              <a:spcAft>
                <a:spcPts val="0"/>
              </a:spcAft>
            </a:pPr>
            <a:r>
              <a:rPr sz="1700" b="1" i="0">
                <a:solidFill>
                  <a:srgbClr val="0B655E"/>
                </a:solidFill>
                <a:latin typeface="Calibri"/>
              </a:rPr>
              <a:t>—</a:t>
            </a:r>
          </a:p>
        </p:txBody>
      </p:sp>
      <p:sp>
        <p:nvSpPr>
          <p:cNvPr id="9" name="TextBox 8"/>
          <p:cNvSpPr txBox="1"/>
          <p:nvPr/>
        </p:nvSpPr>
        <p:spPr>
          <a:xfrm>
            <a:off x="1088136" y="3981704"/>
            <a:ext cx="8741664" cy="365760"/>
          </a:xfrm>
          <a:prstGeom prst="rect">
            <a:avLst/>
          </a:prstGeom>
          <a:noFill/>
        </p:spPr>
        <p:txBody>
          <a:bodyPr wrap="square" lIns="0" rIns="0" tIns="0" bIns="0" anchor="t">
            <a:spAutoFit/>
          </a:bodyPr>
          <a:lstStyle/>
          <a:p>
            <a:pPr algn="l">
              <a:lnSpc>
                <a:spcPct val="114000"/>
              </a:lnSpc>
              <a:spcAft>
                <a:spcPts val="0"/>
              </a:spcAft>
            </a:pPr>
            <a:r>
              <a:rPr sz="1700" b="0" i="0">
                <a:solidFill>
                  <a:srgbClr val="545F69"/>
                </a:solidFill>
                <a:latin typeface="Calibri"/>
              </a:rPr>
              <a:t>Notez sur votre téléphone : </a:t>
            </a:r>
            <a:r>
              <a:rPr sz="1700" b="1" i="0">
                <a:solidFill>
                  <a:srgbClr val="12181D"/>
                </a:solidFill>
                <a:latin typeface="Calibri"/>
              </a:rPr>
              <a:t>ce qui a bien marché</a:t>
            </a:r>
            <a:r>
              <a:rPr sz="1700" b="0" i="0">
                <a:solidFill>
                  <a:srgbClr val="545F69"/>
                </a:solidFill>
                <a:latin typeface="Calibri"/>
              </a:rPr>
              <a:t>, et surtout </a:t>
            </a:r>
            <a:r>
              <a:rPr sz="1700" b="1" i="0">
                <a:solidFill>
                  <a:srgbClr val="12181D"/>
                </a:solidFill>
                <a:latin typeface="Calibri"/>
              </a:rPr>
              <a:t>ce qui a échoué</a:t>
            </a:r>
            <a:r>
              <a:rPr sz="1700" b="0" i="0">
                <a:solidFill>
                  <a:srgbClr val="545F69"/>
                </a:solidFill>
                <a:latin typeface="Calibri"/>
              </a:rPr>
              <a:t>.</a:t>
            </a:r>
          </a:p>
        </p:txBody>
      </p:sp>
      <p:sp>
        <p:nvSpPr>
          <p:cNvPr id="10" name="TextBox 9"/>
          <p:cNvSpPr txBox="1"/>
          <p:nvPr/>
        </p:nvSpPr>
        <p:spPr>
          <a:xfrm>
            <a:off x="777240" y="4532376"/>
            <a:ext cx="274320" cy="274320"/>
          </a:xfrm>
          <a:prstGeom prst="rect">
            <a:avLst/>
          </a:prstGeom>
          <a:noFill/>
        </p:spPr>
        <p:txBody>
          <a:bodyPr wrap="square" lIns="0" rIns="0" tIns="0" bIns="0" anchor="t">
            <a:spAutoFit/>
          </a:bodyPr>
          <a:lstStyle/>
          <a:p>
            <a:pPr algn="l">
              <a:lnSpc>
                <a:spcPct val="112000"/>
              </a:lnSpc>
              <a:spcAft>
                <a:spcPts val="0"/>
              </a:spcAft>
            </a:pPr>
            <a:r>
              <a:rPr sz="1700" b="1" i="0">
                <a:solidFill>
                  <a:srgbClr val="0B655E"/>
                </a:solidFill>
                <a:latin typeface="Calibri"/>
              </a:rPr>
              <a:t>—</a:t>
            </a:r>
          </a:p>
        </p:txBody>
      </p:sp>
      <p:sp>
        <p:nvSpPr>
          <p:cNvPr id="11" name="TextBox 10"/>
          <p:cNvSpPr txBox="1"/>
          <p:nvPr/>
        </p:nvSpPr>
        <p:spPr>
          <a:xfrm>
            <a:off x="1088136" y="4532376"/>
            <a:ext cx="8741664" cy="365760"/>
          </a:xfrm>
          <a:prstGeom prst="rect">
            <a:avLst/>
          </a:prstGeom>
          <a:noFill/>
        </p:spPr>
        <p:txBody>
          <a:bodyPr wrap="square" lIns="0" rIns="0" tIns="0" bIns="0" anchor="t">
            <a:spAutoFit/>
          </a:bodyPr>
          <a:lstStyle/>
          <a:p>
            <a:pPr algn="l">
              <a:lnSpc>
                <a:spcPct val="114000"/>
              </a:lnSpc>
              <a:spcAft>
                <a:spcPts val="0"/>
              </a:spcAft>
            </a:pPr>
            <a:r>
              <a:rPr sz="1700" b="0" i="0">
                <a:solidFill>
                  <a:srgbClr val="545F69"/>
                </a:solidFill>
                <a:latin typeface="Calibri"/>
              </a:rPr>
              <a:t>Demain matin, on commence par vos échecs. Ce sont eux qui font avancer le groupe.</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A32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60120" y="1463040"/>
            <a:ext cx="7315200" cy="274320"/>
          </a:xfrm>
          <a:prstGeom prst="rect">
            <a:avLst/>
          </a:prstGeom>
          <a:noFill/>
        </p:spPr>
        <p:txBody>
          <a:bodyPr wrap="square" lIns="0" rIns="0" tIns="0" bIns="0" anchor="t">
            <a:spAutoFit/>
          </a:bodyPr>
          <a:lstStyle/>
          <a:p>
            <a:pPr algn="l">
              <a:lnSpc>
                <a:spcPct val="112000"/>
              </a:lnSpc>
              <a:spcAft>
                <a:spcPts val="0"/>
              </a:spcAft>
            </a:pPr>
            <a:r>
              <a:rPr sz="1200" b="1" i="0" spc="180">
                <a:solidFill>
                  <a:srgbClr val="A32B57"/>
                </a:solidFill>
                <a:latin typeface="Consolas"/>
              </a:rPr>
              <a:t>JOUR 2 · SÉQUENCE 8</a:t>
            </a:r>
          </a:p>
        </p:txBody>
      </p:sp>
      <p:sp>
        <p:nvSpPr>
          <p:cNvPr id="5" name="TextBox 4"/>
          <p:cNvSpPr txBox="1"/>
          <p:nvPr/>
        </p:nvSpPr>
        <p:spPr>
          <a:xfrm>
            <a:off x="960120" y="1965960"/>
            <a:ext cx="9601200" cy="2011680"/>
          </a:xfrm>
          <a:prstGeom prst="rect">
            <a:avLst/>
          </a:prstGeom>
          <a:noFill/>
        </p:spPr>
        <p:txBody>
          <a:bodyPr wrap="square" lIns="0" rIns="0" tIns="0" bIns="0" anchor="t">
            <a:spAutoFit/>
          </a:bodyPr>
          <a:lstStyle/>
          <a:p>
            <a:pPr algn="l">
              <a:lnSpc>
                <a:spcPct val="95000"/>
              </a:lnSpc>
              <a:spcAft>
                <a:spcPts val="0"/>
              </a:spcAft>
            </a:pPr>
            <a:r>
              <a:rPr sz="5000" b="1" i="0">
                <a:solidFill>
                  <a:srgbClr val="12181D"/>
                </a:solidFill>
                <a:latin typeface="Trebuchet MS"/>
              </a:rPr>
              <a:t>Ce que vous avez tenté hier soir</a:t>
            </a:r>
          </a:p>
        </p:txBody>
      </p:sp>
      <p:sp>
        <p:nvSpPr>
          <p:cNvPr id="6" name="Rectangle 5"/>
          <p:cNvSpPr/>
          <p:nvPr/>
        </p:nvSpPr>
        <p:spPr>
          <a:xfrm>
            <a:off x="960120" y="4114800"/>
            <a:ext cx="1463040" cy="41148"/>
          </a:xfrm>
          <a:prstGeom prst="rect">
            <a:avLst/>
          </a:prstGeom>
          <a:solidFill>
            <a:srgbClr val="A32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60120" y="4480560"/>
            <a:ext cx="8595360" cy="1097280"/>
          </a:xfrm>
          <a:prstGeom prst="rect">
            <a:avLst/>
          </a:prstGeom>
          <a:noFill/>
        </p:spPr>
        <p:txBody>
          <a:bodyPr wrap="square" lIns="0" rIns="0" tIns="0" bIns="0" anchor="t">
            <a:spAutoFit/>
          </a:bodyPr>
          <a:lstStyle/>
          <a:p>
            <a:pPr algn="l">
              <a:lnSpc>
                <a:spcPct val="132000"/>
              </a:lnSpc>
              <a:spcAft>
                <a:spcPts val="0"/>
              </a:spcAft>
            </a:pPr>
            <a:r>
              <a:rPr sz="2000" b="0" i="0">
                <a:solidFill>
                  <a:srgbClr val="545F69"/>
                </a:solidFill>
                <a:latin typeface="Calibri"/>
              </a:rPr>
              <a:t>Les échecs racontés valent mieux que les réussites : ils donnent les cas concrets de la journée.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77240" y="402336"/>
            <a:ext cx="10637215" cy="32004"/>
          </a:xfrm>
          <a:prstGeom prst="rect">
            <a:avLst/>
          </a:prstGeom>
          <a:solidFill>
            <a:srgbClr val="12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77240" y="502920"/>
            <a:ext cx="10637215" cy="274320"/>
          </a:xfrm>
          <a:prstGeom prst="rect">
            <a:avLst/>
          </a:prstGeom>
          <a:noFill/>
        </p:spPr>
        <p:txBody>
          <a:bodyPr wrap="square" lIns="0" rIns="0" tIns="0" bIns="0" anchor="t">
            <a:spAutoFit/>
          </a:bodyPr>
          <a:lstStyle/>
          <a:p>
            <a:pPr algn="l">
              <a:lnSpc>
                <a:spcPct val="112000"/>
              </a:lnSpc>
              <a:spcAft>
                <a:spcPts val="0"/>
              </a:spcAft>
            </a:pPr>
            <a:r>
              <a:rPr sz="1050" b="1" i="0" spc="150">
                <a:solidFill>
                  <a:srgbClr val="A32B57"/>
                </a:solidFill>
                <a:latin typeface="Consolas"/>
              </a:rPr>
              <a:t>RÉVEIL</a:t>
            </a:r>
          </a:p>
        </p:txBody>
      </p:sp>
      <p:sp>
        <p:nvSpPr>
          <p:cNvPr id="4" name="TextBox 3"/>
          <p:cNvSpPr txBox="1"/>
          <p:nvPr/>
        </p:nvSpPr>
        <p:spPr>
          <a:xfrm>
            <a:off x="777240" y="868680"/>
            <a:ext cx="10637215" cy="1371600"/>
          </a:xfrm>
          <a:prstGeom prst="rect">
            <a:avLst/>
          </a:prstGeom>
          <a:noFill/>
        </p:spPr>
        <p:txBody>
          <a:bodyPr wrap="square" lIns="0" rIns="0" tIns="0" bIns="0" anchor="t">
            <a:spAutoFit/>
          </a:bodyPr>
          <a:lstStyle/>
          <a:p>
            <a:pPr algn="l">
              <a:lnSpc>
                <a:spcPct val="95000"/>
              </a:lnSpc>
              <a:spcAft>
                <a:spcPts val="0"/>
              </a:spcAft>
            </a:pPr>
            <a:r>
              <a:rPr sz="3800" b="1" i="0">
                <a:solidFill>
                  <a:srgbClr val="12181D"/>
                </a:solidFill>
                <a:latin typeface="Trebuchet MS"/>
              </a:rPr>
              <a:t>Tour de table express</a:t>
            </a:r>
          </a:p>
        </p:txBody>
      </p:sp>
      <p:sp>
        <p:nvSpPr>
          <p:cNvPr id="5" name="TextBox 4"/>
          <p:cNvSpPr txBox="1"/>
          <p:nvPr/>
        </p:nvSpPr>
        <p:spPr>
          <a:xfrm>
            <a:off x="777240" y="2331720"/>
            <a:ext cx="274320" cy="274320"/>
          </a:xfrm>
          <a:prstGeom prst="rect">
            <a:avLst/>
          </a:prstGeom>
          <a:noFill/>
        </p:spPr>
        <p:txBody>
          <a:bodyPr wrap="square" lIns="0" rIns="0" tIns="0" bIns="0" anchor="t">
            <a:spAutoFit/>
          </a:bodyPr>
          <a:lstStyle/>
          <a:p>
            <a:pPr algn="l">
              <a:lnSpc>
                <a:spcPct val="112000"/>
              </a:lnSpc>
              <a:spcAft>
                <a:spcPts val="0"/>
              </a:spcAft>
            </a:pPr>
            <a:r>
              <a:rPr sz="1800" b="1" i="0">
                <a:solidFill>
                  <a:srgbClr val="A32B57"/>
                </a:solidFill>
                <a:latin typeface="Calibri"/>
              </a:rPr>
              <a:t>—</a:t>
            </a:r>
          </a:p>
        </p:txBody>
      </p:sp>
      <p:sp>
        <p:nvSpPr>
          <p:cNvPr id="6" name="TextBox 5"/>
          <p:cNvSpPr txBox="1"/>
          <p:nvPr/>
        </p:nvSpPr>
        <p:spPr>
          <a:xfrm>
            <a:off x="1088136" y="2331720"/>
            <a:ext cx="5724144" cy="365760"/>
          </a:xfrm>
          <a:prstGeom prst="rect">
            <a:avLst/>
          </a:prstGeom>
          <a:noFill/>
        </p:spPr>
        <p:txBody>
          <a:bodyPr wrap="square" lIns="0" rIns="0" tIns="0" bIns="0" anchor="t">
            <a:spAutoFit/>
          </a:bodyPr>
          <a:lstStyle/>
          <a:p>
            <a:pPr algn="l">
              <a:lnSpc>
                <a:spcPct val="114000"/>
              </a:lnSpc>
              <a:spcAft>
                <a:spcPts val="0"/>
              </a:spcAft>
            </a:pPr>
            <a:r>
              <a:rPr sz="1800" b="0" i="0">
                <a:solidFill>
                  <a:srgbClr val="545F69"/>
                </a:solidFill>
                <a:latin typeface="Calibri"/>
              </a:rPr>
              <a:t>Qu'avez-vous essayé ? Sur quelle tâche ?</a:t>
            </a:r>
          </a:p>
        </p:txBody>
      </p:sp>
      <p:sp>
        <p:nvSpPr>
          <p:cNvPr id="7" name="TextBox 6"/>
          <p:cNvSpPr txBox="1"/>
          <p:nvPr/>
        </p:nvSpPr>
        <p:spPr>
          <a:xfrm>
            <a:off x="777240" y="2898648"/>
            <a:ext cx="274320" cy="274320"/>
          </a:xfrm>
          <a:prstGeom prst="rect">
            <a:avLst/>
          </a:prstGeom>
          <a:noFill/>
        </p:spPr>
        <p:txBody>
          <a:bodyPr wrap="square" lIns="0" rIns="0" tIns="0" bIns="0" anchor="t">
            <a:spAutoFit/>
          </a:bodyPr>
          <a:lstStyle/>
          <a:p>
            <a:pPr algn="l">
              <a:lnSpc>
                <a:spcPct val="112000"/>
              </a:lnSpc>
              <a:spcAft>
                <a:spcPts val="0"/>
              </a:spcAft>
            </a:pPr>
            <a:r>
              <a:rPr sz="1800" b="1" i="0">
                <a:solidFill>
                  <a:srgbClr val="A32B57"/>
                </a:solidFill>
                <a:latin typeface="Calibri"/>
              </a:rPr>
              <a:t>—</a:t>
            </a:r>
          </a:p>
        </p:txBody>
      </p:sp>
      <p:sp>
        <p:nvSpPr>
          <p:cNvPr id="8" name="TextBox 7"/>
          <p:cNvSpPr txBox="1"/>
          <p:nvPr/>
        </p:nvSpPr>
        <p:spPr>
          <a:xfrm>
            <a:off x="1088136" y="2898648"/>
            <a:ext cx="5724144" cy="365760"/>
          </a:xfrm>
          <a:prstGeom prst="rect">
            <a:avLst/>
          </a:prstGeom>
          <a:noFill/>
        </p:spPr>
        <p:txBody>
          <a:bodyPr wrap="square" lIns="0" rIns="0" tIns="0" bIns="0" anchor="t">
            <a:spAutoFit/>
          </a:bodyPr>
          <a:lstStyle/>
          <a:p>
            <a:pPr algn="l">
              <a:lnSpc>
                <a:spcPct val="114000"/>
              </a:lnSpc>
              <a:spcAft>
                <a:spcPts val="0"/>
              </a:spcAft>
            </a:pPr>
            <a:r>
              <a:rPr sz="1800" b="0" i="0">
                <a:solidFill>
                  <a:srgbClr val="545F69"/>
                </a:solidFill>
                <a:latin typeface="Calibri"/>
              </a:rPr>
              <a:t>Qu'est-ce qui a marché du premier coup ?</a:t>
            </a:r>
          </a:p>
        </p:txBody>
      </p:sp>
      <p:sp>
        <p:nvSpPr>
          <p:cNvPr id="9" name="TextBox 8"/>
          <p:cNvSpPr txBox="1"/>
          <p:nvPr/>
        </p:nvSpPr>
        <p:spPr>
          <a:xfrm>
            <a:off x="777240" y="3465576"/>
            <a:ext cx="274320" cy="274320"/>
          </a:xfrm>
          <a:prstGeom prst="rect">
            <a:avLst/>
          </a:prstGeom>
          <a:noFill/>
        </p:spPr>
        <p:txBody>
          <a:bodyPr wrap="square" lIns="0" rIns="0" tIns="0" bIns="0" anchor="t">
            <a:spAutoFit/>
          </a:bodyPr>
          <a:lstStyle/>
          <a:p>
            <a:pPr algn="l">
              <a:lnSpc>
                <a:spcPct val="112000"/>
              </a:lnSpc>
              <a:spcAft>
                <a:spcPts val="0"/>
              </a:spcAft>
            </a:pPr>
            <a:r>
              <a:rPr sz="1800" b="1" i="0">
                <a:solidFill>
                  <a:srgbClr val="A32B57"/>
                </a:solidFill>
                <a:latin typeface="Calibri"/>
              </a:rPr>
              <a:t>—</a:t>
            </a:r>
          </a:p>
        </p:txBody>
      </p:sp>
      <p:sp>
        <p:nvSpPr>
          <p:cNvPr id="10" name="TextBox 9"/>
          <p:cNvSpPr txBox="1"/>
          <p:nvPr/>
        </p:nvSpPr>
        <p:spPr>
          <a:xfrm>
            <a:off x="1088136" y="3465576"/>
            <a:ext cx="5724144" cy="365760"/>
          </a:xfrm>
          <a:prstGeom prst="rect">
            <a:avLst/>
          </a:prstGeom>
          <a:noFill/>
        </p:spPr>
        <p:txBody>
          <a:bodyPr wrap="square" lIns="0" rIns="0" tIns="0" bIns="0" anchor="t">
            <a:spAutoFit/>
          </a:bodyPr>
          <a:lstStyle/>
          <a:p>
            <a:pPr algn="l">
              <a:lnSpc>
                <a:spcPct val="114000"/>
              </a:lnSpc>
              <a:spcAft>
                <a:spcPts val="0"/>
              </a:spcAft>
            </a:pPr>
            <a:r>
              <a:rPr sz="1800" b="1" i="0">
                <a:solidFill>
                  <a:srgbClr val="12181D"/>
                </a:solidFill>
                <a:latin typeface="Calibri"/>
              </a:rPr>
              <a:t>Qu'est-ce qui a échoué, et qu'avez-vous fait ensuite ?</a:t>
            </a:r>
          </a:p>
        </p:txBody>
      </p:sp>
      <p:sp>
        <p:nvSpPr>
          <p:cNvPr id="11" name="TextBox 10"/>
          <p:cNvSpPr txBox="1"/>
          <p:nvPr/>
        </p:nvSpPr>
        <p:spPr>
          <a:xfrm>
            <a:off x="777240" y="4032504"/>
            <a:ext cx="274320" cy="274320"/>
          </a:xfrm>
          <a:prstGeom prst="rect">
            <a:avLst/>
          </a:prstGeom>
          <a:noFill/>
        </p:spPr>
        <p:txBody>
          <a:bodyPr wrap="square" lIns="0" rIns="0" tIns="0" bIns="0" anchor="t">
            <a:spAutoFit/>
          </a:bodyPr>
          <a:lstStyle/>
          <a:p>
            <a:pPr algn="l">
              <a:lnSpc>
                <a:spcPct val="112000"/>
              </a:lnSpc>
              <a:spcAft>
                <a:spcPts val="0"/>
              </a:spcAft>
            </a:pPr>
            <a:r>
              <a:rPr sz="1800" b="1" i="0">
                <a:solidFill>
                  <a:srgbClr val="A32B57"/>
                </a:solidFill>
                <a:latin typeface="Calibri"/>
              </a:rPr>
              <a:t>—</a:t>
            </a:r>
          </a:p>
        </p:txBody>
      </p:sp>
      <p:sp>
        <p:nvSpPr>
          <p:cNvPr id="12" name="TextBox 11"/>
          <p:cNvSpPr txBox="1"/>
          <p:nvPr/>
        </p:nvSpPr>
        <p:spPr>
          <a:xfrm>
            <a:off x="1088136" y="4032504"/>
            <a:ext cx="5724144" cy="365760"/>
          </a:xfrm>
          <a:prstGeom prst="rect">
            <a:avLst/>
          </a:prstGeom>
          <a:noFill/>
        </p:spPr>
        <p:txBody>
          <a:bodyPr wrap="square" lIns="0" rIns="0" tIns="0" bIns="0" anchor="t">
            <a:spAutoFit/>
          </a:bodyPr>
          <a:lstStyle/>
          <a:p>
            <a:pPr algn="l">
              <a:lnSpc>
                <a:spcPct val="114000"/>
              </a:lnSpc>
              <a:spcAft>
                <a:spcPts val="0"/>
              </a:spcAft>
            </a:pPr>
            <a:r>
              <a:rPr sz="1800" b="0" i="0">
                <a:solidFill>
                  <a:srgbClr val="545F69"/>
                </a:solidFill>
                <a:latin typeface="Calibri"/>
              </a:rPr>
              <a:t>Qui a abandonné en cours de route — et pourquoi ?</a:t>
            </a:r>
          </a:p>
        </p:txBody>
      </p:sp>
      <p:sp>
        <p:nvSpPr>
          <p:cNvPr id="13" name="Rectangle 12"/>
          <p:cNvSpPr/>
          <p:nvPr/>
        </p:nvSpPr>
        <p:spPr>
          <a:xfrm>
            <a:off x="7269479" y="2286000"/>
            <a:ext cx="4144975" cy="3291840"/>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7269479" y="2286000"/>
            <a:ext cx="41148" cy="3291840"/>
          </a:xfrm>
          <a:prstGeom prst="rect">
            <a:avLst/>
          </a:prstGeom>
          <a:solidFill>
            <a:srgbClr val="A32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525511" y="2487168"/>
            <a:ext cx="3687775" cy="228600"/>
          </a:xfrm>
          <a:prstGeom prst="rect">
            <a:avLst/>
          </a:prstGeom>
          <a:noFill/>
        </p:spPr>
        <p:txBody>
          <a:bodyPr wrap="square" lIns="0" rIns="0" tIns="0" bIns="0" anchor="t">
            <a:spAutoFit/>
          </a:bodyPr>
          <a:lstStyle/>
          <a:p>
            <a:pPr algn="l">
              <a:lnSpc>
                <a:spcPct val="112000"/>
              </a:lnSpc>
              <a:spcAft>
                <a:spcPts val="0"/>
              </a:spcAft>
            </a:pPr>
            <a:r>
              <a:rPr sz="1000" b="1" i="0" spc="140">
                <a:solidFill>
                  <a:srgbClr val="A32B57"/>
                </a:solidFill>
                <a:latin typeface="Consolas"/>
              </a:rPr>
              <a:t>POUR LE FORMATEUR</a:t>
            </a:r>
          </a:p>
        </p:txBody>
      </p:sp>
      <p:sp>
        <p:nvSpPr>
          <p:cNvPr id="16" name="TextBox 15"/>
          <p:cNvSpPr txBox="1"/>
          <p:nvPr/>
        </p:nvSpPr>
        <p:spPr>
          <a:xfrm>
            <a:off x="7525511" y="2816352"/>
            <a:ext cx="3687775" cy="2560320"/>
          </a:xfrm>
          <a:prstGeom prst="rect">
            <a:avLst/>
          </a:prstGeom>
          <a:noFill/>
        </p:spPr>
        <p:txBody>
          <a:bodyPr wrap="square" lIns="0" rIns="0" tIns="0" bIns="0" anchor="t">
            <a:spAutoFit/>
          </a:bodyPr>
          <a:lstStyle/>
          <a:p>
            <a:pPr algn="l">
              <a:lnSpc>
                <a:spcPct val="120000"/>
              </a:lnSpc>
              <a:spcAft>
                <a:spcPts val="0"/>
              </a:spcAft>
            </a:pPr>
            <a:r>
              <a:rPr sz="1500" b="0" i="0">
                <a:solidFill>
                  <a:srgbClr val="545F69"/>
                </a:solidFill>
                <a:latin typeface="Calibri"/>
              </a:rPr>
              <a:t>Notez deux ou trois échecs au tableau.</a:t>
            </a:r>
          </a:p>
          <a:p>
            <a:pPr algn="l">
              <a:lnSpc>
                <a:spcPct val="120000"/>
              </a:lnSpc>
              <a:spcAft>
                <a:spcPts val="0"/>
              </a:spcAft>
            </a:pPr>
          </a:p>
          <a:p>
            <a:pPr algn="l">
              <a:lnSpc>
                <a:spcPct val="120000"/>
              </a:lnSpc>
              <a:spcAft>
                <a:spcPts val="0"/>
              </a:spcAft>
            </a:pPr>
            <a:r>
              <a:rPr sz="1500" b="0" i="0">
                <a:solidFill>
                  <a:srgbClr val="545F69"/>
                </a:solidFill>
                <a:latin typeface="Calibri"/>
              </a:rPr>
              <a:t>Vous les reprendrez comme cas d'application dans l'atelier « assistant » de fin de matinée.</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A32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60120" y="1463040"/>
            <a:ext cx="7315200" cy="274320"/>
          </a:xfrm>
          <a:prstGeom prst="rect">
            <a:avLst/>
          </a:prstGeom>
          <a:noFill/>
        </p:spPr>
        <p:txBody>
          <a:bodyPr wrap="square" lIns="0" rIns="0" tIns="0" bIns="0" anchor="t">
            <a:spAutoFit/>
          </a:bodyPr>
          <a:lstStyle/>
          <a:p>
            <a:pPr algn="l">
              <a:lnSpc>
                <a:spcPct val="112000"/>
              </a:lnSpc>
              <a:spcAft>
                <a:spcPts val="0"/>
              </a:spcAft>
            </a:pPr>
            <a:r>
              <a:rPr sz="1200" b="1" i="0" spc="180">
                <a:solidFill>
                  <a:srgbClr val="A32B57"/>
                </a:solidFill>
                <a:latin typeface="Consolas"/>
              </a:rPr>
              <a:t>JOUR 2 · SÉQUENCE 9</a:t>
            </a:r>
          </a:p>
        </p:txBody>
      </p:sp>
      <p:sp>
        <p:nvSpPr>
          <p:cNvPr id="5" name="TextBox 4"/>
          <p:cNvSpPr txBox="1"/>
          <p:nvPr/>
        </p:nvSpPr>
        <p:spPr>
          <a:xfrm>
            <a:off x="960120" y="1965960"/>
            <a:ext cx="9601200" cy="2011680"/>
          </a:xfrm>
          <a:prstGeom prst="rect">
            <a:avLst/>
          </a:prstGeom>
          <a:noFill/>
        </p:spPr>
        <p:txBody>
          <a:bodyPr wrap="square" lIns="0" rIns="0" tIns="0" bIns="0" anchor="t">
            <a:spAutoFit/>
          </a:bodyPr>
          <a:lstStyle/>
          <a:p>
            <a:pPr algn="l">
              <a:lnSpc>
                <a:spcPct val="95000"/>
              </a:lnSpc>
              <a:spcAft>
                <a:spcPts val="0"/>
              </a:spcAft>
            </a:pPr>
            <a:r>
              <a:rPr sz="5000" b="1" i="0">
                <a:solidFill>
                  <a:srgbClr val="12181D"/>
                </a:solidFill>
                <a:latin typeface="Trebuchet MS"/>
              </a:rPr>
              <a:t>Le laboratoire</a:t>
            </a:r>
          </a:p>
        </p:txBody>
      </p:sp>
      <p:sp>
        <p:nvSpPr>
          <p:cNvPr id="6" name="Rectangle 5"/>
          <p:cNvSpPr/>
          <p:nvPr/>
        </p:nvSpPr>
        <p:spPr>
          <a:xfrm>
            <a:off x="960120" y="4114800"/>
            <a:ext cx="1463040" cy="41148"/>
          </a:xfrm>
          <a:prstGeom prst="rect">
            <a:avLst/>
          </a:prstGeom>
          <a:solidFill>
            <a:srgbClr val="A32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60120" y="4480560"/>
            <a:ext cx="8595360" cy="1097280"/>
          </a:xfrm>
          <a:prstGeom prst="rect">
            <a:avLst/>
          </a:prstGeom>
          <a:noFill/>
        </p:spPr>
        <p:txBody>
          <a:bodyPr wrap="square" lIns="0" rIns="0" tIns="0" bIns="0" anchor="t">
            <a:spAutoFit/>
          </a:bodyPr>
          <a:lstStyle/>
          <a:p>
            <a:pPr algn="l">
              <a:lnSpc>
                <a:spcPct val="132000"/>
              </a:lnSpc>
              <a:spcAft>
                <a:spcPts val="0"/>
              </a:spcAft>
            </a:pPr>
            <a:r>
              <a:rPr sz="2000" b="0" i="0">
                <a:solidFill>
                  <a:srgbClr val="545F69"/>
                </a:solidFill>
                <a:latin typeface="Calibri"/>
              </a:rPr>
              <a:t>Six outils, six effets. Cinq minutes de démonstration, dix minutes de manipulation, on tourne.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77240" y="402336"/>
            <a:ext cx="10637215" cy="32004"/>
          </a:xfrm>
          <a:prstGeom prst="rect">
            <a:avLst/>
          </a:prstGeom>
          <a:solidFill>
            <a:srgbClr val="12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77240" y="502920"/>
            <a:ext cx="10637215" cy="274320"/>
          </a:xfrm>
          <a:prstGeom prst="rect">
            <a:avLst/>
          </a:prstGeom>
          <a:noFill/>
        </p:spPr>
        <p:txBody>
          <a:bodyPr wrap="square" lIns="0" rIns="0" tIns="0" bIns="0" anchor="t">
            <a:spAutoFit/>
          </a:bodyPr>
          <a:lstStyle/>
          <a:p>
            <a:pPr algn="l">
              <a:lnSpc>
                <a:spcPct val="112000"/>
              </a:lnSpc>
              <a:spcAft>
                <a:spcPts val="0"/>
              </a:spcAft>
            </a:pPr>
            <a:r>
              <a:rPr sz="1050" b="1" i="0" spc="150">
                <a:solidFill>
                  <a:srgbClr val="A32B57"/>
                </a:solidFill>
                <a:latin typeface="Consolas"/>
              </a:rPr>
              <a:t>LABORATOIRE D'OUTILS</a:t>
            </a:r>
          </a:p>
        </p:txBody>
      </p:sp>
      <p:sp>
        <p:nvSpPr>
          <p:cNvPr id="4" name="TextBox 3"/>
          <p:cNvSpPr txBox="1"/>
          <p:nvPr/>
        </p:nvSpPr>
        <p:spPr>
          <a:xfrm>
            <a:off x="777240" y="868680"/>
            <a:ext cx="10637215" cy="1371600"/>
          </a:xfrm>
          <a:prstGeom prst="rect">
            <a:avLst/>
          </a:prstGeom>
          <a:noFill/>
        </p:spPr>
        <p:txBody>
          <a:bodyPr wrap="square" lIns="0" rIns="0" tIns="0" bIns="0" anchor="t">
            <a:spAutoFit/>
          </a:bodyPr>
          <a:lstStyle/>
          <a:p>
            <a:pPr algn="l">
              <a:lnSpc>
                <a:spcPct val="95000"/>
              </a:lnSpc>
              <a:spcAft>
                <a:spcPts val="0"/>
              </a:spcAft>
            </a:pPr>
            <a:r>
              <a:rPr sz="4000" b="1" i="0">
                <a:solidFill>
                  <a:srgbClr val="12181D"/>
                </a:solidFill>
                <a:latin typeface="Trebuchet MS"/>
              </a:rPr>
              <a:t>NotebookLM</a:t>
            </a:r>
          </a:p>
        </p:txBody>
      </p:sp>
      <p:sp>
        <p:nvSpPr>
          <p:cNvPr id="5" name="TextBox 4"/>
          <p:cNvSpPr txBox="1"/>
          <p:nvPr/>
        </p:nvSpPr>
        <p:spPr>
          <a:xfrm>
            <a:off x="777240" y="1874519"/>
            <a:ext cx="7315200" cy="274320"/>
          </a:xfrm>
          <a:prstGeom prst="rect">
            <a:avLst/>
          </a:prstGeom>
          <a:noFill/>
        </p:spPr>
        <p:txBody>
          <a:bodyPr wrap="square" lIns="0" rIns="0" tIns="0" bIns="0" anchor="t">
            <a:spAutoFit/>
          </a:bodyPr>
          <a:lstStyle/>
          <a:p>
            <a:pPr algn="l">
              <a:lnSpc>
                <a:spcPct val="112000"/>
              </a:lnSpc>
              <a:spcAft>
                <a:spcPts val="0"/>
              </a:spcAft>
            </a:pPr>
            <a:r>
              <a:rPr sz="1100" b="1" i="0" spc="150">
                <a:solidFill>
                  <a:srgbClr val="A32B57"/>
                </a:solidFill>
                <a:latin typeface="Consolas"/>
              </a:rPr>
              <a:t>GOOGLE · GRATUIT · LE MEILLEUR RAPPORT EFFET / DIFFICULTÉ</a:t>
            </a:r>
          </a:p>
        </p:txBody>
      </p:sp>
      <p:sp>
        <p:nvSpPr>
          <p:cNvPr id="6" name="TextBox 5"/>
          <p:cNvSpPr txBox="1"/>
          <p:nvPr/>
        </p:nvSpPr>
        <p:spPr>
          <a:xfrm>
            <a:off x="777240" y="2423160"/>
            <a:ext cx="5943600" cy="1280160"/>
          </a:xfrm>
          <a:prstGeom prst="rect">
            <a:avLst/>
          </a:prstGeom>
          <a:noFill/>
        </p:spPr>
        <p:txBody>
          <a:bodyPr wrap="square" lIns="0" rIns="0" tIns="0" bIns="0" anchor="t">
            <a:spAutoFit/>
          </a:bodyPr>
          <a:lstStyle/>
          <a:p>
            <a:pPr algn="l">
              <a:lnSpc>
                <a:spcPct val="130000"/>
              </a:lnSpc>
              <a:spcAft>
                <a:spcPts val="0"/>
              </a:spcAft>
            </a:pPr>
            <a:r>
              <a:rPr sz="1800" b="0" i="0">
                <a:solidFill>
                  <a:srgbClr val="545F69"/>
                </a:solidFill>
                <a:latin typeface="Calibri"/>
              </a:rPr>
              <a:t>Vous déposez vos documents — PDF, notes, pages web, vidéos — et l'outil ne répond plus qu'à partir de ceux-là. Chaque affirmation renvoie au passage source.</a:t>
            </a:r>
          </a:p>
        </p:txBody>
      </p:sp>
      <p:sp>
        <p:nvSpPr>
          <p:cNvPr id="7" name="TextBox 6"/>
          <p:cNvSpPr txBox="1"/>
          <p:nvPr/>
        </p:nvSpPr>
        <p:spPr>
          <a:xfrm>
            <a:off x="777240" y="3931920"/>
            <a:ext cx="3657600" cy="274320"/>
          </a:xfrm>
          <a:prstGeom prst="rect">
            <a:avLst/>
          </a:prstGeom>
          <a:noFill/>
        </p:spPr>
        <p:txBody>
          <a:bodyPr wrap="square" lIns="0" rIns="0" tIns="0" bIns="0" anchor="t">
            <a:spAutoFit/>
          </a:bodyPr>
          <a:lstStyle/>
          <a:p>
            <a:pPr algn="l">
              <a:lnSpc>
                <a:spcPct val="112000"/>
              </a:lnSpc>
              <a:spcAft>
                <a:spcPts val="0"/>
              </a:spcAft>
            </a:pPr>
            <a:r>
              <a:rPr sz="1000" b="1" i="0" spc="140">
                <a:solidFill>
                  <a:srgbClr val="8A959D"/>
                </a:solidFill>
                <a:latin typeface="Consolas"/>
              </a:rPr>
              <a:t>CE QU'ON FAIT EN SALLE</a:t>
            </a:r>
          </a:p>
        </p:txBody>
      </p:sp>
      <p:sp>
        <p:nvSpPr>
          <p:cNvPr id="8" name="TextBox 7"/>
          <p:cNvSpPr txBox="1"/>
          <p:nvPr/>
        </p:nvSpPr>
        <p:spPr>
          <a:xfrm>
            <a:off x="777240" y="4297680"/>
            <a:ext cx="274320" cy="274320"/>
          </a:xfrm>
          <a:prstGeom prst="rect">
            <a:avLst/>
          </a:prstGeom>
          <a:noFill/>
        </p:spPr>
        <p:txBody>
          <a:bodyPr wrap="square" lIns="0" rIns="0" tIns="0" bIns="0" anchor="t">
            <a:spAutoFit/>
          </a:bodyPr>
          <a:lstStyle/>
          <a:p>
            <a:pPr algn="l">
              <a:lnSpc>
                <a:spcPct val="112000"/>
              </a:lnSpc>
              <a:spcAft>
                <a:spcPts val="0"/>
              </a:spcAft>
            </a:pPr>
            <a:r>
              <a:rPr sz="1600" b="1" i="0">
                <a:solidFill>
                  <a:srgbClr val="A32B57"/>
                </a:solidFill>
                <a:latin typeface="Calibri"/>
              </a:rPr>
              <a:t>—</a:t>
            </a:r>
          </a:p>
        </p:txBody>
      </p:sp>
      <p:sp>
        <p:nvSpPr>
          <p:cNvPr id="9" name="TextBox 8"/>
          <p:cNvSpPr txBox="1"/>
          <p:nvPr/>
        </p:nvSpPr>
        <p:spPr>
          <a:xfrm>
            <a:off x="1088136" y="4297680"/>
            <a:ext cx="5632704" cy="365760"/>
          </a:xfrm>
          <a:prstGeom prst="rect">
            <a:avLst/>
          </a:prstGeom>
          <a:noFill/>
        </p:spPr>
        <p:txBody>
          <a:bodyPr wrap="square" lIns="0" rIns="0" tIns="0" bIns="0" anchor="t">
            <a:spAutoFit/>
          </a:bodyPr>
          <a:lstStyle/>
          <a:p>
            <a:pPr algn="l">
              <a:lnSpc>
                <a:spcPct val="114000"/>
              </a:lnSpc>
              <a:spcAft>
                <a:spcPts val="0"/>
              </a:spcAft>
            </a:pPr>
            <a:r>
              <a:rPr sz="1600" b="0" i="0">
                <a:solidFill>
                  <a:srgbClr val="545F69"/>
                </a:solidFill>
                <a:latin typeface="Calibri"/>
              </a:rPr>
              <a:t>Chacun charge </a:t>
            </a:r>
            <a:r>
              <a:rPr sz="1600" b="1" i="0">
                <a:solidFill>
                  <a:srgbClr val="12181D"/>
                </a:solidFill>
                <a:latin typeface="Calibri"/>
              </a:rPr>
              <a:t>trois documents de son métier</a:t>
            </a:r>
          </a:p>
        </p:txBody>
      </p:sp>
      <p:sp>
        <p:nvSpPr>
          <p:cNvPr id="10" name="TextBox 9"/>
          <p:cNvSpPr txBox="1"/>
          <p:nvPr/>
        </p:nvSpPr>
        <p:spPr>
          <a:xfrm>
            <a:off x="777240" y="4832096"/>
            <a:ext cx="274320" cy="274320"/>
          </a:xfrm>
          <a:prstGeom prst="rect">
            <a:avLst/>
          </a:prstGeom>
          <a:noFill/>
        </p:spPr>
        <p:txBody>
          <a:bodyPr wrap="square" lIns="0" rIns="0" tIns="0" bIns="0" anchor="t">
            <a:spAutoFit/>
          </a:bodyPr>
          <a:lstStyle/>
          <a:p>
            <a:pPr algn="l">
              <a:lnSpc>
                <a:spcPct val="112000"/>
              </a:lnSpc>
              <a:spcAft>
                <a:spcPts val="0"/>
              </a:spcAft>
            </a:pPr>
            <a:r>
              <a:rPr sz="1600" b="1" i="0">
                <a:solidFill>
                  <a:srgbClr val="A32B57"/>
                </a:solidFill>
                <a:latin typeface="Calibri"/>
              </a:rPr>
              <a:t>—</a:t>
            </a:r>
          </a:p>
        </p:txBody>
      </p:sp>
      <p:sp>
        <p:nvSpPr>
          <p:cNvPr id="11" name="TextBox 10"/>
          <p:cNvSpPr txBox="1"/>
          <p:nvPr/>
        </p:nvSpPr>
        <p:spPr>
          <a:xfrm>
            <a:off x="1088136" y="4832096"/>
            <a:ext cx="5632704" cy="365760"/>
          </a:xfrm>
          <a:prstGeom prst="rect">
            <a:avLst/>
          </a:prstGeom>
          <a:noFill/>
        </p:spPr>
        <p:txBody>
          <a:bodyPr wrap="square" lIns="0" rIns="0" tIns="0" bIns="0" anchor="t">
            <a:spAutoFit/>
          </a:bodyPr>
          <a:lstStyle/>
          <a:p>
            <a:pPr algn="l">
              <a:lnSpc>
                <a:spcPct val="114000"/>
              </a:lnSpc>
              <a:spcAft>
                <a:spcPts val="0"/>
              </a:spcAft>
            </a:pPr>
            <a:r>
              <a:rPr sz="1600" b="0" i="0">
                <a:solidFill>
                  <a:srgbClr val="545F69"/>
                </a:solidFill>
                <a:latin typeface="Calibri"/>
              </a:rPr>
              <a:t>Poser trois questions, vérifier les sources citées</a:t>
            </a:r>
          </a:p>
        </p:txBody>
      </p:sp>
      <p:sp>
        <p:nvSpPr>
          <p:cNvPr id="12" name="TextBox 11"/>
          <p:cNvSpPr txBox="1"/>
          <p:nvPr/>
        </p:nvSpPr>
        <p:spPr>
          <a:xfrm>
            <a:off x="777240" y="5366512"/>
            <a:ext cx="274320" cy="274320"/>
          </a:xfrm>
          <a:prstGeom prst="rect">
            <a:avLst/>
          </a:prstGeom>
          <a:noFill/>
        </p:spPr>
        <p:txBody>
          <a:bodyPr wrap="square" lIns="0" rIns="0" tIns="0" bIns="0" anchor="t">
            <a:spAutoFit/>
          </a:bodyPr>
          <a:lstStyle/>
          <a:p>
            <a:pPr algn="l">
              <a:lnSpc>
                <a:spcPct val="112000"/>
              </a:lnSpc>
              <a:spcAft>
                <a:spcPts val="0"/>
              </a:spcAft>
            </a:pPr>
            <a:r>
              <a:rPr sz="1600" b="1" i="0">
                <a:solidFill>
                  <a:srgbClr val="A32B57"/>
                </a:solidFill>
                <a:latin typeface="Calibri"/>
              </a:rPr>
              <a:t>—</a:t>
            </a:r>
          </a:p>
        </p:txBody>
      </p:sp>
      <p:sp>
        <p:nvSpPr>
          <p:cNvPr id="13" name="TextBox 12"/>
          <p:cNvSpPr txBox="1"/>
          <p:nvPr/>
        </p:nvSpPr>
        <p:spPr>
          <a:xfrm>
            <a:off x="1088136" y="5366512"/>
            <a:ext cx="5632704" cy="365760"/>
          </a:xfrm>
          <a:prstGeom prst="rect">
            <a:avLst/>
          </a:prstGeom>
          <a:noFill/>
        </p:spPr>
        <p:txBody>
          <a:bodyPr wrap="square" lIns="0" rIns="0" tIns="0" bIns="0" anchor="t">
            <a:spAutoFit/>
          </a:bodyPr>
          <a:lstStyle/>
          <a:p>
            <a:pPr algn="l">
              <a:lnSpc>
                <a:spcPct val="114000"/>
              </a:lnSpc>
              <a:spcAft>
                <a:spcPts val="0"/>
              </a:spcAft>
            </a:pPr>
            <a:r>
              <a:rPr sz="1600" b="0" i="0">
                <a:solidFill>
                  <a:srgbClr val="545F69"/>
                </a:solidFill>
                <a:latin typeface="Calibri"/>
              </a:rPr>
              <a:t>Générer la synthèse, puis la carte mentale</a:t>
            </a:r>
          </a:p>
        </p:txBody>
      </p:sp>
      <p:sp>
        <p:nvSpPr>
          <p:cNvPr id="14" name="TextBox 13"/>
          <p:cNvSpPr txBox="1"/>
          <p:nvPr/>
        </p:nvSpPr>
        <p:spPr>
          <a:xfrm>
            <a:off x="777240" y="5900928"/>
            <a:ext cx="274320" cy="274320"/>
          </a:xfrm>
          <a:prstGeom prst="rect">
            <a:avLst/>
          </a:prstGeom>
          <a:noFill/>
        </p:spPr>
        <p:txBody>
          <a:bodyPr wrap="square" lIns="0" rIns="0" tIns="0" bIns="0" anchor="t">
            <a:spAutoFit/>
          </a:bodyPr>
          <a:lstStyle/>
          <a:p>
            <a:pPr algn="l">
              <a:lnSpc>
                <a:spcPct val="112000"/>
              </a:lnSpc>
              <a:spcAft>
                <a:spcPts val="0"/>
              </a:spcAft>
            </a:pPr>
            <a:r>
              <a:rPr sz="1600" b="1" i="0">
                <a:solidFill>
                  <a:srgbClr val="A32B57"/>
                </a:solidFill>
                <a:latin typeface="Calibri"/>
              </a:rPr>
              <a:t>—</a:t>
            </a:r>
          </a:p>
        </p:txBody>
      </p:sp>
      <p:sp>
        <p:nvSpPr>
          <p:cNvPr id="15" name="TextBox 14"/>
          <p:cNvSpPr txBox="1"/>
          <p:nvPr/>
        </p:nvSpPr>
        <p:spPr>
          <a:xfrm>
            <a:off x="1088136" y="5900928"/>
            <a:ext cx="5632704" cy="365760"/>
          </a:xfrm>
          <a:prstGeom prst="rect">
            <a:avLst/>
          </a:prstGeom>
          <a:noFill/>
        </p:spPr>
        <p:txBody>
          <a:bodyPr wrap="square" lIns="0" rIns="0" tIns="0" bIns="0" anchor="t">
            <a:spAutoFit/>
          </a:bodyPr>
          <a:lstStyle/>
          <a:p>
            <a:pPr algn="l">
              <a:lnSpc>
                <a:spcPct val="114000"/>
              </a:lnSpc>
              <a:spcAft>
                <a:spcPts val="0"/>
              </a:spcAft>
            </a:pPr>
            <a:r>
              <a:rPr sz="1600" b="0" i="0">
                <a:solidFill>
                  <a:srgbClr val="545F69"/>
                </a:solidFill>
                <a:latin typeface="Calibri"/>
              </a:rPr>
              <a:t>Lancer le podcast à deux voix et écouter trente secondes</a:t>
            </a:r>
          </a:p>
        </p:txBody>
      </p:sp>
      <p:sp>
        <p:nvSpPr>
          <p:cNvPr id="16" name="Rectangle 15"/>
          <p:cNvSpPr/>
          <p:nvPr/>
        </p:nvSpPr>
        <p:spPr>
          <a:xfrm>
            <a:off x="7269479" y="2286000"/>
            <a:ext cx="4144975" cy="3383280"/>
          </a:xfrm>
          <a:prstGeom prst="rect">
            <a:avLst/>
          </a:prstGeom>
          <a:solidFill>
            <a:srgbClr val="FAF1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269479" y="2286000"/>
            <a:ext cx="41148" cy="3383280"/>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525511" y="2487168"/>
            <a:ext cx="3687775" cy="228600"/>
          </a:xfrm>
          <a:prstGeom prst="rect">
            <a:avLst/>
          </a:prstGeom>
          <a:noFill/>
        </p:spPr>
        <p:txBody>
          <a:bodyPr wrap="square" lIns="0" rIns="0" tIns="0" bIns="0" anchor="t">
            <a:spAutoFit/>
          </a:bodyPr>
          <a:lstStyle/>
          <a:p>
            <a:pPr algn="l">
              <a:lnSpc>
                <a:spcPct val="112000"/>
              </a:lnSpc>
              <a:spcAft>
                <a:spcPts val="0"/>
              </a:spcAft>
            </a:pPr>
            <a:r>
              <a:rPr sz="1000" b="1" i="0" spc="140">
                <a:solidFill>
                  <a:srgbClr val="8A5A00"/>
                </a:solidFill>
                <a:latin typeface="Consolas"/>
              </a:rPr>
              <a:t>POINT DE VIGILANCE</a:t>
            </a:r>
          </a:p>
        </p:txBody>
      </p:sp>
      <p:sp>
        <p:nvSpPr>
          <p:cNvPr id="19" name="TextBox 18"/>
          <p:cNvSpPr txBox="1"/>
          <p:nvPr/>
        </p:nvSpPr>
        <p:spPr>
          <a:xfrm>
            <a:off x="7525511" y="2816352"/>
            <a:ext cx="3687775" cy="2651760"/>
          </a:xfrm>
          <a:prstGeom prst="rect">
            <a:avLst/>
          </a:prstGeom>
          <a:noFill/>
        </p:spPr>
        <p:txBody>
          <a:bodyPr wrap="square" lIns="0" rIns="0" tIns="0" bIns="0" anchor="t">
            <a:spAutoFit/>
          </a:bodyPr>
          <a:lstStyle/>
          <a:p>
            <a:pPr algn="l">
              <a:lnSpc>
                <a:spcPct val="120000"/>
              </a:lnSpc>
              <a:spcAft>
                <a:spcPts val="0"/>
              </a:spcAft>
            </a:pPr>
            <a:r>
              <a:rPr sz="1600" b="0" i="0">
                <a:solidFill>
                  <a:srgbClr val="545F69"/>
                </a:solidFill>
                <a:latin typeface="Calibri"/>
              </a:rPr>
              <a:t>Vos documents sont hébergés chez Google. Appliquez la règle des trois feux : en salle, on ne charge que du vert.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77240" y="402336"/>
            <a:ext cx="10637215" cy="32004"/>
          </a:xfrm>
          <a:prstGeom prst="rect">
            <a:avLst/>
          </a:prstGeom>
          <a:solidFill>
            <a:srgbClr val="12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77240" y="502920"/>
            <a:ext cx="10637215" cy="274320"/>
          </a:xfrm>
          <a:prstGeom prst="rect">
            <a:avLst/>
          </a:prstGeom>
          <a:noFill/>
        </p:spPr>
        <p:txBody>
          <a:bodyPr wrap="square" lIns="0" rIns="0" tIns="0" bIns="0" anchor="t">
            <a:spAutoFit/>
          </a:bodyPr>
          <a:lstStyle/>
          <a:p>
            <a:pPr algn="l">
              <a:lnSpc>
                <a:spcPct val="112000"/>
              </a:lnSpc>
              <a:spcAft>
                <a:spcPts val="0"/>
              </a:spcAft>
            </a:pPr>
            <a:r>
              <a:rPr sz="1050" b="1" i="0" spc="150">
                <a:solidFill>
                  <a:srgbClr val="A32B57"/>
                </a:solidFill>
                <a:latin typeface="Consolas"/>
              </a:rPr>
              <a:t>LABORATOIRE D'OUTILS</a:t>
            </a:r>
          </a:p>
        </p:txBody>
      </p:sp>
      <p:sp>
        <p:nvSpPr>
          <p:cNvPr id="4" name="TextBox 3"/>
          <p:cNvSpPr txBox="1"/>
          <p:nvPr/>
        </p:nvSpPr>
        <p:spPr>
          <a:xfrm>
            <a:off x="777240" y="868680"/>
            <a:ext cx="10637215" cy="1371600"/>
          </a:xfrm>
          <a:prstGeom prst="rect">
            <a:avLst/>
          </a:prstGeom>
          <a:noFill/>
        </p:spPr>
        <p:txBody>
          <a:bodyPr wrap="square" lIns="0" rIns="0" tIns="0" bIns="0" anchor="t">
            <a:spAutoFit/>
          </a:bodyPr>
          <a:lstStyle/>
          <a:p>
            <a:pPr algn="l">
              <a:lnSpc>
                <a:spcPct val="95000"/>
              </a:lnSpc>
              <a:spcAft>
                <a:spcPts val="0"/>
              </a:spcAft>
            </a:pPr>
            <a:r>
              <a:rPr sz="4000" b="1" i="0">
                <a:solidFill>
                  <a:srgbClr val="12181D"/>
                </a:solidFill>
                <a:latin typeface="Trebuchet MS"/>
              </a:rPr>
              <a:t>Génération et retouche d'image</a:t>
            </a:r>
          </a:p>
        </p:txBody>
      </p:sp>
      <p:sp>
        <p:nvSpPr>
          <p:cNvPr id="5" name="TextBox 4"/>
          <p:cNvSpPr txBox="1"/>
          <p:nvPr/>
        </p:nvSpPr>
        <p:spPr>
          <a:xfrm>
            <a:off x="777240" y="1874519"/>
            <a:ext cx="7315200" cy="274320"/>
          </a:xfrm>
          <a:prstGeom prst="rect">
            <a:avLst/>
          </a:prstGeom>
          <a:noFill/>
        </p:spPr>
        <p:txBody>
          <a:bodyPr wrap="square" lIns="0" rIns="0" tIns="0" bIns="0" anchor="t">
            <a:spAutoFit/>
          </a:bodyPr>
          <a:lstStyle/>
          <a:p>
            <a:pPr algn="l">
              <a:lnSpc>
                <a:spcPct val="112000"/>
              </a:lnSpc>
              <a:spcAft>
                <a:spcPts val="0"/>
              </a:spcAft>
            </a:pPr>
            <a:r>
              <a:rPr sz="1100" b="1" i="0" spc="150">
                <a:solidFill>
                  <a:srgbClr val="A32B57"/>
                </a:solidFill>
                <a:latin typeface="Consolas"/>
              </a:rPr>
              <a:t>GEMINI · NANO BANANA</a:t>
            </a:r>
          </a:p>
        </p:txBody>
      </p:sp>
      <p:sp>
        <p:nvSpPr>
          <p:cNvPr id="6" name="TextBox 5"/>
          <p:cNvSpPr txBox="1"/>
          <p:nvPr/>
        </p:nvSpPr>
        <p:spPr>
          <a:xfrm>
            <a:off x="777240" y="2423160"/>
            <a:ext cx="5943600" cy="1280160"/>
          </a:xfrm>
          <a:prstGeom prst="rect">
            <a:avLst/>
          </a:prstGeom>
          <a:noFill/>
        </p:spPr>
        <p:txBody>
          <a:bodyPr wrap="square" lIns="0" rIns="0" tIns="0" bIns="0" anchor="t">
            <a:spAutoFit/>
          </a:bodyPr>
          <a:lstStyle/>
          <a:p>
            <a:pPr algn="l">
              <a:lnSpc>
                <a:spcPct val="130000"/>
              </a:lnSpc>
              <a:spcAft>
                <a:spcPts val="0"/>
              </a:spcAft>
            </a:pPr>
            <a:r>
              <a:rPr sz="1800" b="0" i="0">
                <a:solidFill>
                  <a:srgbClr val="545F69"/>
                </a:solidFill>
                <a:latin typeface="Calibri"/>
              </a:rPr>
              <a:t>Modifier une photo réelle en décrivant le changement en français : supprimer un élément, changer un fond, meubler une pièce vide, décliner un visuel en plusieurs formats.</a:t>
            </a:r>
          </a:p>
        </p:txBody>
      </p:sp>
      <p:sp>
        <p:nvSpPr>
          <p:cNvPr id="7" name="TextBox 6"/>
          <p:cNvSpPr txBox="1"/>
          <p:nvPr/>
        </p:nvSpPr>
        <p:spPr>
          <a:xfrm>
            <a:off x="777240" y="3931920"/>
            <a:ext cx="3657600" cy="274320"/>
          </a:xfrm>
          <a:prstGeom prst="rect">
            <a:avLst/>
          </a:prstGeom>
          <a:noFill/>
        </p:spPr>
        <p:txBody>
          <a:bodyPr wrap="square" lIns="0" rIns="0" tIns="0" bIns="0" anchor="t">
            <a:spAutoFit/>
          </a:bodyPr>
          <a:lstStyle/>
          <a:p>
            <a:pPr algn="l">
              <a:lnSpc>
                <a:spcPct val="112000"/>
              </a:lnSpc>
              <a:spcAft>
                <a:spcPts val="0"/>
              </a:spcAft>
            </a:pPr>
            <a:r>
              <a:rPr sz="1000" b="1" i="0" spc="140">
                <a:solidFill>
                  <a:srgbClr val="8A959D"/>
                </a:solidFill>
                <a:latin typeface="Consolas"/>
              </a:rPr>
              <a:t>CE QU'ON FAIT EN SALLE</a:t>
            </a:r>
          </a:p>
        </p:txBody>
      </p:sp>
      <p:sp>
        <p:nvSpPr>
          <p:cNvPr id="8" name="TextBox 7"/>
          <p:cNvSpPr txBox="1"/>
          <p:nvPr/>
        </p:nvSpPr>
        <p:spPr>
          <a:xfrm>
            <a:off x="777240" y="4297680"/>
            <a:ext cx="274320" cy="274320"/>
          </a:xfrm>
          <a:prstGeom prst="rect">
            <a:avLst/>
          </a:prstGeom>
          <a:noFill/>
        </p:spPr>
        <p:txBody>
          <a:bodyPr wrap="square" lIns="0" rIns="0" tIns="0" bIns="0" anchor="t">
            <a:spAutoFit/>
          </a:bodyPr>
          <a:lstStyle/>
          <a:p>
            <a:pPr algn="l">
              <a:lnSpc>
                <a:spcPct val="112000"/>
              </a:lnSpc>
              <a:spcAft>
                <a:spcPts val="0"/>
              </a:spcAft>
            </a:pPr>
            <a:r>
              <a:rPr sz="1600" b="1" i="0">
                <a:solidFill>
                  <a:srgbClr val="A32B57"/>
                </a:solidFill>
                <a:latin typeface="Calibri"/>
              </a:rPr>
              <a:t>—</a:t>
            </a:r>
          </a:p>
        </p:txBody>
      </p:sp>
      <p:sp>
        <p:nvSpPr>
          <p:cNvPr id="9" name="TextBox 8"/>
          <p:cNvSpPr txBox="1"/>
          <p:nvPr/>
        </p:nvSpPr>
        <p:spPr>
          <a:xfrm>
            <a:off x="1088136" y="4297680"/>
            <a:ext cx="5632704" cy="365760"/>
          </a:xfrm>
          <a:prstGeom prst="rect">
            <a:avLst/>
          </a:prstGeom>
          <a:noFill/>
        </p:spPr>
        <p:txBody>
          <a:bodyPr wrap="square" lIns="0" rIns="0" tIns="0" bIns="0" anchor="t">
            <a:spAutoFit/>
          </a:bodyPr>
          <a:lstStyle/>
          <a:p>
            <a:pPr algn="l">
              <a:lnSpc>
                <a:spcPct val="114000"/>
              </a:lnSpc>
              <a:spcAft>
                <a:spcPts val="0"/>
              </a:spcAft>
            </a:pPr>
            <a:r>
              <a:rPr sz="1600" b="0" i="0">
                <a:solidFill>
                  <a:srgbClr val="545F69"/>
                </a:solidFill>
                <a:latin typeface="Calibri"/>
              </a:rPr>
              <a:t>Chacun part d'une </a:t>
            </a:r>
            <a:r>
              <a:rPr sz="1600" b="1" i="0">
                <a:solidFill>
                  <a:srgbClr val="12181D"/>
                </a:solidFill>
                <a:latin typeface="Calibri"/>
              </a:rPr>
              <a:t>photo qu'il a sur son téléphone</a:t>
            </a:r>
          </a:p>
        </p:txBody>
      </p:sp>
      <p:sp>
        <p:nvSpPr>
          <p:cNvPr id="10" name="TextBox 9"/>
          <p:cNvSpPr txBox="1"/>
          <p:nvPr/>
        </p:nvSpPr>
        <p:spPr>
          <a:xfrm>
            <a:off x="777240" y="4832096"/>
            <a:ext cx="274320" cy="274320"/>
          </a:xfrm>
          <a:prstGeom prst="rect">
            <a:avLst/>
          </a:prstGeom>
          <a:noFill/>
        </p:spPr>
        <p:txBody>
          <a:bodyPr wrap="square" lIns="0" rIns="0" tIns="0" bIns="0" anchor="t">
            <a:spAutoFit/>
          </a:bodyPr>
          <a:lstStyle/>
          <a:p>
            <a:pPr algn="l">
              <a:lnSpc>
                <a:spcPct val="112000"/>
              </a:lnSpc>
              <a:spcAft>
                <a:spcPts val="0"/>
              </a:spcAft>
            </a:pPr>
            <a:r>
              <a:rPr sz="1600" b="1" i="0">
                <a:solidFill>
                  <a:srgbClr val="A32B57"/>
                </a:solidFill>
                <a:latin typeface="Calibri"/>
              </a:rPr>
              <a:t>—</a:t>
            </a:r>
          </a:p>
        </p:txBody>
      </p:sp>
      <p:sp>
        <p:nvSpPr>
          <p:cNvPr id="11" name="TextBox 10"/>
          <p:cNvSpPr txBox="1"/>
          <p:nvPr/>
        </p:nvSpPr>
        <p:spPr>
          <a:xfrm>
            <a:off x="1088136" y="4832096"/>
            <a:ext cx="5632704" cy="365760"/>
          </a:xfrm>
          <a:prstGeom prst="rect">
            <a:avLst/>
          </a:prstGeom>
          <a:noFill/>
        </p:spPr>
        <p:txBody>
          <a:bodyPr wrap="square" lIns="0" rIns="0" tIns="0" bIns="0" anchor="t">
            <a:spAutoFit/>
          </a:bodyPr>
          <a:lstStyle/>
          <a:p>
            <a:pPr algn="l">
              <a:lnSpc>
                <a:spcPct val="114000"/>
              </a:lnSpc>
              <a:spcAft>
                <a:spcPts val="0"/>
              </a:spcAft>
            </a:pPr>
            <a:r>
              <a:rPr sz="1600" b="0" i="0">
                <a:solidFill>
                  <a:srgbClr val="545F69"/>
                </a:solidFill>
                <a:latin typeface="Calibri"/>
              </a:rPr>
              <a:t>Supprimer un élément gênant de l'arrière-plan</a:t>
            </a:r>
          </a:p>
        </p:txBody>
      </p:sp>
      <p:sp>
        <p:nvSpPr>
          <p:cNvPr id="12" name="TextBox 11"/>
          <p:cNvSpPr txBox="1"/>
          <p:nvPr/>
        </p:nvSpPr>
        <p:spPr>
          <a:xfrm>
            <a:off x="777240" y="5366512"/>
            <a:ext cx="274320" cy="274320"/>
          </a:xfrm>
          <a:prstGeom prst="rect">
            <a:avLst/>
          </a:prstGeom>
          <a:noFill/>
        </p:spPr>
        <p:txBody>
          <a:bodyPr wrap="square" lIns="0" rIns="0" tIns="0" bIns="0" anchor="t">
            <a:spAutoFit/>
          </a:bodyPr>
          <a:lstStyle/>
          <a:p>
            <a:pPr algn="l">
              <a:lnSpc>
                <a:spcPct val="112000"/>
              </a:lnSpc>
              <a:spcAft>
                <a:spcPts val="0"/>
              </a:spcAft>
            </a:pPr>
            <a:r>
              <a:rPr sz="1600" b="1" i="0">
                <a:solidFill>
                  <a:srgbClr val="A32B57"/>
                </a:solidFill>
                <a:latin typeface="Calibri"/>
              </a:rPr>
              <a:t>—</a:t>
            </a:r>
          </a:p>
        </p:txBody>
      </p:sp>
      <p:sp>
        <p:nvSpPr>
          <p:cNvPr id="13" name="TextBox 12"/>
          <p:cNvSpPr txBox="1"/>
          <p:nvPr/>
        </p:nvSpPr>
        <p:spPr>
          <a:xfrm>
            <a:off x="1088136" y="5366512"/>
            <a:ext cx="5632704" cy="365760"/>
          </a:xfrm>
          <a:prstGeom prst="rect">
            <a:avLst/>
          </a:prstGeom>
          <a:noFill/>
        </p:spPr>
        <p:txBody>
          <a:bodyPr wrap="square" lIns="0" rIns="0" tIns="0" bIns="0" anchor="t">
            <a:spAutoFit/>
          </a:bodyPr>
          <a:lstStyle/>
          <a:p>
            <a:pPr algn="l">
              <a:lnSpc>
                <a:spcPct val="114000"/>
              </a:lnSpc>
              <a:spcAft>
                <a:spcPts val="0"/>
              </a:spcAft>
            </a:pPr>
            <a:r>
              <a:rPr sz="1600" b="0" i="0">
                <a:solidFill>
                  <a:srgbClr val="545F69"/>
                </a:solidFill>
                <a:latin typeface="Calibri"/>
              </a:rPr>
              <a:t>Essayer un aménagement : pièce vide, mobilier ajouté</a:t>
            </a:r>
          </a:p>
        </p:txBody>
      </p:sp>
      <p:sp>
        <p:nvSpPr>
          <p:cNvPr id="14" name="TextBox 13"/>
          <p:cNvSpPr txBox="1"/>
          <p:nvPr/>
        </p:nvSpPr>
        <p:spPr>
          <a:xfrm>
            <a:off x="777240" y="5900928"/>
            <a:ext cx="274320" cy="274320"/>
          </a:xfrm>
          <a:prstGeom prst="rect">
            <a:avLst/>
          </a:prstGeom>
          <a:noFill/>
        </p:spPr>
        <p:txBody>
          <a:bodyPr wrap="square" lIns="0" rIns="0" tIns="0" bIns="0" anchor="t">
            <a:spAutoFit/>
          </a:bodyPr>
          <a:lstStyle/>
          <a:p>
            <a:pPr algn="l">
              <a:lnSpc>
                <a:spcPct val="112000"/>
              </a:lnSpc>
              <a:spcAft>
                <a:spcPts val="0"/>
              </a:spcAft>
            </a:pPr>
            <a:r>
              <a:rPr sz="1600" b="1" i="0">
                <a:solidFill>
                  <a:srgbClr val="A32B57"/>
                </a:solidFill>
                <a:latin typeface="Calibri"/>
              </a:rPr>
              <a:t>—</a:t>
            </a:r>
          </a:p>
        </p:txBody>
      </p:sp>
      <p:sp>
        <p:nvSpPr>
          <p:cNvPr id="15" name="TextBox 14"/>
          <p:cNvSpPr txBox="1"/>
          <p:nvPr/>
        </p:nvSpPr>
        <p:spPr>
          <a:xfrm>
            <a:off x="1088136" y="5900928"/>
            <a:ext cx="5632704" cy="365760"/>
          </a:xfrm>
          <a:prstGeom prst="rect">
            <a:avLst/>
          </a:prstGeom>
          <a:noFill/>
        </p:spPr>
        <p:txBody>
          <a:bodyPr wrap="square" lIns="0" rIns="0" tIns="0" bIns="0" anchor="t">
            <a:spAutoFit/>
          </a:bodyPr>
          <a:lstStyle/>
          <a:p>
            <a:pPr algn="l">
              <a:lnSpc>
                <a:spcPct val="114000"/>
              </a:lnSpc>
              <a:spcAft>
                <a:spcPts val="0"/>
              </a:spcAft>
            </a:pPr>
            <a:r>
              <a:rPr sz="1600" b="0" i="0">
                <a:solidFill>
                  <a:srgbClr val="545F69"/>
                </a:solidFill>
                <a:latin typeface="Calibri"/>
              </a:rPr>
              <a:t>Comparer avec ce qu'aurait coûté la même retouche</a:t>
            </a:r>
          </a:p>
        </p:txBody>
      </p:sp>
      <p:sp>
        <p:nvSpPr>
          <p:cNvPr id="16" name="Rectangle 15"/>
          <p:cNvSpPr/>
          <p:nvPr/>
        </p:nvSpPr>
        <p:spPr>
          <a:xfrm>
            <a:off x="7269479" y="2286000"/>
            <a:ext cx="4144975" cy="3383280"/>
          </a:xfrm>
          <a:prstGeom prst="rect">
            <a:avLst/>
          </a:prstGeom>
          <a:solidFill>
            <a:srgbClr val="FAF1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269479" y="2286000"/>
            <a:ext cx="41148" cy="3383280"/>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525511" y="2487168"/>
            <a:ext cx="3687775" cy="228600"/>
          </a:xfrm>
          <a:prstGeom prst="rect">
            <a:avLst/>
          </a:prstGeom>
          <a:noFill/>
        </p:spPr>
        <p:txBody>
          <a:bodyPr wrap="square" lIns="0" rIns="0" tIns="0" bIns="0" anchor="t">
            <a:spAutoFit/>
          </a:bodyPr>
          <a:lstStyle/>
          <a:p>
            <a:pPr algn="l">
              <a:lnSpc>
                <a:spcPct val="112000"/>
              </a:lnSpc>
              <a:spcAft>
                <a:spcPts val="0"/>
              </a:spcAft>
            </a:pPr>
            <a:r>
              <a:rPr sz="1000" b="1" i="0" spc="140">
                <a:solidFill>
                  <a:srgbClr val="8A5A00"/>
                </a:solidFill>
                <a:latin typeface="Consolas"/>
              </a:rPr>
              <a:t>POINT DE VIGILANCE</a:t>
            </a:r>
          </a:p>
        </p:txBody>
      </p:sp>
      <p:sp>
        <p:nvSpPr>
          <p:cNvPr id="19" name="TextBox 18"/>
          <p:cNvSpPr txBox="1"/>
          <p:nvPr/>
        </p:nvSpPr>
        <p:spPr>
          <a:xfrm>
            <a:off x="7525511" y="2816352"/>
            <a:ext cx="3687775" cy="2651760"/>
          </a:xfrm>
          <a:prstGeom prst="rect">
            <a:avLst/>
          </a:prstGeom>
          <a:noFill/>
        </p:spPr>
        <p:txBody>
          <a:bodyPr wrap="square" lIns="0" rIns="0" tIns="0" bIns="0" anchor="t">
            <a:spAutoFit/>
          </a:bodyPr>
          <a:lstStyle/>
          <a:p>
            <a:pPr algn="l">
              <a:lnSpc>
                <a:spcPct val="120000"/>
              </a:lnSpc>
              <a:spcAft>
                <a:spcPts val="0"/>
              </a:spcAft>
            </a:pPr>
            <a:r>
              <a:rPr sz="1600" b="0" i="0">
                <a:solidFill>
                  <a:srgbClr val="545F69"/>
                </a:solidFill>
                <a:latin typeface="Calibri"/>
              </a:rPr>
              <a:t>Les contenus générés portent une marque invisible. Et un visuel modifié qui documente un bien ou un produit engage votre responsabilité commerciale.</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77240" y="402336"/>
            <a:ext cx="10637215" cy="32004"/>
          </a:xfrm>
          <a:prstGeom prst="rect">
            <a:avLst/>
          </a:prstGeom>
          <a:solidFill>
            <a:srgbClr val="12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77240" y="502920"/>
            <a:ext cx="10637215" cy="274320"/>
          </a:xfrm>
          <a:prstGeom prst="rect">
            <a:avLst/>
          </a:prstGeom>
          <a:noFill/>
        </p:spPr>
        <p:txBody>
          <a:bodyPr wrap="square" lIns="0" rIns="0" tIns="0" bIns="0" anchor="t">
            <a:spAutoFit/>
          </a:bodyPr>
          <a:lstStyle/>
          <a:p>
            <a:pPr algn="l">
              <a:lnSpc>
                <a:spcPct val="112000"/>
              </a:lnSpc>
              <a:spcAft>
                <a:spcPts val="0"/>
              </a:spcAft>
            </a:pPr>
            <a:r>
              <a:rPr sz="1050" b="1" i="0" spc="150">
                <a:solidFill>
                  <a:srgbClr val="A32B57"/>
                </a:solidFill>
                <a:latin typeface="Consolas"/>
              </a:rPr>
              <a:t>LABORATOIRE D'OUTILS</a:t>
            </a:r>
          </a:p>
        </p:txBody>
      </p:sp>
      <p:sp>
        <p:nvSpPr>
          <p:cNvPr id="4" name="TextBox 3"/>
          <p:cNvSpPr txBox="1"/>
          <p:nvPr/>
        </p:nvSpPr>
        <p:spPr>
          <a:xfrm>
            <a:off x="777240" y="868680"/>
            <a:ext cx="10637215" cy="1371600"/>
          </a:xfrm>
          <a:prstGeom prst="rect">
            <a:avLst/>
          </a:prstGeom>
          <a:noFill/>
        </p:spPr>
        <p:txBody>
          <a:bodyPr wrap="square" lIns="0" rIns="0" tIns="0" bIns="0" anchor="t">
            <a:spAutoFit/>
          </a:bodyPr>
          <a:lstStyle/>
          <a:p>
            <a:pPr algn="l">
              <a:lnSpc>
                <a:spcPct val="95000"/>
              </a:lnSpc>
              <a:spcAft>
                <a:spcPts val="0"/>
              </a:spcAft>
            </a:pPr>
            <a:r>
              <a:rPr sz="4000" b="1" i="0">
                <a:solidFill>
                  <a:srgbClr val="12181D"/>
                </a:solidFill>
                <a:latin typeface="Trebuchet MS"/>
              </a:rPr>
              <a:t>Le mode vocal</a:t>
            </a:r>
          </a:p>
        </p:txBody>
      </p:sp>
      <p:sp>
        <p:nvSpPr>
          <p:cNvPr id="5" name="TextBox 4"/>
          <p:cNvSpPr txBox="1"/>
          <p:nvPr/>
        </p:nvSpPr>
        <p:spPr>
          <a:xfrm>
            <a:off x="777240" y="1874519"/>
            <a:ext cx="7315200" cy="274320"/>
          </a:xfrm>
          <a:prstGeom prst="rect">
            <a:avLst/>
          </a:prstGeom>
          <a:noFill/>
        </p:spPr>
        <p:txBody>
          <a:bodyPr wrap="square" lIns="0" rIns="0" tIns="0" bIns="0" anchor="t">
            <a:spAutoFit/>
          </a:bodyPr>
          <a:lstStyle/>
          <a:p>
            <a:pPr algn="l">
              <a:lnSpc>
                <a:spcPct val="112000"/>
              </a:lnSpc>
              <a:spcAft>
                <a:spcPts val="0"/>
              </a:spcAft>
            </a:pPr>
            <a:r>
              <a:rPr sz="1100" b="1" i="0" spc="150">
                <a:solidFill>
                  <a:srgbClr val="A32B57"/>
                </a:solidFill>
                <a:latin typeface="Consolas"/>
              </a:rPr>
              <a:t>CHATGPT · GEMINI · SUR MOBILE</a:t>
            </a:r>
          </a:p>
        </p:txBody>
      </p:sp>
      <p:sp>
        <p:nvSpPr>
          <p:cNvPr id="6" name="TextBox 5"/>
          <p:cNvSpPr txBox="1"/>
          <p:nvPr/>
        </p:nvSpPr>
        <p:spPr>
          <a:xfrm>
            <a:off x="777240" y="2423160"/>
            <a:ext cx="5943600" cy="1280160"/>
          </a:xfrm>
          <a:prstGeom prst="rect">
            <a:avLst/>
          </a:prstGeom>
          <a:noFill/>
        </p:spPr>
        <p:txBody>
          <a:bodyPr wrap="square" lIns="0" rIns="0" tIns="0" bIns="0" anchor="t">
            <a:spAutoFit/>
          </a:bodyPr>
          <a:lstStyle/>
          <a:p>
            <a:pPr algn="l">
              <a:lnSpc>
                <a:spcPct val="130000"/>
              </a:lnSpc>
              <a:spcAft>
                <a:spcPts val="0"/>
              </a:spcAft>
            </a:pPr>
            <a:r>
              <a:rPr sz="1800" b="0" i="0">
                <a:solidFill>
                  <a:srgbClr val="545F69"/>
                </a:solidFill>
                <a:latin typeface="Calibri"/>
              </a:rPr>
              <a:t>Une conversation à voix haute, mains libres, avec interruption possible. Change complètement le rapport à l'outil : on cesse de rédiger une requête, on parle.</a:t>
            </a:r>
          </a:p>
        </p:txBody>
      </p:sp>
      <p:sp>
        <p:nvSpPr>
          <p:cNvPr id="7" name="TextBox 6"/>
          <p:cNvSpPr txBox="1"/>
          <p:nvPr/>
        </p:nvSpPr>
        <p:spPr>
          <a:xfrm>
            <a:off x="777240" y="3931920"/>
            <a:ext cx="3657600" cy="274320"/>
          </a:xfrm>
          <a:prstGeom prst="rect">
            <a:avLst/>
          </a:prstGeom>
          <a:noFill/>
        </p:spPr>
        <p:txBody>
          <a:bodyPr wrap="square" lIns="0" rIns="0" tIns="0" bIns="0" anchor="t">
            <a:spAutoFit/>
          </a:bodyPr>
          <a:lstStyle/>
          <a:p>
            <a:pPr algn="l">
              <a:lnSpc>
                <a:spcPct val="112000"/>
              </a:lnSpc>
              <a:spcAft>
                <a:spcPts val="0"/>
              </a:spcAft>
            </a:pPr>
            <a:r>
              <a:rPr sz="1000" b="1" i="0" spc="140">
                <a:solidFill>
                  <a:srgbClr val="8A959D"/>
                </a:solidFill>
                <a:latin typeface="Consolas"/>
              </a:rPr>
              <a:t>CE QU'ON FAIT EN SALLE</a:t>
            </a:r>
          </a:p>
        </p:txBody>
      </p:sp>
      <p:sp>
        <p:nvSpPr>
          <p:cNvPr id="8" name="TextBox 7"/>
          <p:cNvSpPr txBox="1"/>
          <p:nvPr/>
        </p:nvSpPr>
        <p:spPr>
          <a:xfrm>
            <a:off x="777240" y="4297680"/>
            <a:ext cx="274320" cy="274320"/>
          </a:xfrm>
          <a:prstGeom prst="rect">
            <a:avLst/>
          </a:prstGeom>
          <a:noFill/>
        </p:spPr>
        <p:txBody>
          <a:bodyPr wrap="square" lIns="0" rIns="0" tIns="0" bIns="0" anchor="t">
            <a:spAutoFit/>
          </a:bodyPr>
          <a:lstStyle/>
          <a:p>
            <a:pPr algn="l">
              <a:lnSpc>
                <a:spcPct val="112000"/>
              </a:lnSpc>
              <a:spcAft>
                <a:spcPts val="0"/>
              </a:spcAft>
            </a:pPr>
            <a:r>
              <a:rPr sz="1600" b="1" i="0">
                <a:solidFill>
                  <a:srgbClr val="A32B57"/>
                </a:solidFill>
                <a:latin typeface="Calibri"/>
              </a:rPr>
              <a:t>—</a:t>
            </a:r>
          </a:p>
        </p:txBody>
      </p:sp>
      <p:sp>
        <p:nvSpPr>
          <p:cNvPr id="9" name="TextBox 8"/>
          <p:cNvSpPr txBox="1"/>
          <p:nvPr/>
        </p:nvSpPr>
        <p:spPr>
          <a:xfrm>
            <a:off x="1088136" y="4297680"/>
            <a:ext cx="5632704" cy="365760"/>
          </a:xfrm>
          <a:prstGeom prst="rect">
            <a:avLst/>
          </a:prstGeom>
          <a:noFill/>
        </p:spPr>
        <p:txBody>
          <a:bodyPr wrap="square" lIns="0" rIns="0" tIns="0" bIns="0" anchor="t">
            <a:spAutoFit/>
          </a:bodyPr>
          <a:lstStyle/>
          <a:p>
            <a:pPr algn="l">
              <a:lnSpc>
                <a:spcPct val="114000"/>
              </a:lnSpc>
              <a:spcAft>
                <a:spcPts val="0"/>
              </a:spcAft>
            </a:pPr>
            <a:r>
              <a:rPr sz="1600" b="0" i="0">
                <a:solidFill>
                  <a:srgbClr val="545F69"/>
                </a:solidFill>
                <a:latin typeface="Calibri"/>
              </a:rPr>
              <a:t>Deux minutes en binôme, casque ou téléphone à la main</a:t>
            </a:r>
          </a:p>
        </p:txBody>
      </p:sp>
      <p:sp>
        <p:nvSpPr>
          <p:cNvPr id="10" name="TextBox 9"/>
          <p:cNvSpPr txBox="1"/>
          <p:nvPr/>
        </p:nvSpPr>
        <p:spPr>
          <a:xfrm>
            <a:off x="777240" y="4832096"/>
            <a:ext cx="274320" cy="274320"/>
          </a:xfrm>
          <a:prstGeom prst="rect">
            <a:avLst/>
          </a:prstGeom>
          <a:noFill/>
        </p:spPr>
        <p:txBody>
          <a:bodyPr wrap="square" lIns="0" rIns="0" tIns="0" bIns="0" anchor="t">
            <a:spAutoFit/>
          </a:bodyPr>
          <a:lstStyle/>
          <a:p>
            <a:pPr algn="l">
              <a:lnSpc>
                <a:spcPct val="112000"/>
              </a:lnSpc>
              <a:spcAft>
                <a:spcPts val="0"/>
              </a:spcAft>
            </a:pPr>
            <a:r>
              <a:rPr sz="1600" b="1" i="0">
                <a:solidFill>
                  <a:srgbClr val="A32B57"/>
                </a:solidFill>
                <a:latin typeface="Calibri"/>
              </a:rPr>
              <a:t>—</a:t>
            </a:r>
          </a:p>
        </p:txBody>
      </p:sp>
      <p:sp>
        <p:nvSpPr>
          <p:cNvPr id="11" name="TextBox 10"/>
          <p:cNvSpPr txBox="1"/>
          <p:nvPr/>
        </p:nvSpPr>
        <p:spPr>
          <a:xfrm>
            <a:off x="1088136" y="4832096"/>
            <a:ext cx="5632704" cy="365760"/>
          </a:xfrm>
          <a:prstGeom prst="rect">
            <a:avLst/>
          </a:prstGeom>
          <a:noFill/>
        </p:spPr>
        <p:txBody>
          <a:bodyPr wrap="square" lIns="0" rIns="0" tIns="0" bIns="0" anchor="t">
            <a:spAutoFit/>
          </a:bodyPr>
          <a:lstStyle/>
          <a:p>
            <a:pPr algn="l">
              <a:lnSpc>
                <a:spcPct val="114000"/>
              </a:lnSpc>
              <a:spcAft>
                <a:spcPts val="0"/>
              </a:spcAft>
            </a:pPr>
            <a:r>
              <a:rPr sz="1600" b="0" i="0">
                <a:solidFill>
                  <a:srgbClr val="545F69"/>
                </a:solidFill>
                <a:latin typeface="Calibri"/>
              </a:rPr>
              <a:t>Faire préparer un entretien, ou traduire en direct</a:t>
            </a:r>
          </a:p>
        </p:txBody>
      </p:sp>
      <p:sp>
        <p:nvSpPr>
          <p:cNvPr id="12" name="TextBox 11"/>
          <p:cNvSpPr txBox="1"/>
          <p:nvPr/>
        </p:nvSpPr>
        <p:spPr>
          <a:xfrm>
            <a:off x="777240" y="5366512"/>
            <a:ext cx="274320" cy="274320"/>
          </a:xfrm>
          <a:prstGeom prst="rect">
            <a:avLst/>
          </a:prstGeom>
          <a:noFill/>
        </p:spPr>
        <p:txBody>
          <a:bodyPr wrap="square" lIns="0" rIns="0" tIns="0" bIns="0" anchor="t">
            <a:spAutoFit/>
          </a:bodyPr>
          <a:lstStyle/>
          <a:p>
            <a:pPr algn="l">
              <a:lnSpc>
                <a:spcPct val="112000"/>
              </a:lnSpc>
              <a:spcAft>
                <a:spcPts val="0"/>
              </a:spcAft>
            </a:pPr>
            <a:r>
              <a:rPr sz="1600" b="1" i="0">
                <a:solidFill>
                  <a:srgbClr val="A32B57"/>
                </a:solidFill>
                <a:latin typeface="Calibri"/>
              </a:rPr>
              <a:t>—</a:t>
            </a:r>
          </a:p>
        </p:txBody>
      </p:sp>
      <p:sp>
        <p:nvSpPr>
          <p:cNvPr id="13" name="TextBox 12"/>
          <p:cNvSpPr txBox="1"/>
          <p:nvPr/>
        </p:nvSpPr>
        <p:spPr>
          <a:xfrm>
            <a:off x="1088136" y="5366512"/>
            <a:ext cx="5632704" cy="365760"/>
          </a:xfrm>
          <a:prstGeom prst="rect">
            <a:avLst/>
          </a:prstGeom>
          <a:noFill/>
        </p:spPr>
        <p:txBody>
          <a:bodyPr wrap="square" lIns="0" rIns="0" tIns="0" bIns="0" anchor="t">
            <a:spAutoFit/>
          </a:bodyPr>
          <a:lstStyle/>
          <a:p>
            <a:pPr algn="l">
              <a:lnSpc>
                <a:spcPct val="114000"/>
              </a:lnSpc>
              <a:spcAft>
                <a:spcPts val="0"/>
              </a:spcAft>
            </a:pPr>
            <a:r>
              <a:rPr sz="1600" b="0" i="0">
                <a:solidFill>
                  <a:srgbClr val="545F69"/>
                </a:solidFill>
                <a:latin typeface="Calibri"/>
              </a:rPr>
              <a:t>Essayer de </a:t>
            </a:r>
            <a:r>
              <a:rPr sz="1600" b="1" i="0">
                <a:solidFill>
                  <a:srgbClr val="12181D"/>
                </a:solidFill>
                <a:latin typeface="Calibri"/>
              </a:rPr>
              <a:t>l'interrompre</a:t>
            </a:r>
            <a:r>
              <a:rPr sz="1600" b="0" i="0">
                <a:solidFill>
                  <a:srgbClr val="545F69"/>
                </a:solidFill>
                <a:latin typeface="Calibri"/>
              </a:rPr>
              <a:t> en pleine phrase</a:t>
            </a:r>
          </a:p>
        </p:txBody>
      </p:sp>
      <p:sp>
        <p:nvSpPr>
          <p:cNvPr id="14" name="TextBox 13"/>
          <p:cNvSpPr txBox="1"/>
          <p:nvPr/>
        </p:nvSpPr>
        <p:spPr>
          <a:xfrm>
            <a:off x="777240" y="5900928"/>
            <a:ext cx="274320" cy="274320"/>
          </a:xfrm>
          <a:prstGeom prst="rect">
            <a:avLst/>
          </a:prstGeom>
          <a:noFill/>
        </p:spPr>
        <p:txBody>
          <a:bodyPr wrap="square" lIns="0" rIns="0" tIns="0" bIns="0" anchor="t">
            <a:spAutoFit/>
          </a:bodyPr>
          <a:lstStyle/>
          <a:p>
            <a:pPr algn="l">
              <a:lnSpc>
                <a:spcPct val="112000"/>
              </a:lnSpc>
              <a:spcAft>
                <a:spcPts val="0"/>
              </a:spcAft>
            </a:pPr>
            <a:r>
              <a:rPr sz="1600" b="1" i="0">
                <a:solidFill>
                  <a:srgbClr val="A32B57"/>
                </a:solidFill>
                <a:latin typeface="Calibri"/>
              </a:rPr>
              <a:t>—</a:t>
            </a:r>
          </a:p>
        </p:txBody>
      </p:sp>
      <p:sp>
        <p:nvSpPr>
          <p:cNvPr id="15" name="TextBox 14"/>
          <p:cNvSpPr txBox="1"/>
          <p:nvPr/>
        </p:nvSpPr>
        <p:spPr>
          <a:xfrm>
            <a:off x="1088136" y="5900928"/>
            <a:ext cx="5632704" cy="365760"/>
          </a:xfrm>
          <a:prstGeom prst="rect">
            <a:avLst/>
          </a:prstGeom>
          <a:noFill/>
        </p:spPr>
        <p:txBody>
          <a:bodyPr wrap="square" lIns="0" rIns="0" tIns="0" bIns="0" anchor="t">
            <a:spAutoFit/>
          </a:bodyPr>
          <a:lstStyle/>
          <a:p>
            <a:pPr algn="l">
              <a:lnSpc>
                <a:spcPct val="114000"/>
              </a:lnSpc>
              <a:spcAft>
                <a:spcPts val="0"/>
              </a:spcAft>
            </a:pPr>
            <a:r>
              <a:rPr sz="1600" b="0" i="0">
                <a:solidFill>
                  <a:srgbClr val="545F69"/>
                </a:solidFill>
                <a:latin typeface="Calibri"/>
              </a:rPr>
              <a:t>Comparer avec ce qu'on aurait tapé au clavier</a:t>
            </a:r>
          </a:p>
        </p:txBody>
      </p:sp>
      <p:sp>
        <p:nvSpPr>
          <p:cNvPr id="16" name="Rectangle 15"/>
          <p:cNvSpPr/>
          <p:nvPr/>
        </p:nvSpPr>
        <p:spPr>
          <a:xfrm>
            <a:off x="7269479" y="2286000"/>
            <a:ext cx="4144975" cy="3383280"/>
          </a:xfrm>
          <a:prstGeom prst="rect">
            <a:avLst/>
          </a:prstGeom>
          <a:solidFill>
            <a:srgbClr val="FAF1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269479" y="2286000"/>
            <a:ext cx="41148" cy="3383280"/>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525511" y="2487168"/>
            <a:ext cx="3687775" cy="228600"/>
          </a:xfrm>
          <a:prstGeom prst="rect">
            <a:avLst/>
          </a:prstGeom>
          <a:noFill/>
        </p:spPr>
        <p:txBody>
          <a:bodyPr wrap="square" lIns="0" rIns="0" tIns="0" bIns="0" anchor="t">
            <a:spAutoFit/>
          </a:bodyPr>
          <a:lstStyle/>
          <a:p>
            <a:pPr algn="l">
              <a:lnSpc>
                <a:spcPct val="112000"/>
              </a:lnSpc>
              <a:spcAft>
                <a:spcPts val="0"/>
              </a:spcAft>
            </a:pPr>
            <a:r>
              <a:rPr sz="1000" b="1" i="0" spc="140">
                <a:solidFill>
                  <a:srgbClr val="8A5A00"/>
                </a:solidFill>
                <a:latin typeface="Consolas"/>
              </a:rPr>
              <a:t>POINT DE VIGILANCE</a:t>
            </a:r>
          </a:p>
        </p:txBody>
      </p:sp>
      <p:sp>
        <p:nvSpPr>
          <p:cNvPr id="19" name="TextBox 18"/>
          <p:cNvSpPr txBox="1"/>
          <p:nvPr/>
        </p:nvSpPr>
        <p:spPr>
          <a:xfrm>
            <a:off x="7525511" y="2816352"/>
            <a:ext cx="3687775" cy="2651760"/>
          </a:xfrm>
          <a:prstGeom prst="rect">
            <a:avLst/>
          </a:prstGeom>
          <a:noFill/>
        </p:spPr>
        <p:txBody>
          <a:bodyPr wrap="square" lIns="0" rIns="0" tIns="0" bIns="0" anchor="t">
            <a:spAutoFit/>
          </a:bodyPr>
          <a:lstStyle/>
          <a:p>
            <a:pPr algn="l">
              <a:lnSpc>
                <a:spcPct val="120000"/>
              </a:lnSpc>
              <a:spcAft>
                <a:spcPts val="0"/>
              </a:spcAft>
            </a:pPr>
            <a:r>
              <a:rPr sz="1600" b="0" i="0">
                <a:solidFill>
                  <a:srgbClr val="545F69"/>
                </a:solidFill>
                <a:latin typeface="Calibri"/>
              </a:rPr>
              <a:t>Tout ce qui est dit est transmis au fournisseur, comme du texte. Le réflexe de confidentialité s'oublie plus vite à l'oral.</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77240" y="402336"/>
            <a:ext cx="10637215" cy="32004"/>
          </a:xfrm>
          <a:prstGeom prst="rect">
            <a:avLst/>
          </a:prstGeom>
          <a:solidFill>
            <a:srgbClr val="12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77240" y="502920"/>
            <a:ext cx="10637215" cy="274320"/>
          </a:xfrm>
          <a:prstGeom prst="rect">
            <a:avLst/>
          </a:prstGeom>
          <a:noFill/>
        </p:spPr>
        <p:txBody>
          <a:bodyPr wrap="square" lIns="0" rIns="0" tIns="0" bIns="0" anchor="t">
            <a:spAutoFit/>
          </a:bodyPr>
          <a:lstStyle/>
          <a:p>
            <a:pPr algn="l">
              <a:lnSpc>
                <a:spcPct val="112000"/>
              </a:lnSpc>
              <a:spcAft>
                <a:spcPts val="0"/>
              </a:spcAft>
            </a:pPr>
            <a:r>
              <a:rPr sz="1050" b="1" i="0" spc="150">
                <a:solidFill>
                  <a:srgbClr val="A32B57"/>
                </a:solidFill>
                <a:latin typeface="Consolas"/>
              </a:rPr>
              <a:t>LABORATOIRE D'OUTILS</a:t>
            </a:r>
          </a:p>
        </p:txBody>
      </p:sp>
      <p:sp>
        <p:nvSpPr>
          <p:cNvPr id="4" name="TextBox 3"/>
          <p:cNvSpPr txBox="1"/>
          <p:nvPr/>
        </p:nvSpPr>
        <p:spPr>
          <a:xfrm>
            <a:off x="777240" y="868680"/>
            <a:ext cx="10637215" cy="1371600"/>
          </a:xfrm>
          <a:prstGeom prst="rect">
            <a:avLst/>
          </a:prstGeom>
          <a:noFill/>
        </p:spPr>
        <p:txBody>
          <a:bodyPr wrap="square" lIns="0" rIns="0" tIns="0" bIns="0" anchor="t">
            <a:spAutoFit/>
          </a:bodyPr>
          <a:lstStyle/>
          <a:p>
            <a:pPr algn="l">
              <a:lnSpc>
                <a:spcPct val="95000"/>
              </a:lnSpc>
              <a:spcAft>
                <a:spcPts val="0"/>
              </a:spcAft>
            </a:pPr>
            <a:r>
              <a:rPr sz="4000" b="1" i="0">
                <a:solidFill>
                  <a:srgbClr val="12181D"/>
                </a:solidFill>
                <a:latin typeface="Trebuchet MS"/>
              </a:rPr>
              <a:t>Suno</a:t>
            </a:r>
          </a:p>
        </p:txBody>
      </p:sp>
      <p:sp>
        <p:nvSpPr>
          <p:cNvPr id="5" name="TextBox 4"/>
          <p:cNvSpPr txBox="1"/>
          <p:nvPr/>
        </p:nvSpPr>
        <p:spPr>
          <a:xfrm>
            <a:off x="777240" y="1874519"/>
            <a:ext cx="7315200" cy="274320"/>
          </a:xfrm>
          <a:prstGeom prst="rect">
            <a:avLst/>
          </a:prstGeom>
          <a:noFill/>
        </p:spPr>
        <p:txBody>
          <a:bodyPr wrap="square" lIns="0" rIns="0" tIns="0" bIns="0" anchor="t">
            <a:spAutoFit/>
          </a:bodyPr>
          <a:lstStyle/>
          <a:p>
            <a:pPr algn="l">
              <a:lnSpc>
                <a:spcPct val="112000"/>
              </a:lnSpc>
              <a:spcAft>
                <a:spcPts val="0"/>
              </a:spcAft>
            </a:pPr>
            <a:r>
              <a:rPr sz="1100" b="1" i="0" spc="150">
                <a:solidFill>
                  <a:srgbClr val="A32B57"/>
                </a:solidFill>
                <a:latin typeface="Consolas"/>
              </a:rPr>
              <a:t>GÉNÉRATION MUSICALE · LE MOMENT DE DÉTENTE</a:t>
            </a:r>
          </a:p>
        </p:txBody>
      </p:sp>
      <p:sp>
        <p:nvSpPr>
          <p:cNvPr id="6" name="TextBox 5"/>
          <p:cNvSpPr txBox="1"/>
          <p:nvPr/>
        </p:nvSpPr>
        <p:spPr>
          <a:xfrm>
            <a:off x="777240" y="2423160"/>
            <a:ext cx="5943600" cy="1280160"/>
          </a:xfrm>
          <a:prstGeom prst="rect">
            <a:avLst/>
          </a:prstGeom>
          <a:noFill/>
        </p:spPr>
        <p:txBody>
          <a:bodyPr wrap="square" lIns="0" rIns="0" tIns="0" bIns="0" anchor="t">
            <a:spAutoFit/>
          </a:bodyPr>
          <a:lstStyle/>
          <a:p>
            <a:pPr algn="l">
              <a:lnSpc>
                <a:spcPct val="130000"/>
              </a:lnSpc>
              <a:spcAft>
                <a:spcPts val="0"/>
              </a:spcAft>
            </a:pPr>
            <a:r>
              <a:rPr sz="1800" b="0" i="0">
                <a:solidFill>
                  <a:srgbClr val="545F69"/>
                </a:solidFill>
                <a:latin typeface="Calibri"/>
              </a:rPr>
              <a:t>Décrivez un style, une ambiance, des paroles — et obtenez un morceau complet en trois minutes. Jingle, générique de podcast, musique d'attente téléphonique.</a:t>
            </a:r>
          </a:p>
        </p:txBody>
      </p:sp>
      <p:sp>
        <p:nvSpPr>
          <p:cNvPr id="7" name="TextBox 6"/>
          <p:cNvSpPr txBox="1"/>
          <p:nvPr/>
        </p:nvSpPr>
        <p:spPr>
          <a:xfrm>
            <a:off x="777240" y="3931920"/>
            <a:ext cx="3657600" cy="274320"/>
          </a:xfrm>
          <a:prstGeom prst="rect">
            <a:avLst/>
          </a:prstGeom>
          <a:noFill/>
        </p:spPr>
        <p:txBody>
          <a:bodyPr wrap="square" lIns="0" rIns="0" tIns="0" bIns="0" anchor="t">
            <a:spAutoFit/>
          </a:bodyPr>
          <a:lstStyle/>
          <a:p>
            <a:pPr algn="l">
              <a:lnSpc>
                <a:spcPct val="112000"/>
              </a:lnSpc>
              <a:spcAft>
                <a:spcPts val="0"/>
              </a:spcAft>
            </a:pPr>
            <a:r>
              <a:rPr sz="1000" b="1" i="0" spc="140">
                <a:solidFill>
                  <a:srgbClr val="8A959D"/>
                </a:solidFill>
                <a:latin typeface="Consolas"/>
              </a:rPr>
              <a:t>CE QU'ON FAIT EN SALLE</a:t>
            </a:r>
          </a:p>
        </p:txBody>
      </p:sp>
      <p:sp>
        <p:nvSpPr>
          <p:cNvPr id="8" name="TextBox 7"/>
          <p:cNvSpPr txBox="1"/>
          <p:nvPr/>
        </p:nvSpPr>
        <p:spPr>
          <a:xfrm>
            <a:off x="777240" y="4297680"/>
            <a:ext cx="274320" cy="274320"/>
          </a:xfrm>
          <a:prstGeom prst="rect">
            <a:avLst/>
          </a:prstGeom>
          <a:noFill/>
        </p:spPr>
        <p:txBody>
          <a:bodyPr wrap="square" lIns="0" rIns="0" tIns="0" bIns="0" anchor="t">
            <a:spAutoFit/>
          </a:bodyPr>
          <a:lstStyle/>
          <a:p>
            <a:pPr algn="l">
              <a:lnSpc>
                <a:spcPct val="112000"/>
              </a:lnSpc>
              <a:spcAft>
                <a:spcPts val="0"/>
              </a:spcAft>
            </a:pPr>
            <a:r>
              <a:rPr sz="1600" b="1" i="0">
                <a:solidFill>
                  <a:srgbClr val="A32B57"/>
                </a:solidFill>
                <a:latin typeface="Calibri"/>
              </a:rPr>
              <a:t>—</a:t>
            </a:r>
          </a:p>
        </p:txBody>
      </p:sp>
      <p:sp>
        <p:nvSpPr>
          <p:cNvPr id="9" name="TextBox 8"/>
          <p:cNvSpPr txBox="1"/>
          <p:nvPr/>
        </p:nvSpPr>
        <p:spPr>
          <a:xfrm>
            <a:off x="1088136" y="4297680"/>
            <a:ext cx="5632704" cy="365760"/>
          </a:xfrm>
          <a:prstGeom prst="rect">
            <a:avLst/>
          </a:prstGeom>
          <a:noFill/>
        </p:spPr>
        <p:txBody>
          <a:bodyPr wrap="square" lIns="0" rIns="0" tIns="0" bIns="0" anchor="t">
            <a:spAutoFit/>
          </a:bodyPr>
          <a:lstStyle/>
          <a:p>
            <a:pPr algn="l">
              <a:lnSpc>
                <a:spcPct val="114000"/>
              </a:lnSpc>
              <a:spcAft>
                <a:spcPts val="0"/>
              </a:spcAft>
            </a:pPr>
            <a:r>
              <a:rPr sz="1600" b="0" i="0">
                <a:solidFill>
                  <a:srgbClr val="545F69"/>
                </a:solidFill>
                <a:latin typeface="Calibri"/>
              </a:rPr>
              <a:t>Créer </a:t>
            </a:r>
            <a:r>
              <a:rPr sz="1600" b="1" i="0">
                <a:solidFill>
                  <a:srgbClr val="12181D"/>
                </a:solidFill>
                <a:latin typeface="Calibri"/>
              </a:rPr>
              <a:t>le jingle de votre entreprise</a:t>
            </a:r>
            <a:r>
              <a:rPr sz="1600" b="0" i="0">
                <a:solidFill>
                  <a:srgbClr val="545F69"/>
                </a:solidFill>
                <a:latin typeface="Calibri"/>
              </a:rPr>
              <a:t> en une phrase</a:t>
            </a:r>
          </a:p>
        </p:txBody>
      </p:sp>
      <p:sp>
        <p:nvSpPr>
          <p:cNvPr id="10" name="TextBox 9"/>
          <p:cNvSpPr txBox="1"/>
          <p:nvPr/>
        </p:nvSpPr>
        <p:spPr>
          <a:xfrm>
            <a:off x="777240" y="4832096"/>
            <a:ext cx="274320" cy="274320"/>
          </a:xfrm>
          <a:prstGeom prst="rect">
            <a:avLst/>
          </a:prstGeom>
          <a:noFill/>
        </p:spPr>
        <p:txBody>
          <a:bodyPr wrap="square" lIns="0" rIns="0" tIns="0" bIns="0" anchor="t">
            <a:spAutoFit/>
          </a:bodyPr>
          <a:lstStyle/>
          <a:p>
            <a:pPr algn="l">
              <a:lnSpc>
                <a:spcPct val="112000"/>
              </a:lnSpc>
              <a:spcAft>
                <a:spcPts val="0"/>
              </a:spcAft>
            </a:pPr>
            <a:r>
              <a:rPr sz="1600" b="1" i="0">
                <a:solidFill>
                  <a:srgbClr val="A32B57"/>
                </a:solidFill>
                <a:latin typeface="Calibri"/>
              </a:rPr>
              <a:t>—</a:t>
            </a:r>
          </a:p>
        </p:txBody>
      </p:sp>
      <p:sp>
        <p:nvSpPr>
          <p:cNvPr id="11" name="TextBox 10"/>
          <p:cNvSpPr txBox="1"/>
          <p:nvPr/>
        </p:nvSpPr>
        <p:spPr>
          <a:xfrm>
            <a:off x="1088136" y="4832096"/>
            <a:ext cx="5632704" cy="365760"/>
          </a:xfrm>
          <a:prstGeom prst="rect">
            <a:avLst/>
          </a:prstGeom>
          <a:noFill/>
        </p:spPr>
        <p:txBody>
          <a:bodyPr wrap="square" lIns="0" rIns="0" tIns="0" bIns="0" anchor="t">
            <a:spAutoFit/>
          </a:bodyPr>
          <a:lstStyle/>
          <a:p>
            <a:pPr algn="l">
              <a:lnSpc>
                <a:spcPct val="114000"/>
              </a:lnSpc>
              <a:spcAft>
                <a:spcPts val="0"/>
              </a:spcAft>
            </a:pPr>
            <a:r>
              <a:rPr sz="1600" b="0" i="0">
                <a:solidFill>
                  <a:srgbClr val="545F69"/>
                </a:solidFill>
                <a:latin typeface="Calibri"/>
              </a:rPr>
              <a:t>Écouter deux ou trois productions de la salle</a:t>
            </a:r>
          </a:p>
        </p:txBody>
      </p:sp>
      <p:sp>
        <p:nvSpPr>
          <p:cNvPr id="12" name="TextBox 11"/>
          <p:cNvSpPr txBox="1"/>
          <p:nvPr/>
        </p:nvSpPr>
        <p:spPr>
          <a:xfrm>
            <a:off x="777240" y="5366512"/>
            <a:ext cx="274320" cy="274320"/>
          </a:xfrm>
          <a:prstGeom prst="rect">
            <a:avLst/>
          </a:prstGeom>
          <a:noFill/>
        </p:spPr>
        <p:txBody>
          <a:bodyPr wrap="square" lIns="0" rIns="0" tIns="0" bIns="0" anchor="t">
            <a:spAutoFit/>
          </a:bodyPr>
          <a:lstStyle/>
          <a:p>
            <a:pPr algn="l">
              <a:lnSpc>
                <a:spcPct val="112000"/>
              </a:lnSpc>
              <a:spcAft>
                <a:spcPts val="0"/>
              </a:spcAft>
            </a:pPr>
            <a:r>
              <a:rPr sz="1600" b="1" i="0">
                <a:solidFill>
                  <a:srgbClr val="A32B57"/>
                </a:solidFill>
                <a:latin typeface="Calibri"/>
              </a:rPr>
              <a:t>—</a:t>
            </a:r>
          </a:p>
        </p:txBody>
      </p:sp>
      <p:sp>
        <p:nvSpPr>
          <p:cNvPr id="13" name="TextBox 12"/>
          <p:cNvSpPr txBox="1"/>
          <p:nvPr/>
        </p:nvSpPr>
        <p:spPr>
          <a:xfrm>
            <a:off x="1088136" y="5366512"/>
            <a:ext cx="5632704" cy="365760"/>
          </a:xfrm>
          <a:prstGeom prst="rect">
            <a:avLst/>
          </a:prstGeom>
          <a:noFill/>
        </p:spPr>
        <p:txBody>
          <a:bodyPr wrap="square" lIns="0" rIns="0" tIns="0" bIns="0" anchor="t">
            <a:spAutoFit/>
          </a:bodyPr>
          <a:lstStyle/>
          <a:p>
            <a:pPr algn="l">
              <a:lnSpc>
                <a:spcPct val="114000"/>
              </a:lnSpc>
              <a:spcAft>
                <a:spcPts val="0"/>
              </a:spcAft>
            </a:pPr>
            <a:r>
              <a:rPr sz="1600" b="0" i="0">
                <a:solidFill>
                  <a:srgbClr val="545F69"/>
                </a:solidFill>
                <a:latin typeface="Calibri"/>
              </a:rPr>
              <a:t>Faire varier un seul paramètre et réécouter</a:t>
            </a:r>
          </a:p>
        </p:txBody>
      </p:sp>
      <p:sp>
        <p:nvSpPr>
          <p:cNvPr id="14" name="TextBox 13"/>
          <p:cNvSpPr txBox="1"/>
          <p:nvPr/>
        </p:nvSpPr>
        <p:spPr>
          <a:xfrm>
            <a:off x="777240" y="5900928"/>
            <a:ext cx="274320" cy="274320"/>
          </a:xfrm>
          <a:prstGeom prst="rect">
            <a:avLst/>
          </a:prstGeom>
          <a:noFill/>
        </p:spPr>
        <p:txBody>
          <a:bodyPr wrap="square" lIns="0" rIns="0" tIns="0" bIns="0" anchor="t">
            <a:spAutoFit/>
          </a:bodyPr>
          <a:lstStyle/>
          <a:p>
            <a:pPr algn="l">
              <a:lnSpc>
                <a:spcPct val="112000"/>
              </a:lnSpc>
              <a:spcAft>
                <a:spcPts val="0"/>
              </a:spcAft>
            </a:pPr>
            <a:r>
              <a:rPr sz="1600" b="1" i="0">
                <a:solidFill>
                  <a:srgbClr val="A32B57"/>
                </a:solidFill>
                <a:latin typeface="Calibri"/>
              </a:rPr>
              <a:t>—</a:t>
            </a:r>
          </a:p>
        </p:txBody>
      </p:sp>
      <p:sp>
        <p:nvSpPr>
          <p:cNvPr id="15" name="TextBox 14"/>
          <p:cNvSpPr txBox="1"/>
          <p:nvPr/>
        </p:nvSpPr>
        <p:spPr>
          <a:xfrm>
            <a:off x="1088136" y="5900928"/>
            <a:ext cx="5632704" cy="365760"/>
          </a:xfrm>
          <a:prstGeom prst="rect">
            <a:avLst/>
          </a:prstGeom>
          <a:noFill/>
        </p:spPr>
        <p:txBody>
          <a:bodyPr wrap="square" lIns="0" rIns="0" tIns="0" bIns="0" anchor="t">
            <a:spAutoFit/>
          </a:bodyPr>
          <a:lstStyle/>
          <a:p>
            <a:pPr algn="l">
              <a:lnSpc>
                <a:spcPct val="114000"/>
              </a:lnSpc>
              <a:spcAft>
                <a:spcPts val="0"/>
              </a:spcAft>
            </a:pPr>
            <a:r>
              <a:rPr sz="1600" b="0" i="0">
                <a:solidFill>
                  <a:srgbClr val="545F69"/>
                </a:solidFill>
                <a:latin typeface="Calibri"/>
              </a:rPr>
              <a:t>Discuter : qu'est-ce qu'on en ferait vraiment ?</a:t>
            </a:r>
          </a:p>
        </p:txBody>
      </p:sp>
      <p:sp>
        <p:nvSpPr>
          <p:cNvPr id="16" name="Rectangle 15"/>
          <p:cNvSpPr/>
          <p:nvPr/>
        </p:nvSpPr>
        <p:spPr>
          <a:xfrm>
            <a:off x="7269479" y="2286000"/>
            <a:ext cx="4144975" cy="3383280"/>
          </a:xfrm>
          <a:prstGeom prst="rect">
            <a:avLst/>
          </a:prstGeom>
          <a:solidFill>
            <a:srgbClr val="FAF1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269479" y="2286000"/>
            <a:ext cx="41148" cy="3383280"/>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525511" y="2487168"/>
            <a:ext cx="3687775" cy="228600"/>
          </a:xfrm>
          <a:prstGeom prst="rect">
            <a:avLst/>
          </a:prstGeom>
          <a:noFill/>
        </p:spPr>
        <p:txBody>
          <a:bodyPr wrap="square" lIns="0" rIns="0" tIns="0" bIns="0" anchor="t">
            <a:spAutoFit/>
          </a:bodyPr>
          <a:lstStyle/>
          <a:p>
            <a:pPr algn="l">
              <a:lnSpc>
                <a:spcPct val="112000"/>
              </a:lnSpc>
              <a:spcAft>
                <a:spcPts val="0"/>
              </a:spcAft>
            </a:pPr>
            <a:r>
              <a:rPr sz="1000" b="1" i="0" spc="140">
                <a:solidFill>
                  <a:srgbClr val="8A5A00"/>
                </a:solidFill>
                <a:latin typeface="Consolas"/>
              </a:rPr>
              <a:t>POINT DE VIGILANCE</a:t>
            </a:r>
          </a:p>
        </p:txBody>
      </p:sp>
      <p:sp>
        <p:nvSpPr>
          <p:cNvPr id="19" name="TextBox 18"/>
          <p:cNvSpPr txBox="1"/>
          <p:nvPr/>
        </p:nvSpPr>
        <p:spPr>
          <a:xfrm>
            <a:off x="7525511" y="2816352"/>
            <a:ext cx="3687775" cy="2651760"/>
          </a:xfrm>
          <a:prstGeom prst="rect">
            <a:avLst/>
          </a:prstGeom>
          <a:noFill/>
        </p:spPr>
        <p:txBody>
          <a:bodyPr wrap="square" lIns="0" rIns="0" tIns="0" bIns="0" anchor="t">
            <a:spAutoFit/>
          </a:bodyPr>
          <a:lstStyle/>
          <a:p>
            <a:pPr algn="l">
              <a:lnSpc>
                <a:spcPct val="120000"/>
              </a:lnSpc>
              <a:spcAft>
                <a:spcPts val="0"/>
              </a:spcAft>
            </a:pPr>
            <a:r>
              <a:rPr sz="1600" b="0" i="0">
                <a:solidFill>
                  <a:srgbClr val="545F69"/>
                </a:solidFill>
                <a:latin typeface="Calibri"/>
              </a:rPr>
              <a:t>Sur quoi le modèle a-t-il appris ? Que possédez-vous exactement ? Lisez les conditions avant tout usage commercial ou diffusé.</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77240" y="402336"/>
            <a:ext cx="10637215" cy="32004"/>
          </a:xfrm>
          <a:prstGeom prst="rect">
            <a:avLst/>
          </a:prstGeom>
          <a:solidFill>
            <a:srgbClr val="12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77240" y="502920"/>
            <a:ext cx="10637215" cy="274320"/>
          </a:xfrm>
          <a:prstGeom prst="rect">
            <a:avLst/>
          </a:prstGeom>
          <a:noFill/>
        </p:spPr>
        <p:txBody>
          <a:bodyPr wrap="square" lIns="0" rIns="0" tIns="0" bIns="0" anchor="t">
            <a:spAutoFit/>
          </a:bodyPr>
          <a:lstStyle/>
          <a:p>
            <a:pPr algn="l">
              <a:lnSpc>
                <a:spcPct val="112000"/>
              </a:lnSpc>
              <a:spcAft>
                <a:spcPts val="0"/>
              </a:spcAft>
            </a:pPr>
            <a:r>
              <a:rPr sz="1050" b="1" i="0" spc="150">
                <a:solidFill>
                  <a:srgbClr val="A32B57"/>
                </a:solidFill>
                <a:latin typeface="Consolas"/>
              </a:rPr>
              <a:t>LABORATOIRE D'OUTILS</a:t>
            </a:r>
          </a:p>
        </p:txBody>
      </p:sp>
      <p:sp>
        <p:nvSpPr>
          <p:cNvPr id="4" name="TextBox 3"/>
          <p:cNvSpPr txBox="1"/>
          <p:nvPr/>
        </p:nvSpPr>
        <p:spPr>
          <a:xfrm>
            <a:off x="777240" y="868680"/>
            <a:ext cx="10637215" cy="1371600"/>
          </a:xfrm>
          <a:prstGeom prst="rect">
            <a:avLst/>
          </a:prstGeom>
          <a:noFill/>
        </p:spPr>
        <p:txBody>
          <a:bodyPr wrap="square" lIns="0" rIns="0" tIns="0" bIns="0" anchor="t">
            <a:spAutoFit/>
          </a:bodyPr>
          <a:lstStyle/>
          <a:p>
            <a:pPr algn="l">
              <a:lnSpc>
                <a:spcPct val="95000"/>
              </a:lnSpc>
              <a:spcAft>
                <a:spcPts val="0"/>
              </a:spcAft>
            </a:pPr>
            <a:r>
              <a:rPr sz="4000" b="1" i="0">
                <a:solidFill>
                  <a:srgbClr val="12181D"/>
                </a:solidFill>
                <a:latin typeface="Trebuchet MS"/>
              </a:rPr>
              <a:t>Perplexity et le navigateur Comet</a:t>
            </a:r>
          </a:p>
        </p:txBody>
      </p:sp>
      <p:sp>
        <p:nvSpPr>
          <p:cNvPr id="5" name="TextBox 4"/>
          <p:cNvSpPr txBox="1"/>
          <p:nvPr/>
        </p:nvSpPr>
        <p:spPr>
          <a:xfrm>
            <a:off x="777240" y="1874519"/>
            <a:ext cx="7315200" cy="274320"/>
          </a:xfrm>
          <a:prstGeom prst="rect">
            <a:avLst/>
          </a:prstGeom>
          <a:noFill/>
        </p:spPr>
        <p:txBody>
          <a:bodyPr wrap="square" lIns="0" rIns="0" tIns="0" bIns="0" anchor="t">
            <a:spAutoFit/>
          </a:bodyPr>
          <a:lstStyle/>
          <a:p>
            <a:pPr algn="l">
              <a:lnSpc>
                <a:spcPct val="112000"/>
              </a:lnSpc>
              <a:spcAft>
                <a:spcPts val="0"/>
              </a:spcAft>
            </a:pPr>
            <a:r>
              <a:rPr sz="1100" b="1" i="0" spc="150">
                <a:solidFill>
                  <a:srgbClr val="A32B57"/>
                </a:solidFill>
                <a:latin typeface="Consolas"/>
              </a:rPr>
              <a:t>RECHERCHE SOURCÉE · AGENT DE NAVIGATION</a:t>
            </a:r>
          </a:p>
        </p:txBody>
      </p:sp>
      <p:sp>
        <p:nvSpPr>
          <p:cNvPr id="6" name="TextBox 5"/>
          <p:cNvSpPr txBox="1"/>
          <p:nvPr/>
        </p:nvSpPr>
        <p:spPr>
          <a:xfrm>
            <a:off x="777240" y="2423160"/>
            <a:ext cx="5943600" cy="1280160"/>
          </a:xfrm>
          <a:prstGeom prst="rect">
            <a:avLst/>
          </a:prstGeom>
          <a:noFill/>
        </p:spPr>
        <p:txBody>
          <a:bodyPr wrap="square" lIns="0" rIns="0" tIns="0" bIns="0" anchor="t">
            <a:spAutoFit/>
          </a:bodyPr>
          <a:lstStyle/>
          <a:p>
            <a:pPr algn="l">
              <a:lnSpc>
                <a:spcPct val="130000"/>
              </a:lnSpc>
              <a:spcAft>
                <a:spcPts val="0"/>
              </a:spcAft>
            </a:pPr>
            <a:r>
              <a:rPr sz="1800" b="0" i="0">
                <a:solidFill>
                  <a:srgbClr val="545F69"/>
                </a:solidFill>
                <a:latin typeface="Calibri"/>
              </a:rPr>
              <a:t>La différence entre un modèle qui génère et un outil qui cherche puis cite. Chaque affirmation renvoie à une page réelle que vous pouvez ouvrir.</a:t>
            </a:r>
          </a:p>
        </p:txBody>
      </p:sp>
      <p:sp>
        <p:nvSpPr>
          <p:cNvPr id="7" name="TextBox 6"/>
          <p:cNvSpPr txBox="1"/>
          <p:nvPr/>
        </p:nvSpPr>
        <p:spPr>
          <a:xfrm>
            <a:off x="777240" y="3931920"/>
            <a:ext cx="3657600" cy="274320"/>
          </a:xfrm>
          <a:prstGeom prst="rect">
            <a:avLst/>
          </a:prstGeom>
          <a:noFill/>
        </p:spPr>
        <p:txBody>
          <a:bodyPr wrap="square" lIns="0" rIns="0" tIns="0" bIns="0" anchor="t">
            <a:spAutoFit/>
          </a:bodyPr>
          <a:lstStyle/>
          <a:p>
            <a:pPr algn="l">
              <a:lnSpc>
                <a:spcPct val="112000"/>
              </a:lnSpc>
              <a:spcAft>
                <a:spcPts val="0"/>
              </a:spcAft>
            </a:pPr>
            <a:r>
              <a:rPr sz="1000" b="1" i="0" spc="140">
                <a:solidFill>
                  <a:srgbClr val="8A959D"/>
                </a:solidFill>
                <a:latin typeface="Consolas"/>
              </a:rPr>
              <a:t>CE QU'ON FAIT EN SALLE</a:t>
            </a:r>
          </a:p>
        </p:txBody>
      </p:sp>
      <p:sp>
        <p:nvSpPr>
          <p:cNvPr id="8" name="TextBox 7"/>
          <p:cNvSpPr txBox="1"/>
          <p:nvPr/>
        </p:nvSpPr>
        <p:spPr>
          <a:xfrm>
            <a:off x="777240" y="4297680"/>
            <a:ext cx="274320" cy="274320"/>
          </a:xfrm>
          <a:prstGeom prst="rect">
            <a:avLst/>
          </a:prstGeom>
          <a:noFill/>
        </p:spPr>
        <p:txBody>
          <a:bodyPr wrap="square" lIns="0" rIns="0" tIns="0" bIns="0" anchor="t">
            <a:spAutoFit/>
          </a:bodyPr>
          <a:lstStyle/>
          <a:p>
            <a:pPr algn="l">
              <a:lnSpc>
                <a:spcPct val="112000"/>
              </a:lnSpc>
              <a:spcAft>
                <a:spcPts val="0"/>
              </a:spcAft>
            </a:pPr>
            <a:r>
              <a:rPr sz="1600" b="1" i="0">
                <a:solidFill>
                  <a:srgbClr val="A32B57"/>
                </a:solidFill>
                <a:latin typeface="Calibri"/>
              </a:rPr>
              <a:t>—</a:t>
            </a:r>
          </a:p>
        </p:txBody>
      </p:sp>
      <p:sp>
        <p:nvSpPr>
          <p:cNvPr id="9" name="TextBox 8"/>
          <p:cNvSpPr txBox="1"/>
          <p:nvPr/>
        </p:nvSpPr>
        <p:spPr>
          <a:xfrm>
            <a:off x="1088136" y="4297680"/>
            <a:ext cx="5632704" cy="365760"/>
          </a:xfrm>
          <a:prstGeom prst="rect">
            <a:avLst/>
          </a:prstGeom>
          <a:noFill/>
        </p:spPr>
        <p:txBody>
          <a:bodyPr wrap="square" lIns="0" rIns="0" tIns="0" bIns="0" anchor="t">
            <a:spAutoFit/>
          </a:bodyPr>
          <a:lstStyle/>
          <a:p>
            <a:pPr algn="l">
              <a:lnSpc>
                <a:spcPct val="114000"/>
              </a:lnSpc>
              <a:spcAft>
                <a:spcPts val="0"/>
              </a:spcAft>
            </a:pPr>
            <a:r>
              <a:rPr sz="1600" b="0" i="0">
                <a:solidFill>
                  <a:srgbClr val="545F69"/>
                </a:solidFill>
                <a:latin typeface="Calibri"/>
              </a:rPr>
              <a:t>Reposer </a:t>
            </a:r>
            <a:r>
              <a:rPr sz="1600" b="1" i="0">
                <a:solidFill>
                  <a:srgbClr val="12181D"/>
                </a:solidFill>
                <a:latin typeface="Calibri"/>
              </a:rPr>
              <a:t>la question de l'atelier hallucinations d'hier</a:t>
            </a:r>
          </a:p>
        </p:txBody>
      </p:sp>
      <p:sp>
        <p:nvSpPr>
          <p:cNvPr id="10" name="TextBox 9"/>
          <p:cNvSpPr txBox="1"/>
          <p:nvPr/>
        </p:nvSpPr>
        <p:spPr>
          <a:xfrm>
            <a:off x="777240" y="4832096"/>
            <a:ext cx="274320" cy="274320"/>
          </a:xfrm>
          <a:prstGeom prst="rect">
            <a:avLst/>
          </a:prstGeom>
          <a:noFill/>
        </p:spPr>
        <p:txBody>
          <a:bodyPr wrap="square" lIns="0" rIns="0" tIns="0" bIns="0" anchor="t">
            <a:spAutoFit/>
          </a:bodyPr>
          <a:lstStyle/>
          <a:p>
            <a:pPr algn="l">
              <a:lnSpc>
                <a:spcPct val="112000"/>
              </a:lnSpc>
              <a:spcAft>
                <a:spcPts val="0"/>
              </a:spcAft>
            </a:pPr>
            <a:r>
              <a:rPr sz="1600" b="1" i="0">
                <a:solidFill>
                  <a:srgbClr val="A32B57"/>
                </a:solidFill>
                <a:latin typeface="Calibri"/>
              </a:rPr>
              <a:t>—</a:t>
            </a:r>
          </a:p>
        </p:txBody>
      </p:sp>
      <p:sp>
        <p:nvSpPr>
          <p:cNvPr id="11" name="TextBox 10"/>
          <p:cNvSpPr txBox="1"/>
          <p:nvPr/>
        </p:nvSpPr>
        <p:spPr>
          <a:xfrm>
            <a:off x="1088136" y="4832096"/>
            <a:ext cx="5632704" cy="365760"/>
          </a:xfrm>
          <a:prstGeom prst="rect">
            <a:avLst/>
          </a:prstGeom>
          <a:noFill/>
        </p:spPr>
        <p:txBody>
          <a:bodyPr wrap="square" lIns="0" rIns="0" tIns="0" bIns="0" anchor="t">
            <a:spAutoFit/>
          </a:bodyPr>
          <a:lstStyle/>
          <a:p>
            <a:pPr algn="l">
              <a:lnSpc>
                <a:spcPct val="114000"/>
              </a:lnSpc>
              <a:spcAft>
                <a:spcPts val="0"/>
              </a:spcAft>
            </a:pPr>
            <a:r>
              <a:rPr sz="1600" b="0" i="0">
                <a:solidFill>
                  <a:srgbClr val="545F69"/>
                </a:solidFill>
                <a:latin typeface="Calibri"/>
              </a:rPr>
              <a:t>Ouvrir les sources citées et les vérifier vraiment</a:t>
            </a:r>
          </a:p>
        </p:txBody>
      </p:sp>
      <p:sp>
        <p:nvSpPr>
          <p:cNvPr id="12" name="TextBox 11"/>
          <p:cNvSpPr txBox="1"/>
          <p:nvPr/>
        </p:nvSpPr>
        <p:spPr>
          <a:xfrm>
            <a:off x="777240" y="5366512"/>
            <a:ext cx="274320" cy="274320"/>
          </a:xfrm>
          <a:prstGeom prst="rect">
            <a:avLst/>
          </a:prstGeom>
          <a:noFill/>
        </p:spPr>
        <p:txBody>
          <a:bodyPr wrap="square" lIns="0" rIns="0" tIns="0" bIns="0" anchor="t">
            <a:spAutoFit/>
          </a:bodyPr>
          <a:lstStyle/>
          <a:p>
            <a:pPr algn="l">
              <a:lnSpc>
                <a:spcPct val="112000"/>
              </a:lnSpc>
              <a:spcAft>
                <a:spcPts val="0"/>
              </a:spcAft>
            </a:pPr>
            <a:r>
              <a:rPr sz="1600" b="1" i="0">
                <a:solidFill>
                  <a:srgbClr val="A32B57"/>
                </a:solidFill>
                <a:latin typeface="Calibri"/>
              </a:rPr>
              <a:t>—</a:t>
            </a:r>
          </a:p>
        </p:txBody>
      </p:sp>
      <p:sp>
        <p:nvSpPr>
          <p:cNvPr id="13" name="TextBox 12"/>
          <p:cNvSpPr txBox="1"/>
          <p:nvPr/>
        </p:nvSpPr>
        <p:spPr>
          <a:xfrm>
            <a:off x="1088136" y="5366512"/>
            <a:ext cx="5632704" cy="365760"/>
          </a:xfrm>
          <a:prstGeom prst="rect">
            <a:avLst/>
          </a:prstGeom>
          <a:noFill/>
        </p:spPr>
        <p:txBody>
          <a:bodyPr wrap="square" lIns="0" rIns="0" tIns="0" bIns="0" anchor="t">
            <a:spAutoFit/>
          </a:bodyPr>
          <a:lstStyle/>
          <a:p>
            <a:pPr algn="l">
              <a:lnSpc>
                <a:spcPct val="114000"/>
              </a:lnSpc>
              <a:spcAft>
                <a:spcPts val="0"/>
              </a:spcAft>
            </a:pPr>
            <a:r>
              <a:rPr sz="1600" b="0" i="0">
                <a:solidFill>
                  <a:srgbClr val="545F69"/>
                </a:solidFill>
                <a:latin typeface="Calibri"/>
              </a:rPr>
              <a:t>Comparer avec la réponse obtenue hier sans sources</a:t>
            </a:r>
          </a:p>
        </p:txBody>
      </p:sp>
      <p:sp>
        <p:nvSpPr>
          <p:cNvPr id="14" name="TextBox 13"/>
          <p:cNvSpPr txBox="1"/>
          <p:nvPr/>
        </p:nvSpPr>
        <p:spPr>
          <a:xfrm>
            <a:off x="777240" y="5900928"/>
            <a:ext cx="274320" cy="274320"/>
          </a:xfrm>
          <a:prstGeom prst="rect">
            <a:avLst/>
          </a:prstGeom>
          <a:noFill/>
        </p:spPr>
        <p:txBody>
          <a:bodyPr wrap="square" lIns="0" rIns="0" tIns="0" bIns="0" anchor="t">
            <a:spAutoFit/>
          </a:bodyPr>
          <a:lstStyle/>
          <a:p>
            <a:pPr algn="l">
              <a:lnSpc>
                <a:spcPct val="112000"/>
              </a:lnSpc>
              <a:spcAft>
                <a:spcPts val="0"/>
              </a:spcAft>
            </a:pPr>
            <a:r>
              <a:rPr sz="1600" b="1" i="0">
                <a:solidFill>
                  <a:srgbClr val="A32B57"/>
                </a:solidFill>
                <a:latin typeface="Calibri"/>
              </a:rPr>
              <a:t>—</a:t>
            </a:r>
          </a:p>
        </p:txBody>
      </p:sp>
      <p:sp>
        <p:nvSpPr>
          <p:cNvPr id="15" name="TextBox 14"/>
          <p:cNvSpPr txBox="1"/>
          <p:nvPr/>
        </p:nvSpPr>
        <p:spPr>
          <a:xfrm>
            <a:off x="1088136" y="5900928"/>
            <a:ext cx="5632704" cy="365760"/>
          </a:xfrm>
          <a:prstGeom prst="rect">
            <a:avLst/>
          </a:prstGeom>
          <a:noFill/>
        </p:spPr>
        <p:txBody>
          <a:bodyPr wrap="square" lIns="0" rIns="0" tIns="0" bIns="0" anchor="t">
            <a:spAutoFit/>
          </a:bodyPr>
          <a:lstStyle/>
          <a:p>
            <a:pPr algn="l">
              <a:lnSpc>
                <a:spcPct val="114000"/>
              </a:lnSpc>
              <a:spcAft>
                <a:spcPts val="0"/>
              </a:spcAft>
            </a:pPr>
            <a:r>
              <a:rPr sz="1600" b="0" i="0">
                <a:solidFill>
                  <a:srgbClr val="545F69"/>
                </a:solidFill>
                <a:latin typeface="Calibri"/>
              </a:rPr>
              <a:t>Essayer une recherche que vous feriez habituellement</a:t>
            </a:r>
          </a:p>
        </p:txBody>
      </p:sp>
      <p:sp>
        <p:nvSpPr>
          <p:cNvPr id="16" name="Rectangle 15"/>
          <p:cNvSpPr/>
          <p:nvPr/>
        </p:nvSpPr>
        <p:spPr>
          <a:xfrm>
            <a:off x="7269479" y="2286000"/>
            <a:ext cx="4144975" cy="3383280"/>
          </a:xfrm>
          <a:prstGeom prst="rect">
            <a:avLst/>
          </a:prstGeom>
          <a:solidFill>
            <a:srgbClr val="FAF1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269479" y="2286000"/>
            <a:ext cx="41148" cy="3383280"/>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525511" y="2487168"/>
            <a:ext cx="3687775" cy="228600"/>
          </a:xfrm>
          <a:prstGeom prst="rect">
            <a:avLst/>
          </a:prstGeom>
          <a:noFill/>
        </p:spPr>
        <p:txBody>
          <a:bodyPr wrap="square" lIns="0" rIns="0" tIns="0" bIns="0" anchor="t">
            <a:spAutoFit/>
          </a:bodyPr>
          <a:lstStyle/>
          <a:p>
            <a:pPr algn="l">
              <a:lnSpc>
                <a:spcPct val="112000"/>
              </a:lnSpc>
              <a:spcAft>
                <a:spcPts val="0"/>
              </a:spcAft>
            </a:pPr>
            <a:r>
              <a:rPr sz="1000" b="1" i="0" spc="140">
                <a:solidFill>
                  <a:srgbClr val="8A5A00"/>
                </a:solidFill>
                <a:latin typeface="Consolas"/>
              </a:rPr>
              <a:t>POINT DE VIGILANCE</a:t>
            </a:r>
          </a:p>
        </p:txBody>
      </p:sp>
      <p:sp>
        <p:nvSpPr>
          <p:cNvPr id="19" name="TextBox 18"/>
          <p:cNvSpPr txBox="1"/>
          <p:nvPr/>
        </p:nvSpPr>
        <p:spPr>
          <a:xfrm>
            <a:off x="7525511" y="2816352"/>
            <a:ext cx="3687775" cy="2651760"/>
          </a:xfrm>
          <a:prstGeom prst="rect">
            <a:avLst/>
          </a:prstGeom>
          <a:noFill/>
        </p:spPr>
        <p:txBody>
          <a:bodyPr wrap="square" lIns="0" rIns="0" tIns="0" bIns="0" anchor="t">
            <a:spAutoFit/>
          </a:bodyPr>
          <a:lstStyle/>
          <a:p>
            <a:pPr algn="l">
              <a:lnSpc>
                <a:spcPct val="120000"/>
              </a:lnSpc>
              <a:spcAft>
                <a:spcPts val="0"/>
              </a:spcAft>
            </a:pPr>
            <a:r>
              <a:rPr sz="1600" b="0" i="0">
                <a:solidFill>
                  <a:srgbClr val="545F69"/>
                </a:solidFill>
                <a:latin typeface="Calibri"/>
              </a:rPr>
              <a:t>Une source citée n'est pas une source lue. L'outil se trompe aussi en résumant une page correcte.</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77240" y="402336"/>
            <a:ext cx="10637215" cy="32004"/>
          </a:xfrm>
          <a:prstGeom prst="rect">
            <a:avLst/>
          </a:prstGeom>
          <a:solidFill>
            <a:srgbClr val="12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77240" y="502920"/>
            <a:ext cx="10637215" cy="274320"/>
          </a:xfrm>
          <a:prstGeom prst="rect">
            <a:avLst/>
          </a:prstGeom>
          <a:noFill/>
        </p:spPr>
        <p:txBody>
          <a:bodyPr wrap="square" lIns="0" rIns="0" tIns="0" bIns="0" anchor="t">
            <a:spAutoFit/>
          </a:bodyPr>
          <a:lstStyle/>
          <a:p>
            <a:pPr algn="l">
              <a:lnSpc>
                <a:spcPct val="112000"/>
              </a:lnSpc>
              <a:spcAft>
                <a:spcPts val="0"/>
              </a:spcAft>
            </a:pPr>
            <a:r>
              <a:rPr sz="1050" b="1" i="0" spc="150">
                <a:solidFill>
                  <a:srgbClr val="A32B57"/>
                </a:solidFill>
                <a:latin typeface="Consolas"/>
              </a:rPr>
              <a:t>LABORATOIRE D'OUTILS</a:t>
            </a:r>
          </a:p>
        </p:txBody>
      </p:sp>
      <p:sp>
        <p:nvSpPr>
          <p:cNvPr id="4" name="TextBox 3"/>
          <p:cNvSpPr txBox="1"/>
          <p:nvPr/>
        </p:nvSpPr>
        <p:spPr>
          <a:xfrm>
            <a:off x="777240" y="868680"/>
            <a:ext cx="10637215" cy="1371600"/>
          </a:xfrm>
          <a:prstGeom prst="rect">
            <a:avLst/>
          </a:prstGeom>
          <a:noFill/>
        </p:spPr>
        <p:txBody>
          <a:bodyPr wrap="square" lIns="0" rIns="0" tIns="0" bIns="0" anchor="t">
            <a:spAutoFit/>
          </a:bodyPr>
          <a:lstStyle/>
          <a:p>
            <a:pPr algn="l">
              <a:lnSpc>
                <a:spcPct val="95000"/>
              </a:lnSpc>
              <a:spcAft>
                <a:spcPts val="0"/>
              </a:spcAft>
            </a:pPr>
            <a:r>
              <a:rPr sz="4000" b="1" i="0">
                <a:solidFill>
                  <a:srgbClr val="12181D"/>
                </a:solidFill>
                <a:latin typeface="Trebuchet MS"/>
              </a:rPr>
              <a:t>Vidéo générative</a:t>
            </a:r>
          </a:p>
        </p:txBody>
      </p:sp>
      <p:sp>
        <p:nvSpPr>
          <p:cNvPr id="5" name="TextBox 4"/>
          <p:cNvSpPr txBox="1"/>
          <p:nvPr/>
        </p:nvSpPr>
        <p:spPr>
          <a:xfrm>
            <a:off x="777240" y="1874519"/>
            <a:ext cx="7315200" cy="274320"/>
          </a:xfrm>
          <a:prstGeom prst="rect">
            <a:avLst/>
          </a:prstGeom>
          <a:noFill/>
        </p:spPr>
        <p:txBody>
          <a:bodyPr wrap="square" lIns="0" rIns="0" tIns="0" bIns="0" anchor="t">
            <a:spAutoFit/>
          </a:bodyPr>
          <a:lstStyle/>
          <a:p>
            <a:pPr algn="l">
              <a:lnSpc>
                <a:spcPct val="112000"/>
              </a:lnSpc>
              <a:spcAft>
                <a:spcPts val="0"/>
              </a:spcAft>
            </a:pPr>
            <a:r>
              <a:rPr sz="1100" b="1" i="0" spc="150">
                <a:solidFill>
                  <a:srgbClr val="A32B57"/>
                </a:solidFill>
                <a:latin typeface="Consolas"/>
              </a:rPr>
              <a:t>SORA · VEO — DÉMONSTRATION SEULE</a:t>
            </a:r>
          </a:p>
        </p:txBody>
      </p:sp>
      <p:sp>
        <p:nvSpPr>
          <p:cNvPr id="6" name="TextBox 5"/>
          <p:cNvSpPr txBox="1"/>
          <p:nvPr/>
        </p:nvSpPr>
        <p:spPr>
          <a:xfrm>
            <a:off x="777240" y="2423160"/>
            <a:ext cx="5943600" cy="1280160"/>
          </a:xfrm>
          <a:prstGeom prst="rect">
            <a:avLst/>
          </a:prstGeom>
          <a:noFill/>
        </p:spPr>
        <p:txBody>
          <a:bodyPr wrap="square" lIns="0" rIns="0" tIns="0" bIns="0" anchor="t">
            <a:spAutoFit/>
          </a:bodyPr>
          <a:lstStyle/>
          <a:p>
            <a:pPr algn="l">
              <a:lnSpc>
                <a:spcPct val="130000"/>
              </a:lnSpc>
              <a:spcAft>
                <a:spcPts val="0"/>
              </a:spcAft>
            </a:pPr>
            <a:r>
              <a:rPr sz="1800" b="0" i="0">
                <a:solidFill>
                  <a:srgbClr val="545F69"/>
                </a:solidFill>
                <a:latin typeface="Calibri"/>
              </a:rPr>
              <a:t>Produire une séquence vidéo à partir d'une description écrite, avec son. Trop lent et trop coûteux pour un atelier, mais indispensable à montrer.</a:t>
            </a:r>
          </a:p>
        </p:txBody>
      </p:sp>
      <p:sp>
        <p:nvSpPr>
          <p:cNvPr id="7" name="TextBox 6"/>
          <p:cNvSpPr txBox="1"/>
          <p:nvPr/>
        </p:nvSpPr>
        <p:spPr>
          <a:xfrm>
            <a:off x="777240" y="3931920"/>
            <a:ext cx="3657600" cy="274320"/>
          </a:xfrm>
          <a:prstGeom prst="rect">
            <a:avLst/>
          </a:prstGeom>
          <a:noFill/>
        </p:spPr>
        <p:txBody>
          <a:bodyPr wrap="square" lIns="0" rIns="0" tIns="0" bIns="0" anchor="t">
            <a:spAutoFit/>
          </a:bodyPr>
          <a:lstStyle/>
          <a:p>
            <a:pPr algn="l">
              <a:lnSpc>
                <a:spcPct val="112000"/>
              </a:lnSpc>
              <a:spcAft>
                <a:spcPts val="0"/>
              </a:spcAft>
            </a:pPr>
            <a:r>
              <a:rPr sz="1000" b="1" i="0" spc="140">
                <a:solidFill>
                  <a:srgbClr val="8A959D"/>
                </a:solidFill>
                <a:latin typeface="Consolas"/>
              </a:rPr>
              <a:t>CE QU'ON FAIT EN SALLE</a:t>
            </a:r>
          </a:p>
        </p:txBody>
      </p:sp>
      <p:sp>
        <p:nvSpPr>
          <p:cNvPr id="8" name="TextBox 7"/>
          <p:cNvSpPr txBox="1"/>
          <p:nvPr/>
        </p:nvSpPr>
        <p:spPr>
          <a:xfrm>
            <a:off x="777240" y="4297680"/>
            <a:ext cx="274320" cy="274320"/>
          </a:xfrm>
          <a:prstGeom prst="rect">
            <a:avLst/>
          </a:prstGeom>
          <a:noFill/>
        </p:spPr>
        <p:txBody>
          <a:bodyPr wrap="square" lIns="0" rIns="0" tIns="0" bIns="0" anchor="t">
            <a:spAutoFit/>
          </a:bodyPr>
          <a:lstStyle/>
          <a:p>
            <a:pPr algn="l">
              <a:lnSpc>
                <a:spcPct val="112000"/>
              </a:lnSpc>
              <a:spcAft>
                <a:spcPts val="0"/>
              </a:spcAft>
            </a:pPr>
            <a:r>
              <a:rPr sz="1600" b="1" i="0">
                <a:solidFill>
                  <a:srgbClr val="A32B57"/>
                </a:solidFill>
                <a:latin typeface="Calibri"/>
              </a:rPr>
              <a:t>—</a:t>
            </a:r>
          </a:p>
        </p:txBody>
      </p:sp>
      <p:sp>
        <p:nvSpPr>
          <p:cNvPr id="9" name="TextBox 8"/>
          <p:cNvSpPr txBox="1"/>
          <p:nvPr/>
        </p:nvSpPr>
        <p:spPr>
          <a:xfrm>
            <a:off x="1088136" y="4297680"/>
            <a:ext cx="5632704" cy="365760"/>
          </a:xfrm>
          <a:prstGeom prst="rect">
            <a:avLst/>
          </a:prstGeom>
          <a:noFill/>
        </p:spPr>
        <p:txBody>
          <a:bodyPr wrap="square" lIns="0" rIns="0" tIns="0" bIns="0" anchor="t">
            <a:spAutoFit/>
          </a:bodyPr>
          <a:lstStyle/>
          <a:p>
            <a:pPr algn="l">
              <a:lnSpc>
                <a:spcPct val="114000"/>
              </a:lnSpc>
              <a:spcAft>
                <a:spcPts val="0"/>
              </a:spcAft>
            </a:pPr>
            <a:r>
              <a:rPr sz="1600" b="0" i="0">
                <a:solidFill>
                  <a:srgbClr val="545F69"/>
                </a:solidFill>
                <a:latin typeface="Calibri"/>
              </a:rPr>
              <a:t>Projeter deux exemples de trente secondes</a:t>
            </a:r>
          </a:p>
        </p:txBody>
      </p:sp>
      <p:sp>
        <p:nvSpPr>
          <p:cNvPr id="10" name="TextBox 9"/>
          <p:cNvSpPr txBox="1"/>
          <p:nvPr/>
        </p:nvSpPr>
        <p:spPr>
          <a:xfrm>
            <a:off x="777240" y="4832096"/>
            <a:ext cx="274320" cy="274320"/>
          </a:xfrm>
          <a:prstGeom prst="rect">
            <a:avLst/>
          </a:prstGeom>
          <a:noFill/>
        </p:spPr>
        <p:txBody>
          <a:bodyPr wrap="square" lIns="0" rIns="0" tIns="0" bIns="0" anchor="t">
            <a:spAutoFit/>
          </a:bodyPr>
          <a:lstStyle/>
          <a:p>
            <a:pPr algn="l">
              <a:lnSpc>
                <a:spcPct val="112000"/>
              </a:lnSpc>
              <a:spcAft>
                <a:spcPts val="0"/>
              </a:spcAft>
            </a:pPr>
            <a:r>
              <a:rPr sz="1600" b="1" i="0">
                <a:solidFill>
                  <a:srgbClr val="A32B57"/>
                </a:solidFill>
                <a:latin typeface="Calibri"/>
              </a:rPr>
              <a:t>—</a:t>
            </a:r>
          </a:p>
        </p:txBody>
      </p:sp>
      <p:sp>
        <p:nvSpPr>
          <p:cNvPr id="11" name="TextBox 10"/>
          <p:cNvSpPr txBox="1"/>
          <p:nvPr/>
        </p:nvSpPr>
        <p:spPr>
          <a:xfrm>
            <a:off x="1088136" y="4832096"/>
            <a:ext cx="5632704" cy="365760"/>
          </a:xfrm>
          <a:prstGeom prst="rect">
            <a:avLst/>
          </a:prstGeom>
          <a:noFill/>
        </p:spPr>
        <p:txBody>
          <a:bodyPr wrap="square" lIns="0" rIns="0" tIns="0" bIns="0" anchor="t">
            <a:spAutoFit/>
          </a:bodyPr>
          <a:lstStyle/>
          <a:p>
            <a:pPr algn="l">
              <a:lnSpc>
                <a:spcPct val="114000"/>
              </a:lnSpc>
              <a:spcAft>
                <a:spcPts val="0"/>
              </a:spcAft>
            </a:pPr>
            <a:r>
              <a:rPr sz="1600" b="0" i="0">
                <a:solidFill>
                  <a:srgbClr val="545F69"/>
                </a:solidFill>
                <a:latin typeface="Calibri"/>
              </a:rPr>
              <a:t>Montrer un </a:t>
            </a:r>
            <a:r>
              <a:rPr sz="1600" b="1" i="0">
                <a:solidFill>
                  <a:srgbClr val="12181D"/>
                </a:solidFill>
                <a:latin typeface="Calibri"/>
              </a:rPr>
              <a:t>deepfake</a:t>
            </a:r>
            <a:r>
              <a:rPr sz="1600" b="0" i="0">
                <a:solidFill>
                  <a:srgbClr val="545F69"/>
                </a:solidFill>
                <a:latin typeface="Calibri"/>
              </a:rPr>
              <a:t> de qualité courante</a:t>
            </a:r>
          </a:p>
        </p:txBody>
      </p:sp>
      <p:sp>
        <p:nvSpPr>
          <p:cNvPr id="12" name="TextBox 11"/>
          <p:cNvSpPr txBox="1"/>
          <p:nvPr/>
        </p:nvSpPr>
        <p:spPr>
          <a:xfrm>
            <a:off x="777240" y="5366512"/>
            <a:ext cx="274320" cy="274320"/>
          </a:xfrm>
          <a:prstGeom prst="rect">
            <a:avLst/>
          </a:prstGeom>
          <a:noFill/>
        </p:spPr>
        <p:txBody>
          <a:bodyPr wrap="square" lIns="0" rIns="0" tIns="0" bIns="0" anchor="t">
            <a:spAutoFit/>
          </a:bodyPr>
          <a:lstStyle/>
          <a:p>
            <a:pPr algn="l">
              <a:lnSpc>
                <a:spcPct val="112000"/>
              </a:lnSpc>
              <a:spcAft>
                <a:spcPts val="0"/>
              </a:spcAft>
            </a:pPr>
            <a:r>
              <a:rPr sz="1600" b="1" i="0">
                <a:solidFill>
                  <a:srgbClr val="A32B57"/>
                </a:solidFill>
                <a:latin typeface="Calibri"/>
              </a:rPr>
              <a:t>—</a:t>
            </a:r>
          </a:p>
        </p:txBody>
      </p:sp>
      <p:sp>
        <p:nvSpPr>
          <p:cNvPr id="13" name="TextBox 12"/>
          <p:cNvSpPr txBox="1"/>
          <p:nvPr/>
        </p:nvSpPr>
        <p:spPr>
          <a:xfrm>
            <a:off x="1088136" y="5366512"/>
            <a:ext cx="5632704" cy="365760"/>
          </a:xfrm>
          <a:prstGeom prst="rect">
            <a:avLst/>
          </a:prstGeom>
          <a:noFill/>
        </p:spPr>
        <p:txBody>
          <a:bodyPr wrap="square" lIns="0" rIns="0" tIns="0" bIns="0" anchor="t">
            <a:spAutoFit/>
          </a:bodyPr>
          <a:lstStyle/>
          <a:p>
            <a:pPr algn="l">
              <a:lnSpc>
                <a:spcPct val="114000"/>
              </a:lnSpc>
              <a:spcAft>
                <a:spcPts val="0"/>
              </a:spcAft>
            </a:pPr>
            <a:r>
              <a:rPr sz="1600" b="0" i="0">
                <a:solidFill>
                  <a:srgbClr val="545F69"/>
                </a:solidFill>
                <a:latin typeface="Calibri"/>
              </a:rPr>
              <a:t>Expliquer le filigrane invisible des contenus générés</a:t>
            </a:r>
          </a:p>
        </p:txBody>
      </p:sp>
      <p:sp>
        <p:nvSpPr>
          <p:cNvPr id="14" name="TextBox 13"/>
          <p:cNvSpPr txBox="1"/>
          <p:nvPr/>
        </p:nvSpPr>
        <p:spPr>
          <a:xfrm>
            <a:off x="777240" y="5900928"/>
            <a:ext cx="274320" cy="274320"/>
          </a:xfrm>
          <a:prstGeom prst="rect">
            <a:avLst/>
          </a:prstGeom>
          <a:noFill/>
        </p:spPr>
        <p:txBody>
          <a:bodyPr wrap="square" lIns="0" rIns="0" tIns="0" bIns="0" anchor="t">
            <a:spAutoFit/>
          </a:bodyPr>
          <a:lstStyle/>
          <a:p>
            <a:pPr algn="l">
              <a:lnSpc>
                <a:spcPct val="112000"/>
              </a:lnSpc>
              <a:spcAft>
                <a:spcPts val="0"/>
              </a:spcAft>
            </a:pPr>
            <a:r>
              <a:rPr sz="1600" b="1" i="0">
                <a:solidFill>
                  <a:srgbClr val="A32B57"/>
                </a:solidFill>
                <a:latin typeface="Calibri"/>
              </a:rPr>
              <a:t>—</a:t>
            </a:r>
          </a:p>
        </p:txBody>
      </p:sp>
      <p:sp>
        <p:nvSpPr>
          <p:cNvPr id="15" name="TextBox 14"/>
          <p:cNvSpPr txBox="1"/>
          <p:nvPr/>
        </p:nvSpPr>
        <p:spPr>
          <a:xfrm>
            <a:off x="1088136" y="5900928"/>
            <a:ext cx="5632704" cy="365760"/>
          </a:xfrm>
          <a:prstGeom prst="rect">
            <a:avLst/>
          </a:prstGeom>
          <a:noFill/>
        </p:spPr>
        <p:txBody>
          <a:bodyPr wrap="square" lIns="0" rIns="0" tIns="0" bIns="0" anchor="t">
            <a:spAutoFit/>
          </a:bodyPr>
          <a:lstStyle/>
          <a:p>
            <a:pPr algn="l">
              <a:lnSpc>
                <a:spcPct val="114000"/>
              </a:lnSpc>
              <a:spcAft>
                <a:spcPts val="0"/>
              </a:spcAft>
            </a:pPr>
            <a:r>
              <a:rPr sz="1600" b="0" i="0">
                <a:solidFill>
                  <a:srgbClr val="545F69"/>
                </a:solidFill>
                <a:latin typeface="Calibri"/>
              </a:rPr>
              <a:t>Question ouverte : à quoi reconnaît-on encore le faux ?</a:t>
            </a:r>
          </a:p>
        </p:txBody>
      </p:sp>
      <p:sp>
        <p:nvSpPr>
          <p:cNvPr id="16" name="Rectangle 15"/>
          <p:cNvSpPr/>
          <p:nvPr/>
        </p:nvSpPr>
        <p:spPr>
          <a:xfrm>
            <a:off x="7269479" y="2286000"/>
            <a:ext cx="4144975" cy="3383280"/>
          </a:xfrm>
          <a:prstGeom prst="rect">
            <a:avLst/>
          </a:prstGeom>
          <a:solidFill>
            <a:srgbClr val="FAF1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269479" y="2286000"/>
            <a:ext cx="41148" cy="3383280"/>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525511" y="2487168"/>
            <a:ext cx="3687775" cy="228600"/>
          </a:xfrm>
          <a:prstGeom prst="rect">
            <a:avLst/>
          </a:prstGeom>
          <a:noFill/>
        </p:spPr>
        <p:txBody>
          <a:bodyPr wrap="square" lIns="0" rIns="0" tIns="0" bIns="0" anchor="t">
            <a:spAutoFit/>
          </a:bodyPr>
          <a:lstStyle/>
          <a:p>
            <a:pPr algn="l">
              <a:lnSpc>
                <a:spcPct val="112000"/>
              </a:lnSpc>
              <a:spcAft>
                <a:spcPts val="0"/>
              </a:spcAft>
            </a:pPr>
            <a:r>
              <a:rPr sz="1000" b="1" i="0" spc="140">
                <a:solidFill>
                  <a:srgbClr val="8A5A00"/>
                </a:solidFill>
                <a:latin typeface="Consolas"/>
              </a:rPr>
              <a:t>POINT DE VIGILANCE</a:t>
            </a:r>
          </a:p>
        </p:txBody>
      </p:sp>
      <p:sp>
        <p:nvSpPr>
          <p:cNvPr id="19" name="TextBox 18"/>
          <p:cNvSpPr txBox="1"/>
          <p:nvPr/>
        </p:nvSpPr>
        <p:spPr>
          <a:xfrm>
            <a:off x="7525511" y="2816352"/>
            <a:ext cx="3687775" cy="2651760"/>
          </a:xfrm>
          <a:prstGeom prst="rect">
            <a:avLst/>
          </a:prstGeom>
          <a:noFill/>
        </p:spPr>
        <p:txBody>
          <a:bodyPr wrap="square" lIns="0" rIns="0" tIns="0" bIns="0" anchor="t">
            <a:spAutoFit/>
          </a:bodyPr>
          <a:lstStyle/>
          <a:p>
            <a:pPr algn="l">
              <a:lnSpc>
                <a:spcPct val="120000"/>
              </a:lnSpc>
              <a:spcAft>
                <a:spcPts val="0"/>
              </a:spcAft>
            </a:pPr>
            <a:r>
              <a:rPr sz="1600" b="0" i="0">
                <a:solidFill>
                  <a:srgbClr val="545F69"/>
                </a:solidFill>
                <a:latin typeface="Calibri"/>
              </a:rPr>
              <a:t>C'est ici que se joue la question de la confiance. Prévenez que la réponse à « comment reconnaître le faux » deviendra bientôt : on ne pourra plus, il faudra vérifier la source.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A32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60120" y="1463040"/>
            <a:ext cx="7315200" cy="274320"/>
          </a:xfrm>
          <a:prstGeom prst="rect">
            <a:avLst/>
          </a:prstGeom>
          <a:noFill/>
        </p:spPr>
        <p:txBody>
          <a:bodyPr wrap="square" lIns="0" rIns="0" tIns="0" bIns="0" anchor="t">
            <a:spAutoFit/>
          </a:bodyPr>
          <a:lstStyle/>
          <a:p>
            <a:pPr algn="l">
              <a:lnSpc>
                <a:spcPct val="112000"/>
              </a:lnSpc>
              <a:spcAft>
                <a:spcPts val="0"/>
              </a:spcAft>
            </a:pPr>
            <a:r>
              <a:rPr sz="1200" b="1" i="0" spc="180">
                <a:solidFill>
                  <a:srgbClr val="A32B57"/>
                </a:solidFill>
                <a:latin typeface="Consolas"/>
              </a:rPr>
              <a:t>JOUR 2 · SÉQUENCE 10</a:t>
            </a:r>
          </a:p>
        </p:txBody>
      </p:sp>
      <p:sp>
        <p:nvSpPr>
          <p:cNvPr id="5" name="TextBox 4"/>
          <p:cNvSpPr txBox="1"/>
          <p:nvPr/>
        </p:nvSpPr>
        <p:spPr>
          <a:xfrm>
            <a:off x="960120" y="1965960"/>
            <a:ext cx="9601200" cy="2011680"/>
          </a:xfrm>
          <a:prstGeom prst="rect">
            <a:avLst/>
          </a:prstGeom>
          <a:noFill/>
        </p:spPr>
        <p:txBody>
          <a:bodyPr wrap="square" lIns="0" rIns="0" tIns="0" bIns="0" anchor="t">
            <a:spAutoFit/>
          </a:bodyPr>
          <a:lstStyle/>
          <a:p>
            <a:pPr algn="l">
              <a:lnSpc>
                <a:spcPct val="95000"/>
              </a:lnSpc>
              <a:spcAft>
                <a:spcPts val="0"/>
              </a:spcAft>
            </a:pPr>
            <a:r>
              <a:rPr sz="5000" b="1" i="0">
                <a:solidFill>
                  <a:srgbClr val="12181D"/>
                </a:solidFill>
                <a:latin typeface="Trebuchet MS"/>
              </a:rPr>
              <a:t>Fabriquer son propre assistant</a:t>
            </a:r>
          </a:p>
        </p:txBody>
      </p:sp>
      <p:sp>
        <p:nvSpPr>
          <p:cNvPr id="6" name="Rectangle 5"/>
          <p:cNvSpPr/>
          <p:nvPr/>
        </p:nvSpPr>
        <p:spPr>
          <a:xfrm>
            <a:off x="960120" y="4114800"/>
            <a:ext cx="1463040" cy="41148"/>
          </a:xfrm>
          <a:prstGeom prst="rect">
            <a:avLst/>
          </a:prstGeom>
          <a:solidFill>
            <a:srgbClr val="A32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60120" y="4480560"/>
            <a:ext cx="8595360" cy="1097280"/>
          </a:xfrm>
          <a:prstGeom prst="rect">
            <a:avLst/>
          </a:prstGeom>
          <a:noFill/>
        </p:spPr>
        <p:txBody>
          <a:bodyPr wrap="square" lIns="0" rIns="0" tIns="0" bIns="0" anchor="t">
            <a:spAutoFit/>
          </a:bodyPr>
          <a:lstStyle/>
          <a:p>
            <a:pPr algn="l">
              <a:lnSpc>
                <a:spcPct val="132000"/>
              </a:lnSpc>
              <a:spcAft>
                <a:spcPts val="0"/>
              </a:spcAft>
            </a:pPr>
            <a:r>
              <a:rPr sz="2000" b="0" i="0">
                <a:solidFill>
                  <a:srgbClr val="545F69"/>
                </a:solidFill>
                <a:latin typeface="Calibri"/>
              </a:rPr>
              <a:t>Passer du prompt jetable à l'outil qu'on rouvre tous les matins.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77240" y="402336"/>
            <a:ext cx="10637215" cy="32004"/>
          </a:xfrm>
          <a:prstGeom prst="rect">
            <a:avLst/>
          </a:prstGeom>
          <a:solidFill>
            <a:srgbClr val="12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77240" y="502920"/>
            <a:ext cx="10637215" cy="274320"/>
          </a:xfrm>
          <a:prstGeom prst="rect">
            <a:avLst/>
          </a:prstGeom>
          <a:noFill/>
        </p:spPr>
        <p:txBody>
          <a:bodyPr wrap="square" lIns="0" rIns="0" tIns="0" bIns="0" anchor="t">
            <a:spAutoFit/>
          </a:bodyPr>
          <a:lstStyle/>
          <a:p>
            <a:pPr algn="l">
              <a:lnSpc>
                <a:spcPct val="112000"/>
              </a:lnSpc>
              <a:spcAft>
                <a:spcPts val="0"/>
              </a:spcAft>
            </a:pPr>
            <a:r>
              <a:rPr sz="1050" b="1" i="0" spc="150">
                <a:solidFill>
                  <a:srgbClr val="A32B57"/>
                </a:solidFill>
                <a:latin typeface="Consolas"/>
              </a:rPr>
              <a:t>SÉQUENCE 10</a:t>
            </a:r>
          </a:p>
        </p:txBody>
      </p:sp>
      <p:sp>
        <p:nvSpPr>
          <p:cNvPr id="4" name="TextBox 3"/>
          <p:cNvSpPr txBox="1"/>
          <p:nvPr/>
        </p:nvSpPr>
        <p:spPr>
          <a:xfrm>
            <a:off x="777240" y="868680"/>
            <a:ext cx="10637215" cy="1371600"/>
          </a:xfrm>
          <a:prstGeom prst="rect">
            <a:avLst/>
          </a:prstGeom>
          <a:noFill/>
        </p:spPr>
        <p:txBody>
          <a:bodyPr wrap="square" lIns="0" rIns="0" tIns="0" bIns="0" anchor="t">
            <a:spAutoFit/>
          </a:bodyPr>
          <a:lstStyle/>
          <a:p>
            <a:pPr algn="l">
              <a:lnSpc>
                <a:spcPct val="95000"/>
              </a:lnSpc>
              <a:spcAft>
                <a:spcPts val="0"/>
              </a:spcAft>
            </a:pPr>
            <a:r>
              <a:rPr sz="3800" b="1" i="0">
                <a:solidFill>
                  <a:srgbClr val="12181D"/>
                </a:solidFill>
                <a:latin typeface="Trebuchet MS"/>
              </a:rPr>
              <a:t>Trois façons de s'y prendre, du même effort au même endroit</a:t>
            </a:r>
          </a:p>
        </p:txBody>
      </p:sp>
      <p:sp>
        <p:nvSpPr>
          <p:cNvPr id="5" name="TextBox 4"/>
          <p:cNvSpPr txBox="1"/>
          <p:nvPr/>
        </p:nvSpPr>
        <p:spPr>
          <a:xfrm>
            <a:off x="777240" y="2331720"/>
            <a:ext cx="274320" cy="274320"/>
          </a:xfrm>
          <a:prstGeom prst="rect">
            <a:avLst/>
          </a:prstGeom>
          <a:noFill/>
        </p:spPr>
        <p:txBody>
          <a:bodyPr wrap="square" lIns="0" rIns="0" tIns="0" bIns="0" anchor="t">
            <a:spAutoFit/>
          </a:bodyPr>
          <a:lstStyle/>
          <a:p>
            <a:pPr algn="l">
              <a:lnSpc>
                <a:spcPct val="112000"/>
              </a:lnSpc>
              <a:spcAft>
                <a:spcPts val="0"/>
              </a:spcAft>
            </a:pPr>
            <a:r>
              <a:rPr sz="1700" b="1" i="0">
                <a:solidFill>
                  <a:srgbClr val="A32B57"/>
                </a:solidFill>
                <a:latin typeface="Calibri"/>
              </a:rPr>
              <a:t>—</a:t>
            </a:r>
          </a:p>
        </p:txBody>
      </p:sp>
      <p:sp>
        <p:nvSpPr>
          <p:cNvPr id="6" name="TextBox 5"/>
          <p:cNvSpPr txBox="1"/>
          <p:nvPr/>
        </p:nvSpPr>
        <p:spPr>
          <a:xfrm>
            <a:off x="1088136" y="2331720"/>
            <a:ext cx="5724144" cy="365760"/>
          </a:xfrm>
          <a:prstGeom prst="rect">
            <a:avLst/>
          </a:prstGeom>
          <a:noFill/>
        </p:spPr>
        <p:txBody>
          <a:bodyPr wrap="square" lIns="0" rIns="0" tIns="0" bIns="0" anchor="t">
            <a:spAutoFit/>
          </a:bodyPr>
          <a:lstStyle/>
          <a:p>
            <a:pPr algn="l">
              <a:lnSpc>
                <a:spcPct val="114000"/>
              </a:lnSpc>
              <a:spcAft>
                <a:spcPts val="0"/>
              </a:spcAft>
            </a:pPr>
            <a:r>
              <a:rPr sz="1700" b="1" i="0">
                <a:solidFill>
                  <a:srgbClr val="12181D"/>
                </a:solidFill>
                <a:latin typeface="Calibri"/>
              </a:rPr>
              <a:t>Le prompt jetable.</a:t>
            </a:r>
            <a:r>
              <a:rPr sz="1700" b="0" i="0">
                <a:solidFill>
                  <a:srgbClr val="545F69"/>
                </a:solidFill>
                <a:latin typeface="Calibri"/>
              </a:rPr>
              <a:t> Vous réécrivez tout à chaque fois. Efficace une fois, ruineux en temps quand la tâche revient chaque semaine.</a:t>
            </a:r>
          </a:p>
        </p:txBody>
      </p:sp>
      <p:sp>
        <p:nvSpPr>
          <p:cNvPr id="7" name="TextBox 6"/>
          <p:cNvSpPr txBox="1"/>
          <p:nvPr/>
        </p:nvSpPr>
        <p:spPr>
          <a:xfrm>
            <a:off x="777240" y="3435095"/>
            <a:ext cx="274320" cy="274320"/>
          </a:xfrm>
          <a:prstGeom prst="rect">
            <a:avLst/>
          </a:prstGeom>
          <a:noFill/>
        </p:spPr>
        <p:txBody>
          <a:bodyPr wrap="square" lIns="0" rIns="0" tIns="0" bIns="0" anchor="t">
            <a:spAutoFit/>
          </a:bodyPr>
          <a:lstStyle/>
          <a:p>
            <a:pPr algn="l">
              <a:lnSpc>
                <a:spcPct val="112000"/>
              </a:lnSpc>
              <a:spcAft>
                <a:spcPts val="0"/>
              </a:spcAft>
            </a:pPr>
            <a:r>
              <a:rPr sz="1700" b="1" i="0">
                <a:solidFill>
                  <a:srgbClr val="A32B57"/>
                </a:solidFill>
                <a:latin typeface="Calibri"/>
              </a:rPr>
              <a:t>—</a:t>
            </a:r>
          </a:p>
        </p:txBody>
      </p:sp>
      <p:sp>
        <p:nvSpPr>
          <p:cNvPr id="8" name="TextBox 7"/>
          <p:cNvSpPr txBox="1"/>
          <p:nvPr/>
        </p:nvSpPr>
        <p:spPr>
          <a:xfrm>
            <a:off x="1088136" y="3435095"/>
            <a:ext cx="5724144" cy="365760"/>
          </a:xfrm>
          <a:prstGeom prst="rect">
            <a:avLst/>
          </a:prstGeom>
          <a:noFill/>
        </p:spPr>
        <p:txBody>
          <a:bodyPr wrap="square" lIns="0" rIns="0" tIns="0" bIns="0" anchor="t">
            <a:spAutoFit/>
          </a:bodyPr>
          <a:lstStyle/>
          <a:p>
            <a:pPr algn="l">
              <a:lnSpc>
                <a:spcPct val="114000"/>
              </a:lnSpc>
              <a:spcAft>
                <a:spcPts val="0"/>
              </a:spcAft>
            </a:pPr>
            <a:r>
              <a:rPr sz="1700" b="1" i="0">
                <a:solidFill>
                  <a:srgbClr val="12181D"/>
                </a:solidFill>
                <a:latin typeface="Calibri"/>
              </a:rPr>
              <a:t>Le prompt enregistré.</a:t>
            </a:r>
            <a:r>
              <a:rPr sz="1700" b="0" i="0">
                <a:solidFill>
                  <a:srgbClr val="545F69"/>
                </a:solidFill>
                <a:latin typeface="Calibri"/>
              </a:rPr>
              <a:t> Vous gardez vos meilleures demandes dans un document, et vous copiez-collez. C'est déjà quatre-vingts pour cent du gain, pour zéro technique.</a:t>
            </a:r>
          </a:p>
        </p:txBody>
      </p:sp>
      <p:sp>
        <p:nvSpPr>
          <p:cNvPr id="9" name="TextBox 8"/>
          <p:cNvSpPr txBox="1"/>
          <p:nvPr/>
        </p:nvSpPr>
        <p:spPr>
          <a:xfrm>
            <a:off x="777240" y="4538472"/>
            <a:ext cx="274320" cy="274320"/>
          </a:xfrm>
          <a:prstGeom prst="rect">
            <a:avLst/>
          </a:prstGeom>
          <a:noFill/>
        </p:spPr>
        <p:txBody>
          <a:bodyPr wrap="square" lIns="0" rIns="0" tIns="0" bIns="0" anchor="t">
            <a:spAutoFit/>
          </a:bodyPr>
          <a:lstStyle/>
          <a:p>
            <a:pPr algn="l">
              <a:lnSpc>
                <a:spcPct val="112000"/>
              </a:lnSpc>
              <a:spcAft>
                <a:spcPts val="0"/>
              </a:spcAft>
            </a:pPr>
            <a:r>
              <a:rPr sz="1700" b="1" i="0">
                <a:solidFill>
                  <a:srgbClr val="A32B57"/>
                </a:solidFill>
                <a:latin typeface="Calibri"/>
              </a:rPr>
              <a:t>—</a:t>
            </a:r>
          </a:p>
        </p:txBody>
      </p:sp>
      <p:sp>
        <p:nvSpPr>
          <p:cNvPr id="10" name="TextBox 9"/>
          <p:cNvSpPr txBox="1"/>
          <p:nvPr/>
        </p:nvSpPr>
        <p:spPr>
          <a:xfrm>
            <a:off x="1088136" y="4538472"/>
            <a:ext cx="5724144" cy="365760"/>
          </a:xfrm>
          <a:prstGeom prst="rect">
            <a:avLst/>
          </a:prstGeom>
          <a:noFill/>
        </p:spPr>
        <p:txBody>
          <a:bodyPr wrap="square" lIns="0" rIns="0" tIns="0" bIns="0" anchor="t">
            <a:spAutoFit/>
          </a:bodyPr>
          <a:lstStyle/>
          <a:p>
            <a:pPr algn="l">
              <a:lnSpc>
                <a:spcPct val="114000"/>
              </a:lnSpc>
              <a:spcAft>
                <a:spcPts val="0"/>
              </a:spcAft>
            </a:pPr>
            <a:r>
              <a:rPr sz="1700" b="1" i="0">
                <a:solidFill>
                  <a:srgbClr val="12181D"/>
                </a:solidFill>
                <a:latin typeface="Calibri"/>
              </a:rPr>
              <a:t>L'assistant configuré.</a:t>
            </a:r>
            <a:r>
              <a:rPr sz="1700" b="0" i="0">
                <a:solidFill>
                  <a:srgbClr val="545F69"/>
                </a:solidFill>
                <a:latin typeface="Calibri"/>
              </a:rPr>
              <a:t> Vous paramétrez une fois un outil qui connaît votre contexte, votre ton et vos documents — et vous ne redonnez plus jamais les consignes.</a:t>
            </a:r>
          </a:p>
        </p:txBody>
      </p:sp>
      <p:sp>
        <p:nvSpPr>
          <p:cNvPr id="11" name="Rectangle 10"/>
          <p:cNvSpPr/>
          <p:nvPr/>
        </p:nvSpPr>
        <p:spPr>
          <a:xfrm>
            <a:off x="7269479" y="2286000"/>
            <a:ext cx="4144975" cy="3291840"/>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269479" y="2286000"/>
            <a:ext cx="41148" cy="3291840"/>
          </a:xfrm>
          <a:prstGeom prst="rect">
            <a:avLst/>
          </a:prstGeom>
          <a:solidFill>
            <a:srgbClr val="A32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525511" y="2487168"/>
            <a:ext cx="3687775" cy="228600"/>
          </a:xfrm>
          <a:prstGeom prst="rect">
            <a:avLst/>
          </a:prstGeom>
          <a:noFill/>
        </p:spPr>
        <p:txBody>
          <a:bodyPr wrap="square" lIns="0" rIns="0" tIns="0" bIns="0" anchor="t">
            <a:spAutoFit/>
          </a:bodyPr>
          <a:lstStyle/>
          <a:p>
            <a:pPr algn="l">
              <a:lnSpc>
                <a:spcPct val="112000"/>
              </a:lnSpc>
              <a:spcAft>
                <a:spcPts val="0"/>
              </a:spcAft>
            </a:pPr>
            <a:r>
              <a:rPr sz="1000" b="1" i="0" spc="140">
                <a:solidFill>
                  <a:srgbClr val="A32B57"/>
                </a:solidFill>
                <a:latin typeface="Consolas"/>
              </a:rPr>
              <a:t>LA BONNE SURPRISE</a:t>
            </a:r>
          </a:p>
        </p:txBody>
      </p:sp>
      <p:sp>
        <p:nvSpPr>
          <p:cNvPr id="14" name="TextBox 13"/>
          <p:cNvSpPr txBox="1"/>
          <p:nvPr/>
        </p:nvSpPr>
        <p:spPr>
          <a:xfrm>
            <a:off x="7525511" y="2816352"/>
            <a:ext cx="3687775" cy="2560320"/>
          </a:xfrm>
          <a:prstGeom prst="rect">
            <a:avLst/>
          </a:prstGeom>
          <a:noFill/>
        </p:spPr>
        <p:txBody>
          <a:bodyPr wrap="square" lIns="0" rIns="0" tIns="0" bIns="0" anchor="t">
            <a:spAutoFit/>
          </a:bodyPr>
          <a:lstStyle/>
          <a:p>
            <a:pPr algn="l">
              <a:lnSpc>
                <a:spcPct val="120000"/>
              </a:lnSpc>
              <a:spcAft>
                <a:spcPts val="0"/>
              </a:spcAft>
            </a:pPr>
            <a:r>
              <a:rPr sz="1500" b="0" i="0">
                <a:solidFill>
                  <a:srgbClr val="545F69"/>
                </a:solidFill>
                <a:latin typeface="Calibri"/>
              </a:rPr>
              <a:t>Configurer un assistant demande exactement les mêmes six lettres que le prompt d'hier.</a:t>
            </a:r>
          </a:p>
          <a:p>
            <a:pPr algn="l">
              <a:lnSpc>
                <a:spcPct val="120000"/>
              </a:lnSpc>
              <a:spcAft>
                <a:spcPts val="0"/>
              </a:spcAft>
            </a:pPr>
          </a:p>
          <a:p>
            <a:pPr algn="l">
              <a:lnSpc>
                <a:spcPct val="120000"/>
              </a:lnSpc>
              <a:spcAft>
                <a:spcPts val="0"/>
              </a:spcAft>
            </a:pPr>
            <a:r>
              <a:rPr sz="1500" b="0" i="0">
                <a:solidFill>
                  <a:srgbClr val="545F69"/>
                </a:solidFill>
                <a:latin typeface="Calibri"/>
              </a:rPr>
              <a:t>Vous savez déjà le faire — il ne reste qu'à le ranger au bon endroit.</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77240" y="402336"/>
            <a:ext cx="10637215" cy="32004"/>
          </a:xfrm>
          <a:prstGeom prst="rect">
            <a:avLst/>
          </a:prstGeom>
          <a:solidFill>
            <a:srgbClr val="12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77240" y="502920"/>
            <a:ext cx="10637215" cy="274320"/>
          </a:xfrm>
          <a:prstGeom prst="rect">
            <a:avLst/>
          </a:prstGeom>
          <a:noFill/>
        </p:spPr>
        <p:txBody>
          <a:bodyPr wrap="square" lIns="0" rIns="0" tIns="0" bIns="0" anchor="t">
            <a:spAutoFit/>
          </a:bodyPr>
          <a:lstStyle/>
          <a:p>
            <a:pPr algn="l">
              <a:lnSpc>
                <a:spcPct val="112000"/>
              </a:lnSpc>
              <a:spcAft>
                <a:spcPts val="0"/>
              </a:spcAft>
            </a:pPr>
            <a:r>
              <a:rPr sz="1050" b="1" i="0" spc="150">
                <a:solidFill>
                  <a:srgbClr val="A32B57"/>
                </a:solidFill>
                <a:latin typeface="Consolas"/>
              </a:rPr>
              <a:t>SÉQUENCE 10</a:t>
            </a:r>
          </a:p>
        </p:txBody>
      </p:sp>
      <p:sp>
        <p:nvSpPr>
          <p:cNvPr id="4" name="TextBox 3"/>
          <p:cNvSpPr txBox="1"/>
          <p:nvPr/>
        </p:nvSpPr>
        <p:spPr>
          <a:xfrm>
            <a:off x="777240" y="868680"/>
            <a:ext cx="10637215" cy="1371600"/>
          </a:xfrm>
          <a:prstGeom prst="rect">
            <a:avLst/>
          </a:prstGeom>
          <a:noFill/>
        </p:spPr>
        <p:txBody>
          <a:bodyPr wrap="square" lIns="0" rIns="0" tIns="0" bIns="0" anchor="t">
            <a:spAutoFit/>
          </a:bodyPr>
          <a:lstStyle/>
          <a:p>
            <a:pPr algn="l">
              <a:lnSpc>
                <a:spcPct val="95000"/>
              </a:lnSpc>
              <a:spcAft>
                <a:spcPts val="0"/>
              </a:spcAft>
            </a:pPr>
            <a:r>
              <a:rPr sz="3800" b="1" i="0">
                <a:solidFill>
                  <a:srgbClr val="12181D"/>
                </a:solidFill>
                <a:latin typeface="Trebuchet MS"/>
              </a:rPr>
              <a:t>Ce qu'on met dans un assistant</a:t>
            </a:r>
          </a:p>
        </p:txBody>
      </p:sp>
      <p:sp>
        <p:nvSpPr>
          <p:cNvPr id="5" name="TextBox 4"/>
          <p:cNvSpPr txBox="1"/>
          <p:nvPr/>
        </p:nvSpPr>
        <p:spPr>
          <a:xfrm>
            <a:off x="777240" y="2331720"/>
            <a:ext cx="274320" cy="274320"/>
          </a:xfrm>
          <a:prstGeom prst="rect">
            <a:avLst/>
          </a:prstGeom>
          <a:noFill/>
        </p:spPr>
        <p:txBody>
          <a:bodyPr wrap="square" lIns="0" rIns="0" tIns="0" bIns="0" anchor="t">
            <a:spAutoFit/>
          </a:bodyPr>
          <a:lstStyle/>
          <a:p>
            <a:pPr algn="l">
              <a:lnSpc>
                <a:spcPct val="112000"/>
              </a:lnSpc>
              <a:spcAft>
                <a:spcPts val="0"/>
              </a:spcAft>
            </a:pPr>
            <a:r>
              <a:rPr sz="1550" b="1" i="0">
                <a:solidFill>
                  <a:srgbClr val="A32B57"/>
                </a:solidFill>
                <a:latin typeface="Calibri"/>
              </a:rPr>
              <a:t>—</a:t>
            </a:r>
          </a:p>
        </p:txBody>
      </p:sp>
      <p:sp>
        <p:nvSpPr>
          <p:cNvPr id="6" name="TextBox 5"/>
          <p:cNvSpPr txBox="1"/>
          <p:nvPr/>
        </p:nvSpPr>
        <p:spPr>
          <a:xfrm>
            <a:off x="1088136" y="2331720"/>
            <a:ext cx="8741664" cy="365760"/>
          </a:xfrm>
          <a:prstGeom prst="rect">
            <a:avLst/>
          </a:prstGeom>
          <a:noFill/>
        </p:spPr>
        <p:txBody>
          <a:bodyPr wrap="square" lIns="0" rIns="0" tIns="0" bIns="0" anchor="t">
            <a:spAutoFit/>
          </a:bodyPr>
          <a:lstStyle/>
          <a:p>
            <a:pPr algn="l">
              <a:lnSpc>
                <a:spcPct val="114000"/>
              </a:lnSpc>
              <a:spcAft>
                <a:spcPts val="0"/>
              </a:spcAft>
            </a:pPr>
            <a:r>
              <a:rPr sz="1550" b="1" i="0">
                <a:solidFill>
                  <a:srgbClr val="12181D"/>
                </a:solidFill>
                <a:latin typeface="Calibri"/>
              </a:rPr>
              <a:t>Un nom et une mission en une phrase.</a:t>
            </a:r>
            <a:r>
              <a:rPr sz="1550" b="0" i="0">
                <a:solidFill>
                  <a:srgbClr val="545F69"/>
                </a:solidFill>
                <a:latin typeface="Calibri"/>
              </a:rPr>
              <a:t> « Tu m'aides à rédiger les comptes rendus de réunion du comité de direction. »</a:t>
            </a:r>
          </a:p>
        </p:txBody>
      </p:sp>
      <p:sp>
        <p:nvSpPr>
          <p:cNvPr id="7" name="TextBox 6"/>
          <p:cNvSpPr txBox="1"/>
          <p:nvPr/>
        </p:nvSpPr>
        <p:spPr>
          <a:xfrm>
            <a:off x="777240" y="3109975"/>
            <a:ext cx="274320" cy="274320"/>
          </a:xfrm>
          <a:prstGeom prst="rect">
            <a:avLst/>
          </a:prstGeom>
          <a:noFill/>
        </p:spPr>
        <p:txBody>
          <a:bodyPr wrap="square" lIns="0" rIns="0" tIns="0" bIns="0" anchor="t">
            <a:spAutoFit/>
          </a:bodyPr>
          <a:lstStyle/>
          <a:p>
            <a:pPr algn="l">
              <a:lnSpc>
                <a:spcPct val="112000"/>
              </a:lnSpc>
              <a:spcAft>
                <a:spcPts val="0"/>
              </a:spcAft>
            </a:pPr>
            <a:r>
              <a:rPr sz="1550" b="1" i="0">
                <a:solidFill>
                  <a:srgbClr val="A32B57"/>
                </a:solidFill>
                <a:latin typeface="Calibri"/>
              </a:rPr>
              <a:t>—</a:t>
            </a:r>
          </a:p>
        </p:txBody>
      </p:sp>
      <p:sp>
        <p:nvSpPr>
          <p:cNvPr id="8" name="TextBox 7"/>
          <p:cNvSpPr txBox="1"/>
          <p:nvPr/>
        </p:nvSpPr>
        <p:spPr>
          <a:xfrm>
            <a:off x="1088136" y="3109975"/>
            <a:ext cx="8741664" cy="365760"/>
          </a:xfrm>
          <a:prstGeom prst="rect">
            <a:avLst/>
          </a:prstGeom>
          <a:noFill/>
        </p:spPr>
        <p:txBody>
          <a:bodyPr wrap="square" lIns="0" rIns="0" tIns="0" bIns="0" anchor="t">
            <a:spAutoFit/>
          </a:bodyPr>
          <a:lstStyle/>
          <a:p>
            <a:pPr algn="l">
              <a:lnSpc>
                <a:spcPct val="114000"/>
              </a:lnSpc>
              <a:spcAft>
                <a:spcPts val="0"/>
              </a:spcAft>
            </a:pPr>
            <a:r>
              <a:rPr sz="1550" b="1" i="0">
                <a:solidFill>
                  <a:srgbClr val="12181D"/>
                </a:solidFill>
                <a:latin typeface="Calibri"/>
              </a:rPr>
              <a:t>Le contexte permanent</a:t>
            </a:r>
            <a:r>
              <a:rPr sz="1550" b="0" i="0">
                <a:solidFill>
                  <a:srgbClr val="545F69"/>
                </a:solidFill>
                <a:latin typeface="Calibri"/>
              </a:rPr>
              <a:t> : qui vous êtes, votre organisation, votre secteur, votre public.</a:t>
            </a:r>
          </a:p>
        </p:txBody>
      </p:sp>
      <p:sp>
        <p:nvSpPr>
          <p:cNvPr id="9" name="TextBox 8"/>
          <p:cNvSpPr txBox="1"/>
          <p:nvPr/>
        </p:nvSpPr>
        <p:spPr>
          <a:xfrm>
            <a:off x="777240" y="3636264"/>
            <a:ext cx="274320" cy="274320"/>
          </a:xfrm>
          <a:prstGeom prst="rect">
            <a:avLst/>
          </a:prstGeom>
          <a:noFill/>
        </p:spPr>
        <p:txBody>
          <a:bodyPr wrap="square" lIns="0" rIns="0" tIns="0" bIns="0" anchor="t">
            <a:spAutoFit/>
          </a:bodyPr>
          <a:lstStyle/>
          <a:p>
            <a:pPr algn="l">
              <a:lnSpc>
                <a:spcPct val="112000"/>
              </a:lnSpc>
              <a:spcAft>
                <a:spcPts val="0"/>
              </a:spcAft>
            </a:pPr>
            <a:r>
              <a:rPr sz="1550" b="1" i="0">
                <a:solidFill>
                  <a:srgbClr val="A32B57"/>
                </a:solidFill>
                <a:latin typeface="Calibri"/>
              </a:rPr>
              <a:t>—</a:t>
            </a:r>
          </a:p>
        </p:txBody>
      </p:sp>
      <p:sp>
        <p:nvSpPr>
          <p:cNvPr id="10" name="TextBox 9"/>
          <p:cNvSpPr txBox="1"/>
          <p:nvPr/>
        </p:nvSpPr>
        <p:spPr>
          <a:xfrm>
            <a:off x="1088136" y="3636264"/>
            <a:ext cx="8741664" cy="365760"/>
          </a:xfrm>
          <a:prstGeom prst="rect">
            <a:avLst/>
          </a:prstGeom>
          <a:noFill/>
        </p:spPr>
        <p:txBody>
          <a:bodyPr wrap="square" lIns="0" rIns="0" tIns="0" bIns="0" anchor="t">
            <a:spAutoFit/>
          </a:bodyPr>
          <a:lstStyle/>
          <a:p>
            <a:pPr algn="l">
              <a:lnSpc>
                <a:spcPct val="114000"/>
              </a:lnSpc>
              <a:spcAft>
                <a:spcPts val="0"/>
              </a:spcAft>
            </a:pPr>
            <a:r>
              <a:rPr sz="1550" b="1" i="0">
                <a:solidFill>
                  <a:srgbClr val="12181D"/>
                </a:solidFill>
                <a:latin typeface="Calibri"/>
              </a:rPr>
              <a:t>Le ton et le format attendus</a:t>
            </a:r>
            <a:r>
              <a:rPr sz="1550" b="0" i="0">
                <a:solidFill>
                  <a:srgbClr val="545F69"/>
                </a:solidFill>
                <a:latin typeface="Calibri"/>
              </a:rPr>
              <a:t>, décrits précisément. C'est ce qui évite de recorriger chaque sortie.</a:t>
            </a:r>
          </a:p>
        </p:txBody>
      </p:sp>
      <p:sp>
        <p:nvSpPr>
          <p:cNvPr id="11" name="TextBox 10"/>
          <p:cNvSpPr txBox="1"/>
          <p:nvPr/>
        </p:nvSpPr>
        <p:spPr>
          <a:xfrm>
            <a:off x="777240" y="4414520"/>
            <a:ext cx="274320" cy="274320"/>
          </a:xfrm>
          <a:prstGeom prst="rect">
            <a:avLst/>
          </a:prstGeom>
          <a:noFill/>
        </p:spPr>
        <p:txBody>
          <a:bodyPr wrap="square" lIns="0" rIns="0" tIns="0" bIns="0" anchor="t">
            <a:spAutoFit/>
          </a:bodyPr>
          <a:lstStyle/>
          <a:p>
            <a:pPr algn="l">
              <a:lnSpc>
                <a:spcPct val="112000"/>
              </a:lnSpc>
              <a:spcAft>
                <a:spcPts val="0"/>
              </a:spcAft>
            </a:pPr>
            <a:r>
              <a:rPr sz="1550" b="1" i="0">
                <a:solidFill>
                  <a:srgbClr val="A32B57"/>
                </a:solidFill>
                <a:latin typeface="Calibri"/>
              </a:rPr>
              <a:t>—</a:t>
            </a:r>
          </a:p>
        </p:txBody>
      </p:sp>
      <p:sp>
        <p:nvSpPr>
          <p:cNvPr id="12" name="TextBox 11"/>
          <p:cNvSpPr txBox="1"/>
          <p:nvPr/>
        </p:nvSpPr>
        <p:spPr>
          <a:xfrm>
            <a:off x="1088136" y="4414520"/>
            <a:ext cx="8741664" cy="365760"/>
          </a:xfrm>
          <a:prstGeom prst="rect">
            <a:avLst/>
          </a:prstGeom>
          <a:noFill/>
        </p:spPr>
        <p:txBody>
          <a:bodyPr wrap="square" lIns="0" rIns="0" tIns="0" bIns="0" anchor="t">
            <a:spAutoFit/>
          </a:bodyPr>
          <a:lstStyle/>
          <a:p>
            <a:pPr algn="l">
              <a:lnSpc>
                <a:spcPct val="114000"/>
              </a:lnSpc>
              <a:spcAft>
                <a:spcPts val="0"/>
              </a:spcAft>
            </a:pPr>
            <a:r>
              <a:rPr sz="1550" b="1" i="0">
                <a:solidFill>
                  <a:srgbClr val="12181D"/>
                </a:solidFill>
                <a:latin typeface="Calibri"/>
              </a:rPr>
              <a:t>Des fichiers de référence</a:t>
            </a:r>
            <a:r>
              <a:rPr sz="1550" b="0" i="0">
                <a:solidFill>
                  <a:srgbClr val="545F69"/>
                </a:solidFill>
                <a:latin typeface="Calibri"/>
              </a:rPr>
              <a:t> : vos modèles, vos chartes, trois exemples de ce que vous considérez comme un bon résultat. Les exemples valent mieux que les consignes.</a:t>
            </a:r>
          </a:p>
        </p:txBody>
      </p:sp>
      <p:sp>
        <p:nvSpPr>
          <p:cNvPr id="13" name="TextBox 12"/>
          <p:cNvSpPr txBox="1"/>
          <p:nvPr/>
        </p:nvSpPr>
        <p:spPr>
          <a:xfrm>
            <a:off x="777240" y="5192776"/>
            <a:ext cx="274320" cy="274320"/>
          </a:xfrm>
          <a:prstGeom prst="rect">
            <a:avLst/>
          </a:prstGeom>
          <a:noFill/>
        </p:spPr>
        <p:txBody>
          <a:bodyPr wrap="square" lIns="0" rIns="0" tIns="0" bIns="0" anchor="t">
            <a:spAutoFit/>
          </a:bodyPr>
          <a:lstStyle/>
          <a:p>
            <a:pPr algn="l">
              <a:lnSpc>
                <a:spcPct val="112000"/>
              </a:lnSpc>
              <a:spcAft>
                <a:spcPts val="0"/>
              </a:spcAft>
            </a:pPr>
            <a:r>
              <a:rPr sz="1550" b="1" i="0">
                <a:solidFill>
                  <a:srgbClr val="A32B57"/>
                </a:solidFill>
                <a:latin typeface="Calibri"/>
              </a:rPr>
              <a:t>—</a:t>
            </a:r>
          </a:p>
        </p:txBody>
      </p:sp>
      <p:sp>
        <p:nvSpPr>
          <p:cNvPr id="14" name="TextBox 13"/>
          <p:cNvSpPr txBox="1"/>
          <p:nvPr/>
        </p:nvSpPr>
        <p:spPr>
          <a:xfrm>
            <a:off x="1088136" y="5192776"/>
            <a:ext cx="8741664" cy="365760"/>
          </a:xfrm>
          <a:prstGeom prst="rect">
            <a:avLst/>
          </a:prstGeom>
          <a:noFill/>
        </p:spPr>
        <p:txBody>
          <a:bodyPr wrap="square" lIns="0" rIns="0" tIns="0" bIns="0" anchor="t">
            <a:spAutoFit/>
          </a:bodyPr>
          <a:lstStyle/>
          <a:p>
            <a:pPr algn="l">
              <a:lnSpc>
                <a:spcPct val="114000"/>
              </a:lnSpc>
              <a:spcAft>
                <a:spcPts val="0"/>
              </a:spcAft>
            </a:pPr>
            <a:r>
              <a:rPr sz="1550" b="1" i="0">
                <a:solidFill>
                  <a:srgbClr val="12181D"/>
                </a:solidFill>
                <a:latin typeface="Calibri"/>
              </a:rPr>
              <a:t>Les interdits</a:t>
            </a:r>
            <a:r>
              <a:rPr sz="1550" b="0" i="0">
                <a:solidFill>
                  <a:srgbClr val="545F69"/>
                </a:solidFill>
                <a:latin typeface="Calibri"/>
              </a:rPr>
              <a:t> : les formulations bannies, les sujets à ne pas aborder, ce qu'il ne doit jamais inventer.</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01168" cy="6858000"/>
          </a:xfrm>
          <a:prstGeom prst="rect">
            <a:avLst/>
          </a:prstGeom>
          <a:solidFill>
            <a:srgbClr val="A32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548640"/>
            <a:ext cx="2651760" cy="384048"/>
          </a:xfrm>
          <a:prstGeom prst="rect">
            <a:avLst/>
          </a:prstGeom>
          <a:solidFill>
            <a:srgbClr val="A32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41832" y="621792"/>
            <a:ext cx="2377440" cy="274320"/>
          </a:xfrm>
          <a:prstGeom prst="rect">
            <a:avLst/>
          </a:prstGeom>
          <a:noFill/>
        </p:spPr>
        <p:txBody>
          <a:bodyPr wrap="square" lIns="0" rIns="0" tIns="0" bIns="0" anchor="t">
            <a:spAutoFit/>
          </a:bodyPr>
          <a:lstStyle/>
          <a:p>
            <a:pPr algn="l">
              <a:lnSpc>
                <a:spcPct val="112000"/>
              </a:lnSpc>
              <a:spcAft>
                <a:spcPts val="0"/>
              </a:spcAft>
            </a:pPr>
            <a:r>
              <a:rPr sz="1150" b="1" i="0" spc="150">
                <a:solidFill>
                  <a:srgbClr val="FFFFFF"/>
                </a:solidFill>
                <a:latin typeface="Consolas"/>
              </a:rPr>
              <a:t>ATELIER 7 · 45 MIN</a:t>
            </a:r>
          </a:p>
        </p:txBody>
      </p:sp>
      <p:sp>
        <p:nvSpPr>
          <p:cNvPr id="6" name="TextBox 5"/>
          <p:cNvSpPr txBox="1"/>
          <p:nvPr/>
        </p:nvSpPr>
        <p:spPr>
          <a:xfrm>
            <a:off x="777240" y="1143000"/>
            <a:ext cx="10637215" cy="1371600"/>
          </a:xfrm>
          <a:prstGeom prst="rect">
            <a:avLst/>
          </a:prstGeom>
          <a:noFill/>
        </p:spPr>
        <p:txBody>
          <a:bodyPr wrap="square" lIns="0" rIns="0" tIns="0" bIns="0" anchor="t">
            <a:spAutoFit/>
          </a:bodyPr>
          <a:lstStyle/>
          <a:p>
            <a:pPr algn="l">
              <a:lnSpc>
                <a:spcPct val="95000"/>
              </a:lnSpc>
              <a:spcAft>
                <a:spcPts val="0"/>
              </a:spcAft>
            </a:pPr>
            <a:r>
              <a:rPr sz="3600" b="1" i="0">
                <a:solidFill>
                  <a:srgbClr val="12181D"/>
                </a:solidFill>
                <a:latin typeface="Trebuchet MS"/>
              </a:rPr>
              <a:t>Créez le vôtre, puis cassez celui du voisin</a:t>
            </a:r>
          </a:p>
        </p:txBody>
      </p:sp>
      <p:sp>
        <p:nvSpPr>
          <p:cNvPr id="7" name="TextBox 6"/>
          <p:cNvSpPr txBox="1"/>
          <p:nvPr/>
        </p:nvSpPr>
        <p:spPr>
          <a:xfrm>
            <a:off x="777240" y="2606040"/>
            <a:ext cx="2743200" cy="274320"/>
          </a:xfrm>
          <a:prstGeom prst="rect">
            <a:avLst/>
          </a:prstGeom>
          <a:noFill/>
        </p:spPr>
        <p:txBody>
          <a:bodyPr wrap="square" lIns="0" rIns="0" tIns="0" bIns="0" anchor="t">
            <a:spAutoFit/>
          </a:bodyPr>
          <a:lstStyle/>
          <a:p>
            <a:pPr algn="l">
              <a:lnSpc>
                <a:spcPct val="112000"/>
              </a:lnSpc>
              <a:spcAft>
                <a:spcPts val="0"/>
              </a:spcAft>
            </a:pPr>
            <a:r>
              <a:rPr sz="1000" b="1" i="0" spc="140">
                <a:solidFill>
                  <a:srgbClr val="A32B57"/>
                </a:solidFill>
                <a:latin typeface="Consolas"/>
              </a:rPr>
              <a:t>CONSIGNE</a:t>
            </a:r>
          </a:p>
        </p:txBody>
      </p:sp>
      <p:sp>
        <p:nvSpPr>
          <p:cNvPr id="8" name="TextBox 7"/>
          <p:cNvSpPr txBox="1"/>
          <p:nvPr/>
        </p:nvSpPr>
        <p:spPr>
          <a:xfrm>
            <a:off x="777240" y="2944368"/>
            <a:ext cx="274320" cy="274320"/>
          </a:xfrm>
          <a:prstGeom prst="rect">
            <a:avLst/>
          </a:prstGeom>
          <a:noFill/>
        </p:spPr>
        <p:txBody>
          <a:bodyPr wrap="square" lIns="0" rIns="0" tIns="0" bIns="0" anchor="t">
            <a:spAutoFit/>
          </a:bodyPr>
          <a:lstStyle/>
          <a:p>
            <a:pPr algn="l">
              <a:lnSpc>
                <a:spcPct val="112000"/>
              </a:lnSpc>
              <a:spcAft>
                <a:spcPts val="0"/>
              </a:spcAft>
            </a:pPr>
            <a:r>
              <a:rPr sz="1700" b="1" i="0">
                <a:solidFill>
                  <a:srgbClr val="A32B57"/>
                </a:solidFill>
                <a:latin typeface="Calibri"/>
              </a:rPr>
              <a:t>—</a:t>
            </a:r>
          </a:p>
        </p:txBody>
      </p:sp>
      <p:sp>
        <p:nvSpPr>
          <p:cNvPr id="9" name="TextBox 8"/>
          <p:cNvSpPr txBox="1"/>
          <p:nvPr/>
        </p:nvSpPr>
        <p:spPr>
          <a:xfrm>
            <a:off x="1088136" y="2944368"/>
            <a:ext cx="5632704" cy="365760"/>
          </a:xfrm>
          <a:prstGeom prst="rect">
            <a:avLst/>
          </a:prstGeom>
          <a:noFill/>
        </p:spPr>
        <p:txBody>
          <a:bodyPr wrap="square" lIns="0" rIns="0" tIns="0" bIns="0" anchor="t">
            <a:spAutoFit/>
          </a:bodyPr>
          <a:lstStyle/>
          <a:p>
            <a:pPr algn="l">
              <a:lnSpc>
                <a:spcPct val="114000"/>
              </a:lnSpc>
              <a:spcAft>
                <a:spcPts val="0"/>
              </a:spcAft>
            </a:pPr>
            <a:r>
              <a:rPr sz="1700" b="0" i="0">
                <a:solidFill>
                  <a:srgbClr val="12181D"/>
                </a:solidFill>
                <a:latin typeface="Calibri"/>
              </a:rPr>
              <a:t>Choisissez </a:t>
            </a:r>
            <a:r>
              <a:rPr sz="1700" b="1" i="0">
                <a:solidFill>
                  <a:srgbClr val="12181D"/>
                </a:solidFill>
                <a:latin typeface="Calibri"/>
              </a:rPr>
              <a:t>une tâche que vous refaites chaque semaine</a:t>
            </a:r>
            <a:r>
              <a:rPr sz="1700" b="0" i="0">
                <a:solidFill>
                  <a:srgbClr val="12181D"/>
                </a:solidFill>
                <a:latin typeface="Calibri"/>
              </a:rPr>
              <a:t>.</a:t>
            </a:r>
          </a:p>
        </p:txBody>
      </p:sp>
      <p:sp>
        <p:nvSpPr>
          <p:cNvPr id="10" name="TextBox 9"/>
          <p:cNvSpPr txBox="1"/>
          <p:nvPr/>
        </p:nvSpPr>
        <p:spPr>
          <a:xfrm>
            <a:off x="777240" y="3495040"/>
            <a:ext cx="274320" cy="274320"/>
          </a:xfrm>
          <a:prstGeom prst="rect">
            <a:avLst/>
          </a:prstGeom>
          <a:noFill/>
        </p:spPr>
        <p:txBody>
          <a:bodyPr wrap="square" lIns="0" rIns="0" tIns="0" bIns="0" anchor="t">
            <a:spAutoFit/>
          </a:bodyPr>
          <a:lstStyle/>
          <a:p>
            <a:pPr algn="l">
              <a:lnSpc>
                <a:spcPct val="112000"/>
              </a:lnSpc>
              <a:spcAft>
                <a:spcPts val="0"/>
              </a:spcAft>
            </a:pPr>
            <a:r>
              <a:rPr sz="1700" b="1" i="0">
                <a:solidFill>
                  <a:srgbClr val="A32B57"/>
                </a:solidFill>
                <a:latin typeface="Calibri"/>
              </a:rPr>
              <a:t>—</a:t>
            </a:r>
          </a:p>
        </p:txBody>
      </p:sp>
      <p:sp>
        <p:nvSpPr>
          <p:cNvPr id="11" name="TextBox 10"/>
          <p:cNvSpPr txBox="1"/>
          <p:nvPr/>
        </p:nvSpPr>
        <p:spPr>
          <a:xfrm>
            <a:off x="1088136" y="3495040"/>
            <a:ext cx="5632704" cy="365760"/>
          </a:xfrm>
          <a:prstGeom prst="rect">
            <a:avLst/>
          </a:prstGeom>
          <a:noFill/>
        </p:spPr>
        <p:txBody>
          <a:bodyPr wrap="square" lIns="0" rIns="0" tIns="0" bIns="0" anchor="t">
            <a:spAutoFit/>
          </a:bodyPr>
          <a:lstStyle/>
          <a:p>
            <a:pPr algn="l">
              <a:lnSpc>
                <a:spcPct val="114000"/>
              </a:lnSpc>
              <a:spcAft>
                <a:spcPts val="0"/>
              </a:spcAft>
            </a:pPr>
            <a:r>
              <a:rPr sz="1700" b="0" i="0">
                <a:solidFill>
                  <a:srgbClr val="12181D"/>
                </a:solidFill>
                <a:latin typeface="Calibri"/>
              </a:rPr>
              <a:t>Créez un assistant : nom, mission, contexte, ton, format, interdits.</a:t>
            </a:r>
          </a:p>
        </p:txBody>
      </p:sp>
      <p:sp>
        <p:nvSpPr>
          <p:cNvPr id="12" name="TextBox 11"/>
          <p:cNvSpPr txBox="1"/>
          <p:nvPr/>
        </p:nvSpPr>
        <p:spPr>
          <a:xfrm>
            <a:off x="777240" y="4322064"/>
            <a:ext cx="274320" cy="274320"/>
          </a:xfrm>
          <a:prstGeom prst="rect">
            <a:avLst/>
          </a:prstGeom>
          <a:noFill/>
        </p:spPr>
        <p:txBody>
          <a:bodyPr wrap="square" lIns="0" rIns="0" tIns="0" bIns="0" anchor="t">
            <a:spAutoFit/>
          </a:bodyPr>
          <a:lstStyle/>
          <a:p>
            <a:pPr algn="l">
              <a:lnSpc>
                <a:spcPct val="112000"/>
              </a:lnSpc>
              <a:spcAft>
                <a:spcPts val="0"/>
              </a:spcAft>
            </a:pPr>
            <a:r>
              <a:rPr sz="1700" b="1" i="0">
                <a:solidFill>
                  <a:srgbClr val="A32B57"/>
                </a:solidFill>
                <a:latin typeface="Calibri"/>
              </a:rPr>
              <a:t>—</a:t>
            </a:r>
          </a:p>
        </p:txBody>
      </p:sp>
      <p:sp>
        <p:nvSpPr>
          <p:cNvPr id="13" name="TextBox 12"/>
          <p:cNvSpPr txBox="1"/>
          <p:nvPr/>
        </p:nvSpPr>
        <p:spPr>
          <a:xfrm>
            <a:off x="1088136" y="4322064"/>
            <a:ext cx="5632704" cy="365760"/>
          </a:xfrm>
          <a:prstGeom prst="rect">
            <a:avLst/>
          </a:prstGeom>
          <a:noFill/>
        </p:spPr>
        <p:txBody>
          <a:bodyPr wrap="square" lIns="0" rIns="0" tIns="0" bIns="0" anchor="t">
            <a:spAutoFit/>
          </a:bodyPr>
          <a:lstStyle/>
          <a:p>
            <a:pPr algn="l">
              <a:lnSpc>
                <a:spcPct val="114000"/>
              </a:lnSpc>
              <a:spcAft>
                <a:spcPts val="0"/>
              </a:spcAft>
            </a:pPr>
            <a:r>
              <a:rPr sz="1700" b="0" i="0">
                <a:solidFill>
                  <a:srgbClr val="12181D"/>
                </a:solidFill>
                <a:latin typeface="Calibri"/>
              </a:rPr>
              <a:t>Ajoutez au moins </a:t>
            </a:r>
            <a:r>
              <a:rPr sz="1700" b="1" i="0">
                <a:solidFill>
                  <a:srgbClr val="12181D"/>
                </a:solidFill>
                <a:latin typeface="Calibri"/>
              </a:rPr>
              <a:t>un fichier de référence</a:t>
            </a:r>
            <a:r>
              <a:rPr sz="1700" b="0" i="0">
                <a:solidFill>
                  <a:srgbClr val="12181D"/>
                </a:solidFill>
                <a:latin typeface="Calibri"/>
              </a:rPr>
              <a:t> ou trois exemples de bon résultat.</a:t>
            </a:r>
          </a:p>
        </p:txBody>
      </p:sp>
      <p:sp>
        <p:nvSpPr>
          <p:cNvPr id="14" name="TextBox 13"/>
          <p:cNvSpPr txBox="1"/>
          <p:nvPr/>
        </p:nvSpPr>
        <p:spPr>
          <a:xfrm>
            <a:off x="777240" y="5149088"/>
            <a:ext cx="274320" cy="274320"/>
          </a:xfrm>
          <a:prstGeom prst="rect">
            <a:avLst/>
          </a:prstGeom>
          <a:noFill/>
        </p:spPr>
        <p:txBody>
          <a:bodyPr wrap="square" lIns="0" rIns="0" tIns="0" bIns="0" anchor="t">
            <a:spAutoFit/>
          </a:bodyPr>
          <a:lstStyle/>
          <a:p>
            <a:pPr algn="l">
              <a:lnSpc>
                <a:spcPct val="112000"/>
              </a:lnSpc>
              <a:spcAft>
                <a:spcPts val="0"/>
              </a:spcAft>
            </a:pPr>
            <a:r>
              <a:rPr sz="1700" b="1" i="0">
                <a:solidFill>
                  <a:srgbClr val="A32B57"/>
                </a:solidFill>
                <a:latin typeface="Calibri"/>
              </a:rPr>
              <a:t>—</a:t>
            </a:r>
          </a:p>
        </p:txBody>
      </p:sp>
      <p:sp>
        <p:nvSpPr>
          <p:cNvPr id="15" name="TextBox 14"/>
          <p:cNvSpPr txBox="1"/>
          <p:nvPr/>
        </p:nvSpPr>
        <p:spPr>
          <a:xfrm>
            <a:off x="1088136" y="5149088"/>
            <a:ext cx="5632704" cy="365760"/>
          </a:xfrm>
          <a:prstGeom prst="rect">
            <a:avLst/>
          </a:prstGeom>
          <a:noFill/>
        </p:spPr>
        <p:txBody>
          <a:bodyPr wrap="square" lIns="0" rIns="0" tIns="0" bIns="0" anchor="t">
            <a:spAutoFit/>
          </a:bodyPr>
          <a:lstStyle/>
          <a:p>
            <a:pPr algn="l">
              <a:lnSpc>
                <a:spcPct val="114000"/>
              </a:lnSpc>
              <a:spcAft>
                <a:spcPts val="0"/>
              </a:spcAft>
            </a:pPr>
            <a:r>
              <a:rPr sz="1700" b="1" i="0">
                <a:solidFill>
                  <a:srgbClr val="12181D"/>
                </a:solidFill>
                <a:latin typeface="Calibri"/>
              </a:rPr>
              <a:t>Échangez avec votre voisin</a:t>
            </a:r>
            <a:r>
              <a:rPr sz="1700" b="0" i="0">
                <a:solidFill>
                  <a:srgbClr val="12181D"/>
                </a:solidFill>
                <a:latin typeface="Calibri"/>
              </a:rPr>
              <a:t> : chacun essaie de faire échouer l'assistant de l'autre.</a:t>
            </a:r>
          </a:p>
        </p:txBody>
      </p:sp>
      <p:sp>
        <p:nvSpPr>
          <p:cNvPr id="16" name="TextBox 15"/>
          <p:cNvSpPr txBox="1"/>
          <p:nvPr/>
        </p:nvSpPr>
        <p:spPr>
          <a:xfrm>
            <a:off x="777240" y="5976112"/>
            <a:ext cx="274320" cy="274320"/>
          </a:xfrm>
          <a:prstGeom prst="rect">
            <a:avLst/>
          </a:prstGeom>
          <a:noFill/>
        </p:spPr>
        <p:txBody>
          <a:bodyPr wrap="square" lIns="0" rIns="0" tIns="0" bIns="0" anchor="t">
            <a:spAutoFit/>
          </a:bodyPr>
          <a:lstStyle/>
          <a:p>
            <a:pPr algn="l">
              <a:lnSpc>
                <a:spcPct val="112000"/>
              </a:lnSpc>
              <a:spcAft>
                <a:spcPts val="0"/>
              </a:spcAft>
            </a:pPr>
            <a:r>
              <a:rPr sz="1700" b="1" i="0">
                <a:solidFill>
                  <a:srgbClr val="A32B57"/>
                </a:solidFill>
                <a:latin typeface="Calibri"/>
              </a:rPr>
              <a:t>—</a:t>
            </a:r>
          </a:p>
        </p:txBody>
      </p:sp>
      <p:sp>
        <p:nvSpPr>
          <p:cNvPr id="17" name="TextBox 16"/>
          <p:cNvSpPr txBox="1"/>
          <p:nvPr/>
        </p:nvSpPr>
        <p:spPr>
          <a:xfrm>
            <a:off x="1088136" y="5976112"/>
            <a:ext cx="5632704" cy="365760"/>
          </a:xfrm>
          <a:prstGeom prst="rect">
            <a:avLst/>
          </a:prstGeom>
          <a:noFill/>
        </p:spPr>
        <p:txBody>
          <a:bodyPr wrap="square" lIns="0" rIns="0" tIns="0" bIns="0" anchor="t">
            <a:spAutoFit/>
          </a:bodyPr>
          <a:lstStyle/>
          <a:p>
            <a:pPr algn="l">
              <a:lnSpc>
                <a:spcPct val="114000"/>
              </a:lnSpc>
              <a:spcAft>
                <a:spcPts val="0"/>
              </a:spcAft>
            </a:pPr>
            <a:r>
              <a:rPr sz="1700" b="0" i="0">
                <a:solidFill>
                  <a:srgbClr val="12181D"/>
                </a:solidFill>
                <a:latin typeface="Calibri"/>
              </a:rPr>
              <a:t>Corrigez le vôtre avec ce que le test a révélé.</a:t>
            </a:r>
          </a:p>
        </p:txBody>
      </p:sp>
      <p:sp>
        <p:nvSpPr>
          <p:cNvPr id="18" name="Rectangle 17"/>
          <p:cNvSpPr/>
          <p:nvPr/>
        </p:nvSpPr>
        <p:spPr>
          <a:xfrm>
            <a:off x="777240" y="5623560"/>
            <a:ext cx="5943600" cy="822960"/>
          </a:xfrm>
          <a:prstGeom prst="rect">
            <a:avLst/>
          </a:prstGeom>
          <a:solidFill>
            <a:srgbClr val="F8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5623560"/>
            <a:ext cx="41148" cy="822960"/>
          </a:xfrm>
          <a:prstGeom prst="rect">
            <a:avLst/>
          </a:prstGeom>
          <a:solidFill>
            <a:srgbClr val="A32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33271" y="5824728"/>
            <a:ext cx="5486400" cy="228600"/>
          </a:xfrm>
          <a:prstGeom prst="rect">
            <a:avLst/>
          </a:prstGeom>
          <a:noFill/>
        </p:spPr>
        <p:txBody>
          <a:bodyPr wrap="square" lIns="0" rIns="0" tIns="0" bIns="0" anchor="t">
            <a:spAutoFit/>
          </a:bodyPr>
          <a:lstStyle/>
          <a:p>
            <a:pPr algn="l">
              <a:lnSpc>
                <a:spcPct val="112000"/>
              </a:lnSpc>
              <a:spcAft>
                <a:spcPts val="0"/>
              </a:spcAft>
            </a:pPr>
            <a:r>
              <a:rPr sz="1000" b="1" i="0" spc="140">
                <a:solidFill>
                  <a:srgbClr val="A32B57"/>
                </a:solidFill>
                <a:latin typeface="Consolas"/>
              </a:rPr>
              <a:t>LIVRABLE</a:t>
            </a:r>
          </a:p>
        </p:txBody>
      </p:sp>
      <p:sp>
        <p:nvSpPr>
          <p:cNvPr id="21" name="TextBox 20"/>
          <p:cNvSpPr txBox="1"/>
          <p:nvPr/>
        </p:nvSpPr>
        <p:spPr>
          <a:xfrm>
            <a:off x="1033271" y="6153912"/>
            <a:ext cx="5486400" cy="91439"/>
          </a:xfrm>
          <a:prstGeom prst="rect">
            <a:avLst/>
          </a:prstGeom>
          <a:noFill/>
        </p:spPr>
        <p:txBody>
          <a:bodyPr wrap="square" lIns="0" rIns="0" tIns="0" bIns="0" anchor="t">
            <a:spAutoFit/>
          </a:bodyPr>
          <a:lstStyle/>
          <a:p>
            <a:pPr algn="l">
              <a:lnSpc>
                <a:spcPct val="120000"/>
              </a:lnSpc>
              <a:spcAft>
                <a:spcPts val="0"/>
              </a:spcAft>
            </a:pPr>
            <a:r>
              <a:rPr sz="1500" b="0" i="0">
                <a:solidFill>
                  <a:srgbClr val="545F69"/>
                </a:solidFill>
                <a:latin typeface="Calibri"/>
              </a:rPr>
              <a:t>Un assistant fonctionnel, testé par un pair, utilisable dès le lendemain matin.</a:t>
            </a:r>
          </a:p>
        </p:txBody>
      </p:sp>
      <p:sp>
        <p:nvSpPr>
          <p:cNvPr id="22" name="Rectangle 21"/>
          <p:cNvSpPr/>
          <p:nvPr/>
        </p:nvSpPr>
        <p:spPr>
          <a:xfrm>
            <a:off x="7269479" y="2286000"/>
            <a:ext cx="4144975" cy="3383280"/>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269479" y="2286000"/>
            <a:ext cx="41148" cy="3383280"/>
          </a:xfrm>
          <a:prstGeom prst="rect">
            <a:avLst/>
          </a:prstGeom>
          <a:solidFill>
            <a:srgbClr val="A32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525511" y="2487168"/>
            <a:ext cx="3687775" cy="228600"/>
          </a:xfrm>
          <a:prstGeom prst="rect">
            <a:avLst/>
          </a:prstGeom>
          <a:noFill/>
        </p:spPr>
        <p:txBody>
          <a:bodyPr wrap="square" lIns="0" rIns="0" tIns="0" bIns="0" anchor="t">
            <a:spAutoFit/>
          </a:bodyPr>
          <a:lstStyle/>
          <a:p>
            <a:pPr algn="l">
              <a:lnSpc>
                <a:spcPct val="112000"/>
              </a:lnSpc>
              <a:spcAft>
                <a:spcPts val="0"/>
              </a:spcAft>
            </a:pPr>
            <a:r>
              <a:rPr sz="1000" b="1" i="0" spc="140">
                <a:solidFill>
                  <a:srgbClr val="A32B57"/>
                </a:solidFill>
                <a:latin typeface="Consolas"/>
              </a:rPr>
              <a:t>DÉBRIEF EN GRAND GROUPE</a:t>
            </a:r>
          </a:p>
        </p:txBody>
      </p:sp>
      <p:sp>
        <p:nvSpPr>
          <p:cNvPr id="25" name="TextBox 24"/>
          <p:cNvSpPr txBox="1"/>
          <p:nvPr/>
        </p:nvSpPr>
        <p:spPr>
          <a:xfrm>
            <a:off x="7525511" y="2816352"/>
            <a:ext cx="3687775" cy="2651760"/>
          </a:xfrm>
          <a:prstGeom prst="rect">
            <a:avLst/>
          </a:prstGeom>
          <a:noFill/>
        </p:spPr>
        <p:txBody>
          <a:bodyPr wrap="square" lIns="0" rIns="0" tIns="0" bIns="0" anchor="t">
            <a:spAutoFit/>
          </a:bodyPr>
          <a:lstStyle/>
          <a:p>
            <a:pPr algn="l">
              <a:lnSpc>
                <a:spcPct val="120000"/>
              </a:lnSpc>
              <a:spcAft>
                <a:spcPts val="0"/>
              </a:spcAft>
            </a:pPr>
            <a:r>
              <a:rPr sz="1600" b="0" i="0">
                <a:solidFill>
                  <a:srgbClr val="545F69"/>
                </a:solidFill>
                <a:latin typeface="Calibri"/>
              </a:rPr>
              <a:t>Qu'est-ce qui a cassé les assistants ? Presque toujours la même chose : un contexte trop maigre, ou aucun exemple de sortie attendue. </a:t>
            </a:r>
            <a:r>
              <a:rPr sz="1600" b="1" i="0">
                <a:solidFill>
                  <a:srgbClr val="12181D"/>
                </a:solidFill>
                <a:latin typeface="Calibri"/>
              </a:rPr>
              <a:t>Les cas limites trouvés par le voisin sont la vraie valeur de l'atelier.</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A32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60120" y="1463040"/>
            <a:ext cx="7315200" cy="274320"/>
          </a:xfrm>
          <a:prstGeom prst="rect">
            <a:avLst/>
          </a:prstGeom>
          <a:noFill/>
        </p:spPr>
        <p:txBody>
          <a:bodyPr wrap="square" lIns="0" rIns="0" tIns="0" bIns="0" anchor="t">
            <a:spAutoFit/>
          </a:bodyPr>
          <a:lstStyle/>
          <a:p>
            <a:pPr algn="l">
              <a:lnSpc>
                <a:spcPct val="112000"/>
              </a:lnSpc>
              <a:spcAft>
                <a:spcPts val="0"/>
              </a:spcAft>
            </a:pPr>
            <a:r>
              <a:rPr sz="1200" b="1" i="0" spc="180">
                <a:solidFill>
                  <a:srgbClr val="A32B57"/>
                </a:solidFill>
                <a:latin typeface="Consolas"/>
              </a:rPr>
              <a:t>JOUR 2 · SÉQUENCE 11</a:t>
            </a:r>
          </a:p>
        </p:txBody>
      </p:sp>
      <p:sp>
        <p:nvSpPr>
          <p:cNvPr id="5" name="TextBox 4"/>
          <p:cNvSpPr txBox="1"/>
          <p:nvPr/>
        </p:nvSpPr>
        <p:spPr>
          <a:xfrm>
            <a:off x="960120" y="1965960"/>
            <a:ext cx="9601200" cy="2011680"/>
          </a:xfrm>
          <a:prstGeom prst="rect">
            <a:avLst/>
          </a:prstGeom>
          <a:noFill/>
        </p:spPr>
        <p:txBody>
          <a:bodyPr wrap="square" lIns="0" rIns="0" tIns="0" bIns="0" anchor="t">
            <a:spAutoFit/>
          </a:bodyPr>
          <a:lstStyle/>
          <a:p>
            <a:pPr algn="l">
              <a:lnSpc>
                <a:spcPct val="95000"/>
              </a:lnSpc>
              <a:spcAft>
                <a:spcPts val="0"/>
              </a:spcAft>
            </a:pPr>
            <a:r>
              <a:rPr sz="5000" b="1" i="0">
                <a:solidFill>
                  <a:srgbClr val="12181D"/>
                </a:solidFill>
                <a:latin typeface="Trebuchet MS"/>
              </a:rPr>
              <a:t>Agents et automatisation</a:t>
            </a:r>
          </a:p>
        </p:txBody>
      </p:sp>
      <p:sp>
        <p:nvSpPr>
          <p:cNvPr id="6" name="Rectangle 5"/>
          <p:cNvSpPr/>
          <p:nvPr/>
        </p:nvSpPr>
        <p:spPr>
          <a:xfrm>
            <a:off x="960120" y="4114800"/>
            <a:ext cx="1463040" cy="41148"/>
          </a:xfrm>
          <a:prstGeom prst="rect">
            <a:avLst/>
          </a:prstGeom>
          <a:solidFill>
            <a:srgbClr val="A32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60120" y="4480560"/>
            <a:ext cx="8595360" cy="1097280"/>
          </a:xfrm>
          <a:prstGeom prst="rect">
            <a:avLst/>
          </a:prstGeom>
          <a:noFill/>
        </p:spPr>
        <p:txBody>
          <a:bodyPr wrap="square" lIns="0" rIns="0" tIns="0" bIns="0" anchor="t">
            <a:spAutoFit/>
          </a:bodyPr>
          <a:lstStyle/>
          <a:p>
            <a:pPr algn="l">
              <a:lnSpc>
                <a:spcPct val="132000"/>
              </a:lnSpc>
              <a:spcAft>
                <a:spcPts val="0"/>
              </a:spcAft>
            </a:pPr>
            <a:r>
              <a:rPr sz="2000" b="0" i="0">
                <a:solidFill>
                  <a:srgbClr val="545F69"/>
                </a:solidFill>
                <a:latin typeface="Calibri"/>
              </a:rPr>
              <a:t>Le modèle cesse de répondre et commence à agir. À partir d'ici, la question devient : jusqu'où le laisser faire ?</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7-echelle-agents.png"/>
          <p:cNvPicPr>
            <a:picLocks noChangeAspect="1"/>
          </p:cNvPicPr>
          <p:nvPr/>
        </p:nvPicPr>
        <p:blipFill>
          <a:blip r:embed="rId2"/>
          <a:stretch>
            <a:fillRect/>
          </a:stretch>
        </p:blipFill>
        <p:spPr>
          <a:xfrm>
            <a:off x="0" y="0"/>
            <a:ext cx="12191695" cy="6857828"/>
          </a:xfrm>
          <a:prstGeom prst="rect">
            <a:avLst/>
          </a:prstGeom>
        </p:spPr>
      </p:pic>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77240" y="402336"/>
            <a:ext cx="10637215" cy="32004"/>
          </a:xfrm>
          <a:prstGeom prst="rect">
            <a:avLst/>
          </a:prstGeom>
          <a:solidFill>
            <a:srgbClr val="12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77240" y="502920"/>
            <a:ext cx="10637215" cy="274320"/>
          </a:xfrm>
          <a:prstGeom prst="rect">
            <a:avLst/>
          </a:prstGeom>
          <a:noFill/>
        </p:spPr>
        <p:txBody>
          <a:bodyPr wrap="square" lIns="0" rIns="0" tIns="0" bIns="0" anchor="t">
            <a:spAutoFit/>
          </a:bodyPr>
          <a:lstStyle/>
          <a:p>
            <a:pPr algn="l">
              <a:lnSpc>
                <a:spcPct val="112000"/>
              </a:lnSpc>
              <a:spcAft>
                <a:spcPts val="0"/>
              </a:spcAft>
            </a:pPr>
            <a:r>
              <a:rPr sz="1050" b="1" i="0" spc="150">
                <a:solidFill>
                  <a:srgbClr val="A32B57"/>
                </a:solidFill>
                <a:latin typeface="Consolas"/>
              </a:rPr>
              <a:t>SÉQUENCE 11</a:t>
            </a:r>
          </a:p>
        </p:txBody>
      </p:sp>
      <p:sp>
        <p:nvSpPr>
          <p:cNvPr id="4" name="TextBox 3"/>
          <p:cNvSpPr txBox="1"/>
          <p:nvPr/>
        </p:nvSpPr>
        <p:spPr>
          <a:xfrm>
            <a:off x="777240" y="868680"/>
            <a:ext cx="10637215" cy="1371600"/>
          </a:xfrm>
          <a:prstGeom prst="rect">
            <a:avLst/>
          </a:prstGeom>
          <a:noFill/>
        </p:spPr>
        <p:txBody>
          <a:bodyPr wrap="square" lIns="0" rIns="0" tIns="0" bIns="0" anchor="t">
            <a:spAutoFit/>
          </a:bodyPr>
          <a:lstStyle/>
          <a:p>
            <a:pPr algn="l">
              <a:lnSpc>
                <a:spcPct val="95000"/>
              </a:lnSpc>
              <a:spcAft>
                <a:spcPts val="0"/>
              </a:spcAft>
            </a:pPr>
            <a:r>
              <a:rPr sz="3800" b="1" i="0">
                <a:solidFill>
                  <a:srgbClr val="12181D"/>
                </a:solidFill>
                <a:latin typeface="Trebuchet MS"/>
              </a:rPr>
              <a:t>Quatre ingrédients, et un agent apparaît</a:t>
            </a:r>
          </a:p>
        </p:txBody>
      </p:sp>
      <p:sp>
        <p:nvSpPr>
          <p:cNvPr id="5" name="TextBox 4"/>
          <p:cNvSpPr txBox="1"/>
          <p:nvPr/>
        </p:nvSpPr>
        <p:spPr>
          <a:xfrm>
            <a:off x="777240" y="2331720"/>
            <a:ext cx="274320" cy="274320"/>
          </a:xfrm>
          <a:prstGeom prst="rect">
            <a:avLst/>
          </a:prstGeom>
          <a:noFill/>
        </p:spPr>
        <p:txBody>
          <a:bodyPr wrap="square" lIns="0" rIns="0" tIns="0" bIns="0" anchor="t">
            <a:spAutoFit/>
          </a:bodyPr>
          <a:lstStyle/>
          <a:p>
            <a:pPr algn="l">
              <a:lnSpc>
                <a:spcPct val="112000"/>
              </a:lnSpc>
              <a:spcAft>
                <a:spcPts val="0"/>
              </a:spcAft>
            </a:pPr>
            <a:r>
              <a:rPr sz="1700" b="1" i="0">
                <a:solidFill>
                  <a:srgbClr val="A32B57"/>
                </a:solidFill>
                <a:latin typeface="Calibri"/>
              </a:rPr>
              <a:t>—</a:t>
            </a:r>
          </a:p>
        </p:txBody>
      </p:sp>
      <p:sp>
        <p:nvSpPr>
          <p:cNvPr id="6" name="TextBox 5"/>
          <p:cNvSpPr txBox="1"/>
          <p:nvPr/>
        </p:nvSpPr>
        <p:spPr>
          <a:xfrm>
            <a:off x="1088136" y="2331720"/>
            <a:ext cx="5724144" cy="365760"/>
          </a:xfrm>
          <a:prstGeom prst="rect">
            <a:avLst/>
          </a:prstGeom>
          <a:noFill/>
        </p:spPr>
        <p:txBody>
          <a:bodyPr wrap="square" lIns="0" rIns="0" tIns="0" bIns="0" anchor="t">
            <a:spAutoFit/>
          </a:bodyPr>
          <a:lstStyle/>
          <a:p>
            <a:pPr algn="l">
              <a:lnSpc>
                <a:spcPct val="114000"/>
              </a:lnSpc>
              <a:spcAft>
                <a:spcPts val="0"/>
              </a:spcAft>
            </a:pPr>
            <a:r>
              <a:rPr sz="1700" b="1" i="0">
                <a:solidFill>
                  <a:srgbClr val="12181D"/>
                </a:solidFill>
                <a:latin typeface="Calibri"/>
              </a:rPr>
              <a:t>Un objectif</a:t>
            </a:r>
            <a:r>
              <a:rPr sz="1700" b="0" i="0">
                <a:solidFill>
                  <a:srgbClr val="545F69"/>
                </a:solidFill>
                <a:latin typeface="Calibri"/>
              </a:rPr>
              <a:t> formulé en une phrase, qui n'est plus une question mais une mission.</a:t>
            </a:r>
          </a:p>
        </p:txBody>
      </p:sp>
      <p:sp>
        <p:nvSpPr>
          <p:cNvPr id="7" name="TextBox 6"/>
          <p:cNvSpPr txBox="1"/>
          <p:nvPr/>
        </p:nvSpPr>
        <p:spPr>
          <a:xfrm>
            <a:off x="777240" y="3158744"/>
            <a:ext cx="274320" cy="274320"/>
          </a:xfrm>
          <a:prstGeom prst="rect">
            <a:avLst/>
          </a:prstGeom>
          <a:noFill/>
        </p:spPr>
        <p:txBody>
          <a:bodyPr wrap="square" lIns="0" rIns="0" tIns="0" bIns="0" anchor="t">
            <a:spAutoFit/>
          </a:bodyPr>
          <a:lstStyle/>
          <a:p>
            <a:pPr algn="l">
              <a:lnSpc>
                <a:spcPct val="112000"/>
              </a:lnSpc>
              <a:spcAft>
                <a:spcPts val="0"/>
              </a:spcAft>
            </a:pPr>
            <a:r>
              <a:rPr sz="1700" b="1" i="0">
                <a:solidFill>
                  <a:srgbClr val="A32B57"/>
                </a:solidFill>
                <a:latin typeface="Calibri"/>
              </a:rPr>
              <a:t>—</a:t>
            </a:r>
          </a:p>
        </p:txBody>
      </p:sp>
      <p:sp>
        <p:nvSpPr>
          <p:cNvPr id="8" name="TextBox 7"/>
          <p:cNvSpPr txBox="1"/>
          <p:nvPr/>
        </p:nvSpPr>
        <p:spPr>
          <a:xfrm>
            <a:off x="1088136" y="3158744"/>
            <a:ext cx="5724144" cy="365760"/>
          </a:xfrm>
          <a:prstGeom prst="rect">
            <a:avLst/>
          </a:prstGeom>
          <a:noFill/>
        </p:spPr>
        <p:txBody>
          <a:bodyPr wrap="square" lIns="0" rIns="0" tIns="0" bIns="0" anchor="t">
            <a:spAutoFit/>
          </a:bodyPr>
          <a:lstStyle/>
          <a:p>
            <a:pPr algn="l">
              <a:lnSpc>
                <a:spcPct val="114000"/>
              </a:lnSpc>
              <a:spcAft>
                <a:spcPts val="0"/>
              </a:spcAft>
            </a:pPr>
            <a:r>
              <a:rPr sz="1700" b="1" i="0">
                <a:solidFill>
                  <a:srgbClr val="12181D"/>
                </a:solidFill>
                <a:latin typeface="Calibri"/>
              </a:rPr>
              <a:t>Des outils</a:t>
            </a:r>
            <a:r>
              <a:rPr sz="1700" b="0" i="0">
                <a:solidFill>
                  <a:srgbClr val="545F69"/>
                </a:solidFill>
                <a:latin typeface="Calibri"/>
              </a:rPr>
              <a:t> : lire une boîte mail, écrire dans un tableur, appeler un service, chercher sur le web. Sans outils, un modèle ne peut rien faire d'autre que parler.</a:t>
            </a:r>
          </a:p>
        </p:txBody>
      </p:sp>
      <p:sp>
        <p:nvSpPr>
          <p:cNvPr id="9" name="TextBox 8"/>
          <p:cNvSpPr txBox="1"/>
          <p:nvPr/>
        </p:nvSpPr>
        <p:spPr>
          <a:xfrm>
            <a:off x="777240" y="4262120"/>
            <a:ext cx="274320" cy="274320"/>
          </a:xfrm>
          <a:prstGeom prst="rect">
            <a:avLst/>
          </a:prstGeom>
          <a:noFill/>
        </p:spPr>
        <p:txBody>
          <a:bodyPr wrap="square" lIns="0" rIns="0" tIns="0" bIns="0" anchor="t">
            <a:spAutoFit/>
          </a:bodyPr>
          <a:lstStyle/>
          <a:p>
            <a:pPr algn="l">
              <a:lnSpc>
                <a:spcPct val="112000"/>
              </a:lnSpc>
              <a:spcAft>
                <a:spcPts val="0"/>
              </a:spcAft>
            </a:pPr>
            <a:r>
              <a:rPr sz="1700" b="1" i="0">
                <a:solidFill>
                  <a:srgbClr val="A32B57"/>
                </a:solidFill>
                <a:latin typeface="Calibri"/>
              </a:rPr>
              <a:t>—</a:t>
            </a:r>
          </a:p>
        </p:txBody>
      </p:sp>
      <p:sp>
        <p:nvSpPr>
          <p:cNvPr id="10" name="TextBox 9"/>
          <p:cNvSpPr txBox="1"/>
          <p:nvPr/>
        </p:nvSpPr>
        <p:spPr>
          <a:xfrm>
            <a:off x="1088136" y="4262120"/>
            <a:ext cx="5724144" cy="365760"/>
          </a:xfrm>
          <a:prstGeom prst="rect">
            <a:avLst/>
          </a:prstGeom>
          <a:noFill/>
        </p:spPr>
        <p:txBody>
          <a:bodyPr wrap="square" lIns="0" rIns="0" tIns="0" bIns="0" anchor="t">
            <a:spAutoFit/>
          </a:bodyPr>
          <a:lstStyle/>
          <a:p>
            <a:pPr algn="l">
              <a:lnSpc>
                <a:spcPct val="114000"/>
              </a:lnSpc>
              <a:spcAft>
                <a:spcPts val="0"/>
              </a:spcAft>
            </a:pPr>
            <a:r>
              <a:rPr sz="1700" b="1" i="0">
                <a:solidFill>
                  <a:srgbClr val="12181D"/>
                </a:solidFill>
                <a:latin typeface="Calibri"/>
              </a:rPr>
              <a:t>Une mémoire</a:t>
            </a:r>
            <a:r>
              <a:rPr sz="1700" b="0" i="0">
                <a:solidFill>
                  <a:srgbClr val="545F69"/>
                </a:solidFill>
                <a:latin typeface="Calibri"/>
              </a:rPr>
              <a:t> : ce qu'il a déjà fait, ce qu'il a appris en route, ce qui a échoué.</a:t>
            </a:r>
          </a:p>
        </p:txBody>
      </p:sp>
      <p:sp>
        <p:nvSpPr>
          <p:cNvPr id="11" name="TextBox 10"/>
          <p:cNvSpPr txBox="1"/>
          <p:nvPr/>
        </p:nvSpPr>
        <p:spPr>
          <a:xfrm>
            <a:off x="777240" y="5089144"/>
            <a:ext cx="274320" cy="274320"/>
          </a:xfrm>
          <a:prstGeom prst="rect">
            <a:avLst/>
          </a:prstGeom>
          <a:noFill/>
        </p:spPr>
        <p:txBody>
          <a:bodyPr wrap="square" lIns="0" rIns="0" tIns="0" bIns="0" anchor="t">
            <a:spAutoFit/>
          </a:bodyPr>
          <a:lstStyle/>
          <a:p>
            <a:pPr algn="l">
              <a:lnSpc>
                <a:spcPct val="112000"/>
              </a:lnSpc>
              <a:spcAft>
                <a:spcPts val="0"/>
              </a:spcAft>
            </a:pPr>
            <a:r>
              <a:rPr sz="1700" b="1" i="0">
                <a:solidFill>
                  <a:srgbClr val="A32B57"/>
                </a:solidFill>
                <a:latin typeface="Calibri"/>
              </a:rPr>
              <a:t>—</a:t>
            </a:r>
          </a:p>
        </p:txBody>
      </p:sp>
      <p:sp>
        <p:nvSpPr>
          <p:cNvPr id="12" name="TextBox 11"/>
          <p:cNvSpPr txBox="1"/>
          <p:nvPr/>
        </p:nvSpPr>
        <p:spPr>
          <a:xfrm>
            <a:off x="1088136" y="5089144"/>
            <a:ext cx="5724144" cy="365760"/>
          </a:xfrm>
          <a:prstGeom prst="rect">
            <a:avLst/>
          </a:prstGeom>
          <a:noFill/>
        </p:spPr>
        <p:txBody>
          <a:bodyPr wrap="square" lIns="0" rIns="0" tIns="0" bIns="0" anchor="t">
            <a:spAutoFit/>
          </a:bodyPr>
          <a:lstStyle/>
          <a:p>
            <a:pPr algn="l">
              <a:lnSpc>
                <a:spcPct val="114000"/>
              </a:lnSpc>
              <a:spcAft>
                <a:spcPts val="0"/>
              </a:spcAft>
            </a:pPr>
            <a:r>
              <a:rPr sz="1700" b="1" i="0">
                <a:solidFill>
                  <a:srgbClr val="12181D"/>
                </a:solidFill>
                <a:latin typeface="Calibri"/>
              </a:rPr>
              <a:t>Une boucle</a:t>
            </a:r>
            <a:r>
              <a:rPr sz="1700" b="0" i="0">
                <a:solidFill>
                  <a:srgbClr val="545F69"/>
                </a:solidFill>
                <a:latin typeface="Calibri"/>
              </a:rPr>
              <a:t> : il agit, observe le résultat, corrige, recommence — jusqu'à atteindre l'objectif ou renoncer.</a:t>
            </a:r>
          </a:p>
        </p:txBody>
      </p:sp>
      <p:sp>
        <p:nvSpPr>
          <p:cNvPr id="13" name="Rectangle 12"/>
          <p:cNvSpPr/>
          <p:nvPr/>
        </p:nvSpPr>
        <p:spPr>
          <a:xfrm>
            <a:off x="7269479" y="2286000"/>
            <a:ext cx="4144975" cy="3291840"/>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7269479" y="2286000"/>
            <a:ext cx="41148" cy="3291840"/>
          </a:xfrm>
          <a:prstGeom prst="rect">
            <a:avLst/>
          </a:prstGeom>
          <a:solidFill>
            <a:srgbClr val="A32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525511" y="2487168"/>
            <a:ext cx="3687775" cy="228600"/>
          </a:xfrm>
          <a:prstGeom prst="rect">
            <a:avLst/>
          </a:prstGeom>
          <a:noFill/>
        </p:spPr>
        <p:txBody>
          <a:bodyPr wrap="square" lIns="0" rIns="0" tIns="0" bIns="0" anchor="t">
            <a:spAutoFit/>
          </a:bodyPr>
          <a:lstStyle/>
          <a:p>
            <a:pPr algn="l">
              <a:lnSpc>
                <a:spcPct val="112000"/>
              </a:lnSpc>
              <a:spcAft>
                <a:spcPts val="0"/>
              </a:spcAft>
            </a:pPr>
            <a:r>
              <a:rPr sz="1000" b="1" i="0" spc="140">
                <a:solidFill>
                  <a:srgbClr val="A32B57"/>
                </a:solidFill>
                <a:latin typeface="Consolas"/>
              </a:rPr>
              <a:t>LE MOT À RETENIR</a:t>
            </a:r>
          </a:p>
        </p:txBody>
      </p:sp>
      <p:sp>
        <p:nvSpPr>
          <p:cNvPr id="16" name="TextBox 15"/>
          <p:cNvSpPr txBox="1"/>
          <p:nvPr/>
        </p:nvSpPr>
        <p:spPr>
          <a:xfrm>
            <a:off x="7525511" y="2816352"/>
            <a:ext cx="3687775" cy="2560320"/>
          </a:xfrm>
          <a:prstGeom prst="rect">
            <a:avLst/>
          </a:prstGeom>
          <a:noFill/>
        </p:spPr>
        <p:txBody>
          <a:bodyPr wrap="square" lIns="0" rIns="0" tIns="0" bIns="0" anchor="t">
            <a:spAutoFit/>
          </a:bodyPr>
          <a:lstStyle/>
          <a:p>
            <a:pPr algn="l">
              <a:lnSpc>
                <a:spcPct val="120000"/>
              </a:lnSpc>
              <a:spcAft>
                <a:spcPts val="0"/>
              </a:spcAft>
            </a:pPr>
            <a:r>
              <a:rPr sz="1500" b="0" i="0">
                <a:solidFill>
                  <a:srgbClr val="545F69"/>
                </a:solidFill>
                <a:latin typeface="Calibri"/>
              </a:rPr>
              <a:t>Un agent n'est pas un modèle plus intelligent.</a:t>
            </a:r>
          </a:p>
          <a:p>
            <a:pPr algn="l">
              <a:lnSpc>
                <a:spcPct val="120000"/>
              </a:lnSpc>
              <a:spcAft>
                <a:spcPts val="0"/>
              </a:spcAft>
            </a:pPr>
          </a:p>
          <a:p>
            <a:pPr algn="l">
              <a:lnSpc>
                <a:spcPct val="120000"/>
              </a:lnSpc>
              <a:spcAft>
                <a:spcPts val="0"/>
              </a:spcAft>
            </a:pPr>
            <a:r>
              <a:rPr sz="1500" b="0" i="0">
                <a:solidFill>
                  <a:srgbClr val="545F69"/>
                </a:solidFill>
                <a:latin typeface="Calibri"/>
              </a:rPr>
              <a:t>C'est le même modèle, à qui l'on a donné des mains et l'autorisation de s'en servir.</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77240" y="402336"/>
            <a:ext cx="10637215" cy="32004"/>
          </a:xfrm>
          <a:prstGeom prst="rect">
            <a:avLst/>
          </a:prstGeom>
          <a:solidFill>
            <a:srgbClr val="12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77240" y="502920"/>
            <a:ext cx="10637215" cy="274320"/>
          </a:xfrm>
          <a:prstGeom prst="rect">
            <a:avLst/>
          </a:prstGeom>
          <a:noFill/>
        </p:spPr>
        <p:txBody>
          <a:bodyPr wrap="square" lIns="0" rIns="0" tIns="0" bIns="0" anchor="t">
            <a:spAutoFit/>
          </a:bodyPr>
          <a:lstStyle/>
          <a:p>
            <a:pPr algn="l">
              <a:lnSpc>
                <a:spcPct val="112000"/>
              </a:lnSpc>
              <a:spcAft>
                <a:spcPts val="0"/>
              </a:spcAft>
            </a:pPr>
            <a:r>
              <a:rPr sz="1050" b="1" i="0" spc="150">
                <a:solidFill>
                  <a:srgbClr val="A32B57"/>
                </a:solidFill>
                <a:latin typeface="Consolas"/>
              </a:rPr>
              <a:t>DÉMONSTRATION</a:t>
            </a:r>
          </a:p>
        </p:txBody>
      </p:sp>
      <p:sp>
        <p:nvSpPr>
          <p:cNvPr id="4" name="TextBox 3"/>
          <p:cNvSpPr txBox="1"/>
          <p:nvPr/>
        </p:nvSpPr>
        <p:spPr>
          <a:xfrm>
            <a:off x="777240" y="868680"/>
            <a:ext cx="10637215" cy="1371600"/>
          </a:xfrm>
          <a:prstGeom prst="rect">
            <a:avLst/>
          </a:prstGeom>
          <a:noFill/>
        </p:spPr>
        <p:txBody>
          <a:bodyPr wrap="square" lIns="0" rIns="0" tIns="0" bIns="0" anchor="t">
            <a:spAutoFit/>
          </a:bodyPr>
          <a:lstStyle/>
          <a:p>
            <a:pPr algn="l">
              <a:lnSpc>
                <a:spcPct val="95000"/>
              </a:lnSpc>
              <a:spcAft>
                <a:spcPts val="0"/>
              </a:spcAft>
            </a:pPr>
            <a:r>
              <a:rPr sz="3800" b="1" i="0">
                <a:solidFill>
                  <a:srgbClr val="12181D"/>
                </a:solidFill>
                <a:latin typeface="Trebuchet MS"/>
              </a:rPr>
              <a:t>Un scénario d'automatisation, de bout en bout</a:t>
            </a:r>
          </a:p>
        </p:txBody>
      </p:sp>
      <p:sp>
        <p:nvSpPr>
          <p:cNvPr id="5" name="TextBox 4"/>
          <p:cNvSpPr txBox="1"/>
          <p:nvPr/>
        </p:nvSpPr>
        <p:spPr>
          <a:xfrm>
            <a:off x="777240" y="2240280"/>
            <a:ext cx="6035040" cy="914400"/>
          </a:xfrm>
          <a:prstGeom prst="rect">
            <a:avLst/>
          </a:prstGeom>
          <a:noFill/>
        </p:spPr>
        <p:txBody>
          <a:bodyPr wrap="square" lIns="0" rIns="0" tIns="0" bIns="0" anchor="t">
            <a:spAutoFit/>
          </a:bodyPr>
          <a:lstStyle/>
          <a:p>
            <a:pPr algn="l">
              <a:lnSpc>
                <a:spcPct val="110000"/>
              </a:lnSpc>
              <a:spcAft>
                <a:spcPts val="0"/>
              </a:spcAft>
            </a:pPr>
            <a:r>
              <a:rPr sz="2400" b="1" i="0">
                <a:solidFill>
                  <a:srgbClr val="A32B57"/>
                </a:solidFill>
                <a:latin typeface="Trebuchet MS"/>
              </a:rPr>
              <a:t>Un mail arrive → l'IA le classe → elle prépare un brouillon → l'équipe est notifiée.</a:t>
            </a:r>
          </a:p>
        </p:txBody>
      </p:sp>
      <p:sp>
        <p:nvSpPr>
          <p:cNvPr id="6" name="TextBox 5"/>
          <p:cNvSpPr txBox="1"/>
          <p:nvPr/>
        </p:nvSpPr>
        <p:spPr>
          <a:xfrm>
            <a:off x="777240" y="3154680"/>
            <a:ext cx="274320" cy="274320"/>
          </a:xfrm>
          <a:prstGeom prst="rect">
            <a:avLst/>
          </a:prstGeom>
          <a:noFill/>
        </p:spPr>
        <p:txBody>
          <a:bodyPr wrap="square" lIns="0" rIns="0" tIns="0" bIns="0" anchor="t">
            <a:spAutoFit/>
          </a:bodyPr>
          <a:lstStyle/>
          <a:p>
            <a:pPr algn="l">
              <a:lnSpc>
                <a:spcPct val="112000"/>
              </a:lnSpc>
              <a:spcAft>
                <a:spcPts val="0"/>
              </a:spcAft>
            </a:pPr>
            <a:r>
              <a:rPr sz="1700" b="1" i="0">
                <a:solidFill>
                  <a:srgbClr val="A32B57"/>
                </a:solidFill>
                <a:latin typeface="Calibri"/>
              </a:rPr>
              <a:t>—</a:t>
            </a:r>
          </a:p>
        </p:txBody>
      </p:sp>
      <p:sp>
        <p:nvSpPr>
          <p:cNvPr id="7" name="TextBox 6"/>
          <p:cNvSpPr txBox="1"/>
          <p:nvPr/>
        </p:nvSpPr>
        <p:spPr>
          <a:xfrm>
            <a:off x="1088136" y="3154680"/>
            <a:ext cx="5724144" cy="365760"/>
          </a:xfrm>
          <a:prstGeom prst="rect">
            <a:avLst/>
          </a:prstGeom>
          <a:noFill/>
        </p:spPr>
        <p:txBody>
          <a:bodyPr wrap="square" lIns="0" rIns="0" tIns="0" bIns="0" anchor="t">
            <a:spAutoFit/>
          </a:bodyPr>
          <a:lstStyle/>
          <a:p>
            <a:pPr algn="l">
              <a:lnSpc>
                <a:spcPct val="114000"/>
              </a:lnSpc>
              <a:spcAft>
                <a:spcPts val="0"/>
              </a:spcAft>
            </a:pPr>
            <a:r>
              <a:rPr sz="1700" b="0" i="0">
                <a:solidFill>
                  <a:srgbClr val="545F69"/>
                </a:solidFill>
                <a:latin typeface="Calibri"/>
              </a:rPr>
              <a:t>On regarde le scénario se construire </a:t>
            </a:r>
            <a:r>
              <a:rPr sz="1700" b="1" i="0">
                <a:solidFill>
                  <a:srgbClr val="12181D"/>
                </a:solidFill>
                <a:latin typeface="Calibri"/>
              </a:rPr>
              <a:t>bloc par bloc</a:t>
            </a:r>
            <a:r>
              <a:rPr sz="1700" b="0" i="0">
                <a:solidFill>
                  <a:srgbClr val="545F69"/>
                </a:solidFill>
                <a:latin typeface="Calibri"/>
              </a:rPr>
              <a:t> : le déclencheur, la condition, l'appel au modèle, l'action finale.</a:t>
            </a:r>
          </a:p>
        </p:txBody>
      </p:sp>
      <p:sp>
        <p:nvSpPr>
          <p:cNvPr id="8" name="TextBox 7"/>
          <p:cNvSpPr txBox="1"/>
          <p:nvPr/>
        </p:nvSpPr>
        <p:spPr>
          <a:xfrm>
            <a:off x="777240" y="3981704"/>
            <a:ext cx="274320" cy="274320"/>
          </a:xfrm>
          <a:prstGeom prst="rect">
            <a:avLst/>
          </a:prstGeom>
          <a:noFill/>
        </p:spPr>
        <p:txBody>
          <a:bodyPr wrap="square" lIns="0" rIns="0" tIns="0" bIns="0" anchor="t">
            <a:spAutoFit/>
          </a:bodyPr>
          <a:lstStyle/>
          <a:p>
            <a:pPr algn="l">
              <a:lnSpc>
                <a:spcPct val="112000"/>
              </a:lnSpc>
              <a:spcAft>
                <a:spcPts val="0"/>
              </a:spcAft>
            </a:pPr>
            <a:r>
              <a:rPr sz="1700" b="1" i="0">
                <a:solidFill>
                  <a:srgbClr val="A32B57"/>
                </a:solidFill>
                <a:latin typeface="Calibri"/>
              </a:rPr>
              <a:t>—</a:t>
            </a:r>
          </a:p>
        </p:txBody>
      </p:sp>
      <p:sp>
        <p:nvSpPr>
          <p:cNvPr id="9" name="TextBox 8"/>
          <p:cNvSpPr txBox="1"/>
          <p:nvPr/>
        </p:nvSpPr>
        <p:spPr>
          <a:xfrm>
            <a:off x="1088136" y="3981704"/>
            <a:ext cx="5724144" cy="365760"/>
          </a:xfrm>
          <a:prstGeom prst="rect">
            <a:avLst/>
          </a:prstGeom>
          <a:noFill/>
        </p:spPr>
        <p:txBody>
          <a:bodyPr wrap="square" lIns="0" rIns="0" tIns="0" bIns="0" anchor="t">
            <a:spAutoFit/>
          </a:bodyPr>
          <a:lstStyle/>
          <a:p>
            <a:pPr algn="l">
              <a:lnSpc>
                <a:spcPct val="114000"/>
              </a:lnSpc>
              <a:spcAft>
                <a:spcPts val="0"/>
              </a:spcAft>
            </a:pPr>
            <a:r>
              <a:rPr sz="1700" b="0" i="0">
                <a:solidFill>
                  <a:srgbClr val="545F69"/>
                </a:solidFill>
                <a:latin typeface="Calibri"/>
              </a:rPr>
              <a:t>On l'exécute en direct sur une boîte mail de démonstration.</a:t>
            </a:r>
          </a:p>
        </p:txBody>
      </p:sp>
      <p:sp>
        <p:nvSpPr>
          <p:cNvPr id="10" name="TextBox 9"/>
          <p:cNvSpPr txBox="1"/>
          <p:nvPr/>
        </p:nvSpPr>
        <p:spPr>
          <a:xfrm>
            <a:off x="777240" y="4532376"/>
            <a:ext cx="274320" cy="274320"/>
          </a:xfrm>
          <a:prstGeom prst="rect">
            <a:avLst/>
          </a:prstGeom>
          <a:noFill/>
        </p:spPr>
        <p:txBody>
          <a:bodyPr wrap="square" lIns="0" rIns="0" tIns="0" bIns="0" anchor="t">
            <a:spAutoFit/>
          </a:bodyPr>
          <a:lstStyle/>
          <a:p>
            <a:pPr algn="l">
              <a:lnSpc>
                <a:spcPct val="112000"/>
              </a:lnSpc>
              <a:spcAft>
                <a:spcPts val="0"/>
              </a:spcAft>
            </a:pPr>
            <a:r>
              <a:rPr sz="1700" b="1" i="0">
                <a:solidFill>
                  <a:srgbClr val="A32B57"/>
                </a:solidFill>
                <a:latin typeface="Calibri"/>
              </a:rPr>
              <a:t>—</a:t>
            </a:r>
          </a:p>
        </p:txBody>
      </p:sp>
      <p:sp>
        <p:nvSpPr>
          <p:cNvPr id="11" name="TextBox 10"/>
          <p:cNvSpPr txBox="1"/>
          <p:nvPr/>
        </p:nvSpPr>
        <p:spPr>
          <a:xfrm>
            <a:off x="1088136" y="4532376"/>
            <a:ext cx="5724144" cy="365760"/>
          </a:xfrm>
          <a:prstGeom prst="rect">
            <a:avLst/>
          </a:prstGeom>
          <a:noFill/>
        </p:spPr>
        <p:txBody>
          <a:bodyPr wrap="square" lIns="0" rIns="0" tIns="0" bIns="0" anchor="t">
            <a:spAutoFit/>
          </a:bodyPr>
          <a:lstStyle/>
          <a:p>
            <a:pPr algn="l">
              <a:lnSpc>
                <a:spcPct val="114000"/>
              </a:lnSpc>
              <a:spcAft>
                <a:spcPts val="0"/>
              </a:spcAft>
            </a:pPr>
            <a:r>
              <a:rPr sz="1700" b="1" i="0">
                <a:solidFill>
                  <a:srgbClr val="12181D"/>
                </a:solidFill>
                <a:latin typeface="Calibri"/>
              </a:rPr>
              <a:t>On regarde, on n'installe rien.</a:t>
            </a:r>
            <a:r>
              <a:rPr sz="1700" b="0" i="0">
                <a:solidFill>
                  <a:srgbClr val="545F69"/>
                </a:solidFill>
                <a:latin typeface="Calibri"/>
              </a:rPr>
              <a:t> Faire installer l'outil à douze débutants coûterait la séquence entière — et le vrai travail n'est pas là.</a:t>
            </a:r>
          </a:p>
        </p:txBody>
      </p:sp>
      <p:sp>
        <p:nvSpPr>
          <p:cNvPr id="12" name="Rectangle 11"/>
          <p:cNvSpPr/>
          <p:nvPr/>
        </p:nvSpPr>
        <p:spPr>
          <a:xfrm>
            <a:off x="7269479" y="2286000"/>
            <a:ext cx="4144975" cy="3291840"/>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269479" y="2286000"/>
            <a:ext cx="41148" cy="3291840"/>
          </a:xfrm>
          <a:prstGeom prst="rect">
            <a:avLst/>
          </a:prstGeom>
          <a:solidFill>
            <a:srgbClr val="A32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525511" y="2487168"/>
            <a:ext cx="3687775" cy="228600"/>
          </a:xfrm>
          <a:prstGeom prst="rect">
            <a:avLst/>
          </a:prstGeom>
          <a:noFill/>
        </p:spPr>
        <p:txBody>
          <a:bodyPr wrap="square" lIns="0" rIns="0" tIns="0" bIns="0" anchor="t">
            <a:spAutoFit/>
          </a:bodyPr>
          <a:lstStyle/>
          <a:p>
            <a:pPr algn="l">
              <a:lnSpc>
                <a:spcPct val="112000"/>
              </a:lnSpc>
              <a:spcAft>
                <a:spcPts val="0"/>
              </a:spcAft>
            </a:pPr>
            <a:r>
              <a:rPr sz="1000" b="1" i="0" spc="140">
                <a:solidFill>
                  <a:srgbClr val="A32B57"/>
                </a:solidFill>
                <a:latin typeface="Consolas"/>
              </a:rPr>
              <a:t>CE QU'IL FAUT RETENIR</a:t>
            </a:r>
          </a:p>
        </p:txBody>
      </p:sp>
      <p:sp>
        <p:nvSpPr>
          <p:cNvPr id="15" name="TextBox 14"/>
          <p:cNvSpPr txBox="1"/>
          <p:nvPr/>
        </p:nvSpPr>
        <p:spPr>
          <a:xfrm>
            <a:off x="7525511" y="2816352"/>
            <a:ext cx="3687775" cy="2560320"/>
          </a:xfrm>
          <a:prstGeom prst="rect">
            <a:avLst/>
          </a:prstGeom>
          <a:noFill/>
        </p:spPr>
        <p:txBody>
          <a:bodyPr wrap="square" lIns="0" rIns="0" tIns="0" bIns="0" anchor="t">
            <a:spAutoFit/>
          </a:bodyPr>
          <a:lstStyle/>
          <a:p>
            <a:pPr algn="l">
              <a:lnSpc>
                <a:spcPct val="120000"/>
              </a:lnSpc>
              <a:spcAft>
                <a:spcPts val="0"/>
              </a:spcAft>
            </a:pPr>
            <a:r>
              <a:rPr sz="1500" b="0" i="0">
                <a:solidFill>
                  <a:srgbClr val="545F69"/>
                </a:solidFill>
                <a:latin typeface="Calibri"/>
              </a:rPr>
              <a:t>Ces outils sont accessibles sans savoir programmer.</a:t>
            </a:r>
          </a:p>
          <a:p>
            <a:pPr algn="l">
              <a:lnSpc>
                <a:spcPct val="120000"/>
              </a:lnSpc>
              <a:spcAft>
                <a:spcPts val="0"/>
              </a:spcAft>
            </a:pPr>
          </a:p>
          <a:p>
            <a:pPr algn="l">
              <a:lnSpc>
                <a:spcPct val="120000"/>
              </a:lnSpc>
              <a:spcAft>
                <a:spcPts val="0"/>
              </a:spcAft>
            </a:pPr>
            <a:r>
              <a:rPr sz="1500" b="0" i="0">
                <a:solidFill>
                  <a:srgbClr val="545F69"/>
                </a:solidFill>
                <a:latin typeface="Calibri"/>
              </a:rPr>
              <a:t>Mais ils demandent de savoir décrire précisément un processus — et c'est cette compétence-là qui manque, pas la technique.</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77240" y="402336"/>
            <a:ext cx="10637215" cy="32004"/>
          </a:xfrm>
          <a:prstGeom prst="rect">
            <a:avLst/>
          </a:prstGeom>
          <a:solidFill>
            <a:srgbClr val="12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77240" y="502920"/>
            <a:ext cx="10637215" cy="274320"/>
          </a:xfrm>
          <a:prstGeom prst="rect">
            <a:avLst/>
          </a:prstGeom>
          <a:noFill/>
        </p:spPr>
        <p:txBody>
          <a:bodyPr wrap="square" lIns="0" rIns="0" tIns="0" bIns="0" anchor="t">
            <a:spAutoFit/>
          </a:bodyPr>
          <a:lstStyle/>
          <a:p>
            <a:pPr algn="l">
              <a:lnSpc>
                <a:spcPct val="112000"/>
              </a:lnSpc>
              <a:spcAft>
                <a:spcPts val="0"/>
              </a:spcAft>
            </a:pPr>
            <a:r>
              <a:rPr sz="1050" b="1" i="0" spc="150">
                <a:solidFill>
                  <a:srgbClr val="A32B57"/>
                </a:solidFill>
                <a:latin typeface="Consolas"/>
              </a:rPr>
              <a:t>SÉQUENCE 11</a:t>
            </a:r>
          </a:p>
        </p:txBody>
      </p:sp>
      <p:sp>
        <p:nvSpPr>
          <p:cNvPr id="4" name="TextBox 3"/>
          <p:cNvSpPr txBox="1"/>
          <p:nvPr/>
        </p:nvSpPr>
        <p:spPr>
          <a:xfrm>
            <a:off x="777240" y="868680"/>
            <a:ext cx="10637215" cy="1371600"/>
          </a:xfrm>
          <a:prstGeom prst="rect">
            <a:avLst/>
          </a:prstGeom>
          <a:noFill/>
        </p:spPr>
        <p:txBody>
          <a:bodyPr wrap="square" lIns="0" rIns="0" tIns="0" bIns="0" anchor="t">
            <a:spAutoFit/>
          </a:bodyPr>
          <a:lstStyle/>
          <a:p>
            <a:pPr algn="l">
              <a:lnSpc>
                <a:spcPct val="95000"/>
              </a:lnSpc>
              <a:spcAft>
                <a:spcPts val="0"/>
              </a:spcAft>
            </a:pPr>
            <a:r>
              <a:rPr sz="3800" b="1" i="0">
                <a:solidFill>
                  <a:srgbClr val="12181D"/>
                </a:solidFill>
                <a:latin typeface="Trebuchet MS"/>
              </a:rPr>
              <a:t>Et pendant ce temps, le logiciel se décrit tout seul</a:t>
            </a:r>
          </a:p>
        </p:txBody>
      </p:sp>
      <p:sp>
        <p:nvSpPr>
          <p:cNvPr id="5" name="TextBox 4"/>
          <p:cNvSpPr txBox="1"/>
          <p:nvPr/>
        </p:nvSpPr>
        <p:spPr>
          <a:xfrm>
            <a:off x="777240" y="2331720"/>
            <a:ext cx="274320" cy="274320"/>
          </a:xfrm>
          <a:prstGeom prst="rect">
            <a:avLst/>
          </a:prstGeom>
          <a:noFill/>
        </p:spPr>
        <p:txBody>
          <a:bodyPr wrap="square" lIns="0" rIns="0" tIns="0" bIns="0" anchor="t">
            <a:spAutoFit/>
          </a:bodyPr>
          <a:lstStyle/>
          <a:p>
            <a:pPr algn="l">
              <a:lnSpc>
                <a:spcPct val="112000"/>
              </a:lnSpc>
              <a:spcAft>
                <a:spcPts val="0"/>
              </a:spcAft>
            </a:pPr>
            <a:r>
              <a:rPr sz="1650" b="1" i="0">
                <a:solidFill>
                  <a:srgbClr val="A32B57"/>
                </a:solidFill>
                <a:latin typeface="Calibri"/>
              </a:rPr>
              <a:t>—</a:t>
            </a:r>
          </a:p>
        </p:txBody>
      </p:sp>
      <p:sp>
        <p:nvSpPr>
          <p:cNvPr id="6" name="TextBox 5"/>
          <p:cNvSpPr txBox="1"/>
          <p:nvPr/>
        </p:nvSpPr>
        <p:spPr>
          <a:xfrm>
            <a:off x="1088136" y="2331720"/>
            <a:ext cx="8741664" cy="365760"/>
          </a:xfrm>
          <a:prstGeom prst="rect">
            <a:avLst/>
          </a:prstGeom>
          <a:noFill/>
        </p:spPr>
        <p:txBody>
          <a:bodyPr wrap="square" lIns="0" rIns="0" tIns="0" bIns="0" anchor="t">
            <a:spAutoFit/>
          </a:bodyPr>
          <a:lstStyle/>
          <a:p>
            <a:pPr algn="l">
              <a:lnSpc>
                <a:spcPct val="114000"/>
              </a:lnSpc>
              <a:spcAft>
                <a:spcPts val="0"/>
              </a:spcAft>
            </a:pPr>
            <a:r>
              <a:rPr sz="1650" b="0" i="0">
                <a:solidFill>
                  <a:srgbClr val="545F69"/>
                </a:solidFill>
                <a:latin typeface="Calibri"/>
              </a:rPr>
              <a:t>On appelle cela le </a:t>
            </a:r>
            <a:r>
              <a:rPr sz="1650" b="1" i="0">
                <a:solidFill>
                  <a:srgbClr val="12181D"/>
                </a:solidFill>
                <a:latin typeface="Calibri"/>
              </a:rPr>
              <a:t>développement assisté</a:t>
            </a:r>
            <a:r>
              <a:rPr sz="1650" b="0" i="0">
                <a:solidFill>
                  <a:srgbClr val="545F69"/>
                </a:solidFill>
                <a:latin typeface="Calibri"/>
              </a:rPr>
              <a:t> : on décrit en français ce qu'on veut, et une application fonctionnelle est produite, puis corrigée par itérations.</a:t>
            </a:r>
          </a:p>
        </p:txBody>
      </p:sp>
      <p:sp>
        <p:nvSpPr>
          <p:cNvPr id="7" name="TextBox 6"/>
          <p:cNvSpPr txBox="1"/>
          <p:nvPr/>
        </p:nvSpPr>
        <p:spPr>
          <a:xfrm>
            <a:off x="777240" y="3142488"/>
            <a:ext cx="274320" cy="274320"/>
          </a:xfrm>
          <a:prstGeom prst="rect">
            <a:avLst/>
          </a:prstGeom>
          <a:noFill/>
        </p:spPr>
        <p:txBody>
          <a:bodyPr wrap="square" lIns="0" rIns="0" tIns="0" bIns="0" anchor="t">
            <a:spAutoFit/>
          </a:bodyPr>
          <a:lstStyle/>
          <a:p>
            <a:pPr algn="l">
              <a:lnSpc>
                <a:spcPct val="112000"/>
              </a:lnSpc>
              <a:spcAft>
                <a:spcPts val="0"/>
              </a:spcAft>
            </a:pPr>
            <a:r>
              <a:rPr sz="1650" b="1" i="0">
                <a:solidFill>
                  <a:srgbClr val="A32B57"/>
                </a:solidFill>
                <a:latin typeface="Calibri"/>
              </a:rPr>
              <a:t>—</a:t>
            </a:r>
          </a:p>
        </p:txBody>
      </p:sp>
      <p:sp>
        <p:nvSpPr>
          <p:cNvPr id="8" name="TextBox 7"/>
          <p:cNvSpPr txBox="1"/>
          <p:nvPr/>
        </p:nvSpPr>
        <p:spPr>
          <a:xfrm>
            <a:off x="1088136" y="3142488"/>
            <a:ext cx="8741664" cy="365760"/>
          </a:xfrm>
          <a:prstGeom prst="rect">
            <a:avLst/>
          </a:prstGeom>
          <a:noFill/>
        </p:spPr>
        <p:txBody>
          <a:bodyPr wrap="square" lIns="0" rIns="0" tIns="0" bIns="0" anchor="t">
            <a:spAutoFit/>
          </a:bodyPr>
          <a:lstStyle/>
          <a:p>
            <a:pPr algn="l">
              <a:lnSpc>
                <a:spcPct val="114000"/>
              </a:lnSpc>
              <a:spcAft>
                <a:spcPts val="0"/>
              </a:spcAft>
            </a:pPr>
            <a:r>
              <a:rPr sz="1650" b="0" i="0">
                <a:solidFill>
                  <a:srgbClr val="545F69"/>
                </a:solidFill>
                <a:latin typeface="Calibri"/>
              </a:rPr>
              <a:t>Ce qui prenait des semaines de développement se prototype en une heure. </a:t>
            </a:r>
            <a:r>
              <a:rPr sz="1650" b="1" i="0">
                <a:solidFill>
                  <a:srgbClr val="12181D"/>
                </a:solidFill>
                <a:latin typeface="Calibri"/>
              </a:rPr>
              <a:t>Le prototype n'est pas un produit</a:t>
            </a:r>
            <a:r>
              <a:rPr sz="1650" b="0" i="0">
                <a:solidFill>
                  <a:srgbClr val="545F69"/>
                </a:solidFill>
                <a:latin typeface="Calibri"/>
              </a:rPr>
              <a:t> : la mise en production, la sécurité et la maintenance restent un métier.</a:t>
            </a:r>
          </a:p>
        </p:txBody>
      </p:sp>
      <p:sp>
        <p:nvSpPr>
          <p:cNvPr id="9" name="TextBox 8"/>
          <p:cNvSpPr txBox="1"/>
          <p:nvPr/>
        </p:nvSpPr>
        <p:spPr>
          <a:xfrm>
            <a:off x="777240" y="4221480"/>
            <a:ext cx="274320" cy="274320"/>
          </a:xfrm>
          <a:prstGeom prst="rect">
            <a:avLst/>
          </a:prstGeom>
          <a:noFill/>
        </p:spPr>
        <p:txBody>
          <a:bodyPr wrap="square" lIns="0" rIns="0" tIns="0" bIns="0" anchor="t">
            <a:spAutoFit/>
          </a:bodyPr>
          <a:lstStyle/>
          <a:p>
            <a:pPr algn="l">
              <a:lnSpc>
                <a:spcPct val="112000"/>
              </a:lnSpc>
              <a:spcAft>
                <a:spcPts val="0"/>
              </a:spcAft>
            </a:pPr>
            <a:r>
              <a:rPr sz="1650" b="1" i="0">
                <a:solidFill>
                  <a:srgbClr val="A32B57"/>
                </a:solidFill>
                <a:latin typeface="Calibri"/>
              </a:rPr>
              <a:t>—</a:t>
            </a:r>
          </a:p>
        </p:txBody>
      </p:sp>
      <p:sp>
        <p:nvSpPr>
          <p:cNvPr id="10" name="TextBox 9"/>
          <p:cNvSpPr txBox="1"/>
          <p:nvPr/>
        </p:nvSpPr>
        <p:spPr>
          <a:xfrm>
            <a:off x="1088136" y="4221480"/>
            <a:ext cx="8741664" cy="365760"/>
          </a:xfrm>
          <a:prstGeom prst="rect">
            <a:avLst/>
          </a:prstGeom>
          <a:noFill/>
        </p:spPr>
        <p:txBody>
          <a:bodyPr wrap="square" lIns="0" rIns="0" tIns="0" bIns="0" anchor="t">
            <a:spAutoFit/>
          </a:bodyPr>
          <a:lstStyle/>
          <a:p>
            <a:pPr algn="l">
              <a:lnSpc>
                <a:spcPct val="114000"/>
              </a:lnSpc>
              <a:spcAft>
                <a:spcPts val="0"/>
              </a:spcAft>
            </a:pPr>
            <a:r>
              <a:rPr sz="1650" b="0" i="0">
                <a:solidFill>
                  <a:srgbClr val="545F69"/>
                </a:solidFill>
                <a:latin typeface="Calibri"/>
              </a:rPr>
              <a:t>Pourquoi vous le montrer ? Parce que cela change ce que vous pouvez </a:t>
            </a:r>
            <a:r>
              <a:rPr sz="1650" b="1" i="0">
                <a:solidFill>
                  <a:srgbClr val="12181D"/>
                </a:solidFill>
                <a:latin typeface="Calibri"/>
              </a:rPr>
              <a:t>demander</a:t>
            </a:r>
            <a:r>
              <a:rPr sz="1650" b="0" i="0">
                <a:solidFill>
                  <a:srgbClr val="545F69"/>
                </a:solidFill>
                <a:latin typeface="Calibri"/>
              </a:rPr>
              <a:t> : l'idée qu'on n'osait pas proposer parce que « ça coûterait trop cher à développer » mérite d'être reposée.</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8-grille-automatisation.png"/>
          <p:cNvPicPr>
            <a:picLocks noChangeAspect="1"/>
          </p:cNvPicPr>
          <p:nvPr/>
        </p:nvPicPr>
        <p:blipFill>
          <a:blip r:embed="rId2"/>
          <a:stretch>
            <a:fillRect/>
          </a:stretch>
        </p:blipFill>
        <p:spPr>
          <a:xfrm>
            <a:off x="0" y="0"/>
            <a:ext cx="12191695" cy="6857828"/>
          </a:xfrm>
          <a:prstGeom prst="rect">
            <a:avLst/>
          </a:prstGeom>
        </p:spPr>
      </p:pic>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01168" cy="6858000"/>
          </a:xfrm>
          <a:prstGeom prst="rect">
            <a:avLst/>
          </a:prstGeom>
          <a:solidFill>
            <a:srgbClr val="A32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548640"/>
            <a:ext cx="2651760" cy="384048"/>
          </a:xfrm>
          <a:prstGeom prst="rect">
            <a:avLst/>
          </a:prstGeom>
          <a:solidFill>
            <a:srgbClr val="A32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41832" y="621792"/>
            <a:ext cx="2377440" cy="274320"/>
          </a:xfrm>
          <a:prstGeom prst="rect">
            <a:avLst/>
          </a:prstGeom>
          <a:noFill/>
        </p:spPr>
        <p:txBody>
          <a:bodyPr wrap="square" lIns="0" rIns="0" tIns="0" bIns="0" anchor="t">
            <a:spAutoFit/>
          </a:bodyPr>
          <a:lstStyle/>
          <a:p>
            <a:pPr algn="l">
              <a:lnSpc>
                <a:spcPct val="112000"/>
              </a:lnSpc>
              <a:spcAft>
                <a:spcPts val="0"/>
              </a:spcAft>
            </a:pPr>
            <a:r>
              <a:rPr sz="1150" b="1" i="0" spc="150">
                <a:solidFill>
                  <a:srgbClr val="FFFFFF"/>
                </a:solidFill>
                <a:latin typeface="Consolas"/>
              </a:rPr>
              <a:t>ATELIER 8 · 35 MIN</a:t>
            </a:r>
          </a:p>
        </p:txBody>
      </p:sp>
      <p:sp>
        <p:nvSpPr>
          <p:cNvPr id="6" name="TextBox 5"/>
          <p:cNvSpPr txBox="1"/>
          <p:nvPr/>
        </p:nvSpPr>
        <p:spPr>
          <a:xfrm>
            <a:off x="777240" y="1143000"/>
            <a:ext cx="10637215" cy="1371600"/>
          </a:xfrm>
          <a:prstGeom prst="rect">
            <a:avLst/>
          </a:prstGeom>
          <a:noFill/>
        </p:spPr>
        <p:txBody>
          <a:bodyPr wrap="square" lIns="0" rIns="0" tIns="0" bIns="0" anchor="t">
            <a:spAutoFit/>
          </a:bodyPr>
          <a:lstStyle/>
          <a:p>
            <a:pPr algn="l">
              <a:lnSpc>
                <a:spcPct val="95000"/>
              </a:lnSpc>
              <a:spcAft>
                <a:spcPts val="0"/>
              </a:spcAft>
            </a:pPr>
            <a:r>
              <a:rPr sz="3600" b="1" i="0">
                <a:solidFill>
                  <a:srgbClr val="12181D"/>
                </a:solidFill>
                <a:latin typeface="Trebuchet MS"/>
              </a:rPr>
              <a:t>Cartographiez vos tâches avant de choisir un outil</a:t>
            </a:r>
          </a:p>
        </p:txBody>
      </p:sp>
      <p:sp>
        <p:nvSpPr>
          <p:cNvPr id="7" name="TextBox 6"/>
          <p:cNvSpPr txBox="1"/>
          <p:nvPr/>
        </p:nvSpPr>
        <p:spPr>
          <a:xfrm>
            <a:off x="777240" y="2606040"/>
            <a:ext cx="2743200" cy="274320"/>
          </a:xfrm>
          <a:prstGeom prst="rect">
            <a:avLst/>
          </a:prstGeom>
          <a:noFill/>
        </p:spPr>
        <p:txBody>
          <a:bodyPr wrap="square" lIns="0" rIns="0" tIns="0" bIns="0" anchor="t">
            <a:spAutoFit/>
          </a:bodyPr>
          <a:lstStyle/>
          <a:p>
            <a:pPr algn="l">
              <a:lnSpc>
                <a:spcPct val="112000"/>
              </a:lnSpc>
              <a:spcAft>
                <a:spcPts val="0"/>
              </a:spcAft>
            </a:pPr>
            <a:r>
              <a:rPr sz="1000" b="1" i="0" spc="140">
                <a:solidFill>
                  <a:srgbClr val="A32B57"/>
                </a:solidFill>
                <a:latin typeface="Consolas"/>
              </a:rPr>
              <a:t>CONSIGNE</a:t>
            </a:r>
          </a:p>
        </p:txBody>
      </p:sp>
      <p:sp>
        <p:nvSpPr>
          <p:cNvPr id="8" name="TextBox 7"/>
          <p:cNvSpPr txBox="1"/>
          <p:nvPr/>
        </p:nvSpPr>
        <p:spPr>
          <a:xfrm>
            <a:off x="777240" y="2944368"/>
            <a:ext cx="274320" cy="274320"/>
          </a:xfrm>
          <a:prstGeom prst="rect">
            <a:avLst/>
          </a:prstGeom>
          <a:noFill/>
        </p:spPr>
        <p:txBody>
          <a:bodyPr wrap="square" lIns="0" rIns="0" tIns="0" bIns="0" anchor="t">
            <a:spAutoFit/>
          </a:bodyPr>
          <a:lstStyle/>
          <a:p>
            <a:pPr algn="l">
              <a:lnSpc>
                <a:spcPct val="112000"/>
              </a:lnSpc>
              <a:spcAft>
                <a:spcPts val="0"/>
              </a:spcAft>
            </a:pPr>
            <a:r>
              <a:rPr sz="1700" b="1" i="0">
                <a:solidFill>
                  <a:srgbClr val="A32B57"/>
                </a:solidFill>
                <a:latin typeface="Calibri"/>
              </a:rPr>
              <a:t>—</a:t>
            </a:r>
          </a:p>
        </p:txBody>
      </p:sp>
      <p:sp>
        <p:nvSpPr>
          <p:cNvPr id="9" name="TextBox 8"/>
          <p:cNvSpPr txBox="1"/>
          <p:nvPr/>
        </p:nvSpPr>
        <p:spPr>
          <a:xfrm>
            <a:off x="1088136" y="2944368"/>
            <a:ext cx="5632704" cy="365760"/>
          </a:xfrm>
          <a:prstGeom prst="rect">
            <a:avLst/>
          </a:prstGeom>
          <a:noFill/>
        </p:spPr>
        <p:txBody>
          <a:bodyPr wrap="square" lIns="0" rIns="0" tIns="0" bIns="0" anchor="t">
            <a:spAutoFit/>
          </a:bodyPr>
          <a:lstStyle/>
          <a:p>
            <a:pPr algn="l">
              <a:lnSpc>
                <a:spcPct val="114000"/>
              </a:lnSpc>
              <a:spcAft>
                <a:spcPts val="0"/>
              </a:spcAft>
            </a:pPr>
            <a:r>
              <a:rPr sz="1700" b="0" i="0">
                <a:solidFill>
                  <a:srgbClr val="12181D"/>
                </a:solidFill>
                <a:latin typeface="Calibri"/>
              </a:rPr>
              <a:t>Listez </a:t>
            </a:r>
            <a:r>
              <a:rPr sz="1700" b="1" i="0">
                <a:solidFill>
                  <a:srgbClr val="12181D"/>
                </a:solidFill>
                <a:latin typeface="Calibri"/>
              </a:rPr>
              <a:t>tout ce que vous avez fait la semaine dernière</a:t>
            </a:r>
            <a:r>
              <a:rPr sz="1700" b="0" i="0">
                <a:solidFill>
                  <a:srgbClr val="12181D"/>
                </a:solidFill>
                <a:latin typeface="Calibri"/>
              </a:rPr>
              <a:t>, sans trier. Visez trente lignes.</a:t>
            </a:r>
          </a:p>
        </p:txBody>
      </p:sp>
      <p:sp>
        <p:nvSpPr>
          <p:cNvPr id="10" name="TextBox 9"/>
          <p:cNvSpPr txBox="1"/>
          <p:nvPr/>
        </p:nvSpPr>
        <p:spPr>
          <a:xfrm>
            <a:off x="777240" y="3771392"/>
            <a:ext cx="274320" cy="274320"/>
          </a:xfrm>
          <a:prstGeom prst="rect">
            <a:avLst/>
          </a:prstGeom>
          <a:noFill/>
        </p:spPr>
        <p:txBody>
          <a:bodyPr wrap="square" lIns="0" rIns="0" tIns="0" bIns="0" anchor="t">
            <a:spAutoFit/>
          </a:bodyPr>
          <a:lstStyle/>
          <a:p>
            <a:pPr algn="l">
              <a:lnSpc>
                <a:spcPct val="112000"/>
              </a:lnSpc>
              <a:spcAft>
                <a:spcPts val="0"/>
              </a:spcAft>
            </a:pPr>
            <a:r>
              <a:rPr sz="1700" b="1" i="0">
                <a:solidFill>
                  <a:srgbClr val="A32B57"/>
                </a:solidFill>
                <a:latin typeface="Calibri"/>
              </a:rPr>
              <a:t>—</a:t>
            </a:r>
          </a:p>
        </p:txBody>
      </p:sp>
      <p:sp>
        <p:nvSpPr>
          <p:cNvPr id="11" name="TextBox 10"/>
          <p:cNvSpPr txBox="1"/>
          <p:nvPr/>
        </p:nvSpPr>
        <p:spPr>
          <a:xfrm>
            <a:off x="1088136" y="3771392"/>
            <a:ext cx="5632704" cy="365760"/>
          </a:xfrm>
          <a:prstGeom prst="rect">
            <a:avLst/>
          </a:prstGeom>
          <a:noFill/>
        </p:spPr>
        <p:txBody>
          <a:bodyPr wrap="square" lIns="0" rIns="0" tIns="0" bIns="0" anchor="t">
            <a:spAutoFit/>
          </a:bodyPr>
          <a:lstStyle/>
          <a:p>
            <a:pPr algn="l">
              <a:lnSpc>
                <a:spcPct val="114000"/>
              </a:lnSpc>
              <a:spcAft>
                <a:spcPts val="0"/>
              </a:spcAft>
            </a:pPr>
            <a:r>
              <a:rPr sz="1700" b="0" i="0">
                <a:solidFill>
                  <a:srgbClr val="12181D"/>
                </a:solidFill>
                <a:latin typeface="Calibri"/>
              </a:rPr>
              <a:t>Placez chaque tâche sur la grille : fréquence en abscisse, temps passé en ordonnée.</a:t>
            </a:r>
          </a:p>
        </p:txBody>
      </p:sp>
      <p:sp>
        <p:nvSpPr>
          <p:cNvPr id="12" name="TextBox 11"/>
          <p:cNvSpPr txBox="1"/>
          <p:nvPr/>
        </p:nvSpPr>
        <p:spPr>
          <a:xfrm>
            <a:off x="777240" y="4598416"/>
            <a:ext cx="274320" cy="274320"/>
          </a:xfrm>
          <a:prstGeom prst="rect">
            <a:avLst/>
          </a:prstGeom>
          <a:noFill/>
        </p:spPr>
        <p:txBody>
          <a:bodyPr wrap="square" lIns="0" rIns="0" tIns="0" bIns="0" anchor="t">
            <a:spAutoFit/>
          </a:bodyPr>
          <a:lstStyle/>
          <a:p>
            <a:pPr algn="l">
              <a:lnSpc>
                <a:spcPct val="112000"/>
              </a:lnSpc>
              <a:spcAft>
                <a:spcPts val="0"/>
              </a:spcAft>
            </a:pPr>
            <a:r>
              <a:rPr sz="1700" b="1" i="0">
                <a:solidFill>
                  <a:srgbClr val="A32B57"/>
                </a:solidFill>
                <a:latin typeface="Calibri"/>
              </a:rPr>
              <a:t>—</a:t>
            </a:r>
          </a:p>
        </p:txBody>
      </p:sp>
      <p:sp>
        <p:nvSpPr>
          <p:cNvPr id="13" name="TextBox 12"/>
          <p:cNvSpPr txBox="1"/>
          <p:nvPr/>
        </p:nvSpPr>
        <p:spPr>
          <a:xfrm>
            <a:off x="1088136" y="4598416"/>
            <a:ext cx="5632704" cy="365760"/>
          </a:xfrm>
          <a:prstGeom prst="rect">
            <a:avLst/>
          </a:prstGeom>
          <a:noFill/>
        </p:spPr>
        <p:txBody>
          <a:bodyPr wrap="square" lIns="0" rIns="0" tIns="0" bIns="0" anchor="t">
            <a:spAutoFit/>
          </a:bodyPr>
          <a:lstStyle/>
          <a:p>
            <a:pPr algn="l">
              <a:lnSpc>
                <a:spcPct val="114000"/>
              </a:lnSpc>
              <a:spcAft>
                <a:spcPts val="0"/>
              </a:spcAft>
            </a:pPr>
            <a:r>
              <a:rPr sz="1700" b="0" i="0">
                <a:solidFill>
                  <a:srgbClr val="12181D"/>
                </a:solidFill>
                <a:latin typeface="Calibri"/>
              </a:rPr>
              <a:t>La taille du point indique la répétitivité : </a:t>
            </a:r>
            <a:r>
              <a:rPr sz="1700" b="1" i="0">
                <a:solidFill>
                  <a:srgbClr val="12181D"/>
                </a:solidFill>
                <a:latin typeface="Calibri"/>
              </a:rPr>
              <a:t>presque identique à chaque fois</a:t>
            </a:r>
            <a:r>
              <a:rPr sz="1700" b="0" i="0">
                <a:solidFill>
                  <a:srgbClr val="12181D"/>
                </a:solidFill>
                <a:latin typeface="Calibri"/>
              </a:rPr>
              <a:t> = gros point.</a:t>
            </a:r>
          </a:p>
        </p:txBody>
      </p:sp>
      <p:sp>
        <p:nvSpPr>
          <p:cNvPr id="14" name="TextBox 13"/>
          <p:cNvSpPr txBox="1"/>
          <p:nvPr/>
        </p:nvSpPr>
        <p:spPr>
          <a:xfrm>
            <a:off x="777240" y="5425440"/>
            <a:ext cx="274320" cy="274320"/>
          </a:xfrm>
          <a:prstGeom prst="rect">
            <a:avLst/>
          </a:prstGeom>
          <a:noFill/>
        </p:spPr>
        <p:txBody>
          <a:bodyPr wrap="square" lIns="0" rIns="0" tIns="0" bIns="0" anchor="t">
            <a:spAutoFit/>
          </a:bodyPr>
          <a:lstStyle/>
          <a:p>
            <a:pPr algn="l">
              <a:lnSpc>
                <a:spcPct val="112000"/>
              </a:lnSpc>
              <a:spcAft>
                <a:spcPts val="0"/>
              </a:spcAft>
            </a:pPr>
            <a:r>
              <a:rPr sz="1700" b="1" i="0">
                <a:solidFill>
                  <a:srgbClr val="A32B57"/>
                </a:solidFill>
                <a:latin typeface="Calibri"/>
              </a:rPr>
              <a:t>—</a:t>
            </a:r>
          </a:p>
        </p:txBody>
      </p:sp>
      <p:sp>
        <p:nvSpPr>
          <p:cNvPr id="15" name="TextBox 14"/>
          <p:cNvSpPr txBox="1"/>
          <p:nvPr/>
        </p:nvSpPr>
        <p:spPr>
          <a:xfrm>
            <a:off x="1088136" y="5425440"/>
            <a:ext cx="5632704" cy="365760"/>
          </a:xfrm>
          <a:prstGeom prst="rect">
            <a:avLst/>
          </a:prstGeom>
          <a:noFill/>
        </p:spPr>
        <p:txBody>
          <a:bodyPr wrap="square" lIns="0" rIns="0" tIns="0" bIns="0" anchor="t">
            <a:spAutoFit/>
          </a:bodyPr>
          <a:lstStyle/>
          <a:p>
            <a:pPr algn="l">
              <a:lnSpc>
                <a:spcPct val="114000"/>
              </a:lnSpc>
              <a:spcAft>
                <a:spcPts val="0"/>
              </a:spcAft>
            </a:pPr>
            <a:r>
              <a:rPr sz="1700" b="0" i="0">
                <a:solidFill>
                  <a:srgbClr val="12181D"/>
                </a:solidFill>
                <a:latin typeface="Calibri"/>
              </a:rPr>
              <a:t>Entourez les </a:t>
            </a:r>
            <a:r>
              <a:rPr sz="1700" b="1" i="0">
                <a:solidFill>
                  <a:srgbClr val="12181D"/>
                </a:solidFill>
                <a:latin typeface="Calibri"/>
              </a:rPr>
              <a:t>trois tâches les plus à droite et les plus hautes</a:t>
            </a:r>
            <a:r>
              <a:rPr sz="1700" b="0" i="0">
                <a:solidFill>
                  <a:srgbClr val="12181D"/>
                </a:solidFill>
                <a:latin typeface="Calibri"/>
              </a:rPr>
              <a:t>.</a:t>
            </a:r>
          </a:p>
        </p:txBody>
      </p:sp>
      <p:sp>
        <p:nvSpPr>
          <p:cNvPr id="16" name="TextBox 15"/>
          <p:cNvSpPr txBox="1"/>
          <p:nvPr/>
        </p:nvSpPr>
        <p:spPr>
          <a:xfrm>
            <a:off x="777240" y="6252464"/>
            <a:ext cx="274320" cy="274320"/>
          </a:xfrm>
          <a:prstGeom prst="rect">
            <a:avLst/>
          </a:prstGeom>
          <a:noFill/>
        </p:spPr>
        <p:txBody>
          <a:bodyPr wrap="square" lIns="0" rIns="0" tIns="0" bIns="0" anchor="t">
            <a:spAutoFit/>
          </a:bodyPr>
          <a:lstStyle/>
          <a:p>
            <a:pPr algn="l">
              <a:lnSpc>
                <a:spcPct val="112000"/>
              </a:lnSpc>
              <a:spcAft>
                <a:spcPts val="0"/>
              </a:spcAft>
            </a:pPr>
            <a:r>
              <a:rPr sz="1700" b="1" i="0">
                <a:solidFill>
                  <a:srgbClr val="A32B57"/>
                </a:solidFill>
                <a:latin typeface="Calibri"/>
              </a:rPr>
              <a:t>—</a:t>
            </a:r>
          </a:p>
        </p:txBody>
      </p:sp>
      <p:sp>
        <p:nvSpPr>
          <p:cNvPr id="17" name="TextBox 16"/>
          <p:cNvSpPr txBox="1"/>
          <p:nvPr/>
        </p:nvSpPr>
        <p:spPr>
          <a:xfrm>
            <a:off x="1088136" y="6252464"/>
            <a:ext cx="5632704" cy="365760"/>
          </a:xfrm>
          <a:prstGeom prst="rect">
            <a:avLst/>
          </a:prstGeom>
          <a:noFill/>
        </p:spPr>
        <p:txBody>
          <a:bodyPr wrap="square" lIns="0" rIns="0" tIns="0" bIns="0" anchor="t">
            <a:spAutoFit/>
          </a:bodyPr>
          <a:lstStyle/>
          <a:p>
            <a:pPr algn="l">
              <a:lnSpc>
                <a:spcPct val="114000"/>
              </a:lnSpc>
              <a:spcAft>
                <a:spcPts val="0"/>
              </a:spcAft>
            </a:pPr>
            <a:r>
              <a:rPr sz="1700" b="0" i="0">
                <a:solidFill>
                  <a:srgbClr val="12181D"/>
                </a:solidFill>
                <a:latin typeface="Calibri"/>
              </a:rPr>
              <a:t>Chiffrez-les : combien d'heures par mois, réellement ?</a:t>
            </a:r>
          </a:p>
        </p:txBody>
      </p:sp>
      <p:sp>
        <p:nvSpPr>
          <p:cNvPr id="18" name="Rectangle 17"/>
          <p:cNvSpPr/>
          <p:nvPr/>
        </p:nvSpPr>
        <p:spPr>
          <a:xfrm>
            <a:off x="777240" y="5623560"/>
            <a:ext cx="5943600" cy="822960"/>
          </a:xfrm>
          <a:prstGeom prst="rect">
            <a:avLst/>
          </a:prstGeom>
          <a:solidFill>
            <a:srgbClr val="F8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5623560"/>
            <a:ext cx="41148" cy="822960"/>
          </a:xfrm>
          <a:prstGeom prst="rect">
            <a:avLst/>
          </a:prstGeom>
          <a:solidFill>
            <a:srgbClr val="A32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33271" y="5824728"/>
            <a:ext cx="5486400" cy="228600"/>
          </a:xfrm>
          <a:prstGeom prst="rect">
            <a:avLst/>
          </a:prstGeom>
          <a:noFill/>
        </p:spPr>
        <p:txBody>
          <a:bodyPr wrap="square" lIns="0" rIns="0" tIns="0" bIns="0" anchor="t">
            <a:spAutoFit/>
          </a:bodyPr>
          <a:lstStyle/>
          <a:p>
            <a:pPr algn="l">
              <a:lnSpc>
                <a:spcPct val="112000"/>
              </a:lnSpc>
              <a:spcAft>
                <a:spcPts val="0"/>
              </a:spcAft>
            </a:pPr>
            <a:r>
              <a:rPr sz="1000" b="1" i="0" spc="140">
                <a:solidFill>
                  <a:srgbClr val="A32B57"/>
                </a:solidFill>
                <a:latin typeface="Consolas"/>
              </a:rPr>
              <a:t>LIVRABLE</a:t>
            </a:r>
          </a:p>
        </p:txBody>
      </p:sp>
      <p:sp>
        <p:nvSpPr>
          <p:cNvPr id="21" name="TextBox 20"/>
          <p:cNvSpPr txBox="1"/>
          <p:nvPr/>
        </p:nvSpPr>
        <p:spPr>
          <a:xfrm>
            <a:off x="1033271" y="6153912"/>
            <a:ext cx="5486400" cy="91439"/>
          </a:xfrm>
          <a:prstGeom prst="rect">
            <a:avLst/>
          </a:prstGeom>
          <a:noFill/>
        </p:spPr>
        <p:txBody>
          <a:bodyPr wrap="square" lIns="0" rIns="0" tIns="0" bIns="0" anchor="t">
            <a:spAutoFit/>
          </a:bodyPr>
          <a:lstStyle/>
          <a:p>
            <a:pPr algn="l">
              <a:lnSpc>
                <a:spcPct val="120000"/>
              </a:lnSpc>
              <a:spcAft>
                <a:spcPts val="0"/>
              </a:spcAft>
            </a:pPr>
            <a:r>
              <a:rPr sz="1500" b="0" i="0">
                <a:solidFill>
                  <a:srgbClr val="545F69"/>
                </a:solidFill>
                <a:latin typeface="Calibri"/>
              </a:rPr>
              <a:t>Une carte des trois tâches automatisables, chiffrée en heures par mois.</a:t>
            </a:r>
          </a:p>
        </p:txBody>
      </p:sp>
      <p:sp>
        <p:nvSpPr>
          <p:cNvPr id="22" name="Rectangle 21"/>
          <p:cNvSpPr/>
          <p:nvPr/>
        </p:nvSpPr>
        <p:spPr>
          <a:xfrm>
            <a:off x="7269479" y="2286000"/>
            <a:ext cx="4144975" cy="3383280"/>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269479" y="2286000"/>
            <a:ext cx="41148" cy="3383280"/>
          </a:xfrm>
          <a:prstGeom prst="rect">
            <a:avLst/>
          </a:prstGeom>
          <a:solidFill>
            <a:srgbClr val="A32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525511" y="2487168"/>
            <a:ext cx="3687775" cy="228600"/>
          </a:xfrm>
          <a:prstGeom prst="rect">
            <a:avLst/>
          </a:prstGeom>
          <a:noFill/>
        </p:spPr>
        <p:txBody>
          <a:bodyPr wrap="square" lIns="0" rIns="0" tIns="0" bIns="0" anchor="t">
            <a:spAutoFit/>
          </a:bodyPr>
          <a:lstStyle/>
          <a:p>
            <a:pPr algn="l">
              <a:lnSpc>
                <a:spcPct val="112000"/>
              </a:lnSpc>
              <a:spcAft>
                <a:spcPts val="0"/>
              </a:spcAft>
            </a:pPr>
            <a:r>
              <a:rPr sz="1000" b="1" i="0" spc="140">
                <a:solidFill>
                  <a:srgbClr val="A32B57"/>
                </a:solidFill>
                <a:latin typeface="Consolas"/>
              </a:rPr>
              <a:t>DÉBRIEF EN GRAND GROUPE</a:t>
            </a:r>
          </a:p>
        </p:txBody>
      </p:sp>
      <p:sp>
        <p:nvSpPr>
          <p:cNvPr id="25" name="TextBox 24"/>
          <p:cNvSpPr txBox="1"/>
          <p:nvPr/>
        </p:nvSpPr>
        <p:spPr>
          <a:xfrm>
            <a:off x="7525511" y="2816352"/>
            <a:ext cx="3687775" cy="2651760"/>
          </a:xfrm>
          <a:prstGeom prst="rect">
            <a:avLst/>
          </a:prstGeom>
          <a:noFill/>
        </p:spPr>
        <p:txBody>
          <a:bodyPr wrap="square" lIns="0" rIns="0" tIns="0" bIns="0" anchor="t">
            <a:spAutoFit/>
          </a:bodyPr>
          <a:lstStyle/>
          <a:p>
            <a:pPr algn="l">
              <a:lnSpc>
                <a:spcPct val="120000"/>
              </a:lnSpc>
              <a:spcAft>
                <a:spcPts val="0"/>
              </a:spcAft>
            </a:pPr>
            <a:r>
              <a:rPr sz="1600" b="0" i="0">
                <a:solidFill>
                  <a:srgbClr val="545F69"/>
                </a:solidFill>
                <a:latin typeface="Calibri"/>
              </a:rPr>
              <a:t>On compare les chiffres. Le total des heures identifiées dans la salle est le message à emporter chez soi — et c'est le seul argument qui parle à une direction.</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777240" y="1828800"/>
            <a:ext cx="1280160" cy="45720"/>
          </a:xfrm>
          <a:prstGeom prst="rect">
            <a:avLst/>
          </a:prstGeom>
          <a:solidFill>
            <a:srgbClr val="A32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2286000"/>
            <a:ext cx="10241280" cy="2194560"/>
          </a:xfrm>
          <a:prstGeom prst="rect">
            <a:avLst/>
          </a:prstGeom>
          <a:noFill/>
        </p:spPr>
        <p:txBody>
          <a:bodyPr wrap="square" lIns="0" rIns="0" tIns="0" bIns="0" anchor="t">
            <a:spAutoFit/>
          </a:bodyPr>
          <a:lstStyle/>
          <a:p>
            <a:pPr algn="l">
              <a:lnSpc>
                <a:spcPct val="100000"/>
              </a:lnSpc>
              <a:spcAft>
                <a:spcPts val="0"/>
              </a:spcAft>
            </a:pPr>
            <a:r>
              <a:rPr sz="4400" b="1" i="0">
                <a:solidFill>
                  <a:srgbClr val="12181D"/>
                </a:solidFill>
                <a:latin typeface="Trebuchet MS"/>
              </a:rPr>
              <a:t>Un agent qui se trompe</a:t>
            </a:r>
          </a:p>
          <a:p>
            <a:pPr algn="l">
              <a:lnSpc>
                <a:spcPct val="100000"/>
              </a:lnSpc>
              <a:spcAft>
                <a:spcPts val="0"/>
              </a:spcAft>
            </a:pPr>
            <a:r>
              <a:rPr sz="4400" b="1" i="0">
                <a:solidFill>
                  <a:srgbClr val="12181D"/>
                </a:solidFill>
                <a:latin typeface="Trebuchet MS"/>
              </a:rPr>
              <a:t>se trompe vite, et à grande échelle.</a:t>
            </a:r>
          </a:p>
        </p:txBody>
      </p:sp>
      <p:sp>
        <p:nvSpPr>
          <p:cNvPr id="5" name="TextBox 4"/>
          <p:cNvSpPr txBox="1"/>
          <p:nvPr/>
        </p:nvSpPr>
        <p:spPr>
          <a:xfrm>
            <a:off x="777240" y="4709160"/>
            <a:ext cx="9144000" cy="914400"/>
          </a:xfrm>
          <a:prstGeom prst="rect">
            <a:avLst/>
          </a:prstGeom>
          <a:noFill/>
        </p:spPr>
        <p:txBody>
          <a:bodyPr wrap="square" lIns="0" rIns="0" tIns="0" bIns="0" anchor="t">
            <a:spAutoFit/>
          </a:bodyPr>
          <a:lstStyle/>
          <a:p>
            <a:pPr algn="l">
              <a:lnSpc>
                <a:spcPct val="130000"/>
              </a:lnSpc>
              <a:spcAft>
                <a:spcPts val="0"/>
              </a:spcAft>
            </a:pPr>
            <a:r>
              <a:rPr sz="1900" b="0" i="0">
                <a:solidFill>
                  <a:srgbClr val="545F69"/>
                </a:solidFill>
                <a:latin typeface="Calibri"/>
              </a:rPr>
              <a:t>À partir de la marche 3, rien de sensible ne part sans validation humaine, et tout ce qu'il fait doit rester consultable après coup. Ce n'est pas de la prudence excessive : c'est la condition pour pouvoir y aller.</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A32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60120" y="1463040"/>
            <a:ext cx="7315200" cy="274320"/>
          </a:xfrm>
          <a:prstGeom prst="rect">
            <a:avLst/>
          </a:prstGeom>
          <a:noFill/>
        </p:spPr>
        <p:txBody>
          <a:bodyPr wrap="square" lIns="0" rIns="0" tIns="0" bIns="0" anchor="t">
            <a:spAutoFit/>
          </a:bodyPr>
          <a:lstStyle/>
          <a:p>
            <a:pPr algn="l">
              <a:lnSpc>
                <a:spcPct val="112000"/>
              </a:lnSpc>
              <a:spcAft>
                <a:spcPts val="0"/>
              </a:spcAft>
            </a:pPr>
            <a:r>
              <a:rPr sz="1200" b="1" i="0" spc="180">
                <a:solidFill>
                  <a:srgbClr val="A32B57"/>
                </a:solidFill>
                <a:latin typeface="Consolas"/>
              </a:rPr>
              <a:t>JOUR 2 · SÉQUENCE 12</a:t>
            </a:r>
          </a:p>
        </p:txBody>
      </p:sp>
      <p:sp>
        <p:nvSpPr>
          <p:cNvPr id="5" name="TextBox 4"/>
          <p:cNvSpPr txBox="1"/>
          <p:nvPr/>
        </p:nvSpPr>
        <p:spPr>
          <a:xfrm>
            <a:off x="960120" y="1965960"/>
            <a:ext cx="9601200" cy="2011680"/>
          </a:xfrm>
          <a:prstGeom prst="rect">
            <a:avLst/>
          </a:prstGeom>
          <a:noFill/>
        </p:spPr>
        <p:txBody>
          <a:bodyPr wrap="square" lIns="0" rIns="0" tIns="0" bIns="0" anchor="t">
            <a:spAutoFit/>
          </a:bodyPr>
          <a:lstStyle/>
          <a:p>
            <a:pPr algn="l">
              <a:lnSpc>
                <a:spcPct val="95000"/>
              </a:lnSpc>
              <a:spcAft>
                <a:spcPts val="0"/>
              </a:spcAft>
            </a:pPr>
            <a:r>
              <a:rPr sz="5000" b="1" i="0">
                <a:solidFill>
                  <a:srgbClr val="12181D"/>
                </a:solidFill>
                <a:latin typeface="Trebuchet MS"/>
              </a:rPr>
              <a:t>Le futur, et votre plan</a:t>
            </a:r>
          </a:p>
        </p:txBody>
      </p:sp>
      <p:sp>
        <p:nvSpPr>
          <p:cNvPr id="6" name="Rectangle 5"/>
          <p:cNvSpPr/>
          <p:nvPr/>
        </p:nvSpPr>
        <p:spPr>
          <a:xfrm>
            <a:off x="960120" y="4114800"/>
            <a:ext cx="1463040" cy="41148"/>
          </a:xfrm>
          <a:prstGeom prst="rect">
            <a:avLst/>
          </a:prstGeom>
          <a:solidFill>
            <a:srgbClr val="A32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60120" y="4480560"/>
            <a:ext cx="8595360" cy="1097280"/>
          </a:xfrm>
          <a:prstGeom prst="rect">
            <a:avLst/>
          </a:prstGeom>
          <a:noFill/>
        </p:spPr>
        <p:txBody>
          <a:bodyPr wrap="square" lIns="0" rIns="0" tIns="0" bIns="0" anchor="t">
            <a:spAutoFit/>
          </a:bodyPr>
          <a:lstStyle/>
          <a:p>
            <a:pPr algn="l">
              <a:lnSpc>
                <a:spcPct val="132000"/>
              </a:lnSpc>
              <a:spcAft>
                <a:spcPts val="0"/>
              </a:spcAft>
            </a:pPr>
            <a:r>
              <a:rPr sz="2000" b="0" i="0">
                <a:solidFill>
                  <a:srgbClr val="545F69"/>
                </a:solidFill>
                <a:latin typeface="Calibri"/>
              </a:rPr>
              <a:t>Trois horizons, avec le niveau d'incertitude annoncé pour chacun. Puis ce que vous faites lundi matin.</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77240" y="402336"/>
            <a:ext cx="10637215" cy="32004"/>
          </a:xfrm>
          <a:prstGeom prst="rect">
            <a:avLst/>
          </a:prstGeom>
          <a:solidFill>
            <a:srgbClr val="12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77240" y="502920"/>
            <a:ext cx="10637215" cy="274320"/>
          </a:xfrm>
          <a:prstGeom prst="rect">
            <a:avLst/>
          </a:prstGeom>
          <a:noFill/>
        </p:spPr>
        <p:txBody>
          <a:bodyPr wrap="square" lIns="0" rIns="0" tIns="0" bIns="0" anchor="t">
            <a:spAutoFit/>
          </a:bodyPr>
          <a:lstStyle/>
          <a:p>
            <a:pPr algn="l">
              <a:lnSpc>
                <a:spcPct val="112000"/>
              </a:lnSpc>
              <a:spcAft>
                <a:spcPts val="0"/>
              </a:spcAft>
            </a:pPr>
            <a:r>
              <a:rPr sz="1050" b="1" i="0" spc="150">
                <a:solidFill>
                  <a:srgbClr val="A32B57"/>
                </a:solidFill>
                <a:latin typeface="Consolas"/>
              </a:rPr>
              <a:t>HORIZON 1 · DOUZE MOIS</a:t>
            </a:r>
          </a:p>
        </p:txBody>
      </p:sp>
      <p:sp>
        <p:nvSpPr>
          <p:cNvPr id="4" name="TextBox 3"/>
          <p:cNvSpPr txBox="1"/>
          <p:nvPr/>
        </p:nvSpPr>
        <p:spPr>
          <a:xfrm>
            <a:off x="777240" y="868680"/>
            <a:ext cx="10637215" cy="1371600"/>
          </a:xfrm>
          <a:prstGeom prst="rect">
            <a:avLst/>
          </a:prstGeom>
          <a:noFill/>
        </p:spPr>
        <p:txBody>
          <a:bodyPr wrap="square" lIns="0" rIns="0" tIns="0" bIns="0" anchor="t">
            <a:spAutoFit/>
          </a:bodyPr>
          <a:lstStyle/>
          <a:p>
            <a:pPr algn="l">
              <a:lnSpc>
                <a:spcPct val="95000"/>
              </a:lnSpc>
              <a:spcAft>
                <a:spcPts val="0"/>
              </a:spcAft>
            </a:pPr>
            <a:r>
              <a:rPr sz="3800" b="1" i="0">
                <a:solidFill>
                  <a:srgbClr val="12181D"/>
                </a:solidFill>
                <a:latin typeface="Trebuchet MS"/>
              </a:rPr>
              <a:t>Ce dont on peut être à peu près sûr</a:t>
            </a:r>
          </a:p>
        </p:txBody>
      </p:sp>
      <p:sp>
        <p:nvSpPr>
          <p:cNvPr id="5" name="TextBox 4"/>
          <p:cNvSpPr txBox="1"/>
          <p:nvPr/>
        </p:nvSpPr>
        <p:spPr>
          <a:xfrm>
            <a:off x="777240" y="2331720"/>
            <a:ext cx="274320" cy="274320"/>
          </a:xfrm>
          <a:prstGeom prst="rect">
            <a:avLst/>
          </a:prstGeom>
          <a:noFill/>
        </p:spPr>
        <p:txBody>
          <a:bodyPr wrap="square" lIns="0" rIns="0" tIns="0" bIns="0" anchor="t">
            <a:spAutoFit/>
          </a:bodyPr>
          <a:lstStyle/>
          <a:p>
            <a:pPr algn="l">
              <a:lnSpc>
                <a:spcPct val="112000"/>
              </a:lnSpc>
              <a:spcAft>
                <a:spcPts val="0"/>
              </a:spcAft>
            </a:pPr>
            <a:r>
              <a:rPr sz="1600" b="1" i="0">
                <a:solidFill>
                  <a:srgbClr val="A32B57"/>
                </a:solidFill>
                <a:latin typeface="Calibri"/>
              </a:rPr>
              <a:t>—</a:t>
            </a:r>
          </a:p>
        </p:txBody>
      </p:sp>
      <p:sp>
        <p:nvSpPr>
          <p:cNvPr id="6" name="TextBox 5"/>
          <p:cNvSpPr txBox="1"/>
          <p:nvPr/>
        </p:nvSpPr>
        <p:spPr>
          <a:xfrm>
            <a:off x="1088136" y="2331720"/>
            <a:ext cx="8741664" cy="365760"/>
          </a:xfrm>
          <a:prstGeom prst="rect">
            <a:avLst/>
          </a:prstGeom>
          <a:noFill/>
        </p:spPr>
        <p:txBody>
          <a:bodyPr wrap="square" lIns="0" rIns="0" tIns="0" bIns="0" anchor="t">
            <a:spAutoFit/>
          </a:bodyPr>
          <a:lstStyle/>
          <a:p>
            <a:pPr algn="l">
              <a:lnSpc>
                <a:spcPct val="114000"/>
              </a:lnSpc>
              <a:spcAft>
                <a:spcPts val="0"/>
              </a:spcAft>
            </a:pPr>
            <a:r>
              <a:rPr sz="1600" b="1" i="0">
                <a:solidFill>
                  <a:srgbClr val="12181D"/>
                </a:solidFill>
                <a:latin typeface="Calibri"/>
              </a:rPr>
              <a:t>Les agents s'installent dans les outils que vous utilisez déjà</a:t>
            </a:r>
            <a:r>
              <a:rPr sz="1600" b="0" i="0">
                <a:solidFill>
                  <a:srgbClr val="545F69"/>
                </a:solidFill>
                <a:latin typeface="Calibri"/>
              </a:rPr>
              <a:t> : messagerie, traitement de texte, tableur, navigateur. Vous n'aurez rien à installer — ils apparaîtront.</a:t>
            </a:r>
          </a:p>
        </p:txBody>
      </p:sp>
      <p:sp>
        <p:nvSpPr>
          <p:cNvPr id="7" name="TextBox 6"/>
          <p:cNvSpPr txBox="1"/>
          <p:nvPr/>
        </p:nvSpPr>
        <p:spPr>
          <a:xfrm>
            <a:off x="777240" y="3126232"/>
            <a:ext cx="274320" cy="274320"/>
          </a:xfrm>
          <a:prstGeom prst="rect">
            <a:avLst/>
          </a:prstGeom>
          <a:noFill/>
        </p:spPr>
        <p:txBody>
          <a:bodyPr wrap="square" lIns="0" rIns="0" tIns="0" bIns="0" anchor="t">
            <a:spAutoFit/>
          </a:bodyPr>
          <a:lstStyle/>
          <a:p>
            <a:pPr algn="l">
              <a:lnSpc>
                <a:spcPct val="112000"/>
              </a:lnSpc>
              <a:spcAft>
                <a:spcPts val="0"/>
              </a:spcAft>
            </a:pPr>
            <a:r>
              <a:rPr sz="1600" b="1" i="0">
                <a:solidFill>
                  <a:srgbClr val="A32B57"/>
                </a:solidFill>
                <a:latin typeface="Calibri"/>
              </a:rPr>
              <a:t>—</a:t>
            </a:r>
          </a:p>
        </p:txBody>
      </p:sp>
      <p:sp>
        <p:nvSpPr>
          <p:cNvPr id="8" name="TextBox 7"/>
          <p:cNvSpPr txBox="1"/>
          <p:nvPr/>
        </p:nvSpPr>
        <p:spPr>
          <a:xfrm>
            <a:off x="1088136" y="3126232"/>
            <a:ext cx="8741664" cy="365760"/>
          </a:xfrm>
          <a:prstGeom prst="rect">
            <a:avLst/>
          </a:prstGeom>
          <a:noFill/>
        </p:spPr>
        <p:txBody>
          <a:bodyPr wrap="square" lIns="0" rIns="0" tIns="0" bIns="0" anchor="t">
            <a:spAutoFit/>
          </a:bodyPr>
          <a:lstStyle/>
          <a:p>
            <a:pPr algn="l">
              <a:lnSpc>
                <a:spcPct val="114000"/>
              </a:lnSpc>
              <a:spcAft>
                <a:spcPts val="0"/>
              </a:spcAft>
            </a:pPr>
            <a:r>
              <a:rPr sz="1600" b="1" i="0">
                <a:solidFill>
                  <a:srgbClr val="12181D"/>
                </a:solidFill>
                <a:latin typeface="Calibri"/>
              </a:rPr>
              <a:t>La qualité du français continue de progresser</a:t>
            </a:r>
            <a:r>
              <a:rPr sz="1600" b="0" i="0">
                <a:solidFill>
                  <a:srgbClr val="545F69"/>
                </a:solidFill>
                <a:latin typeface="Calibri"/>
              </a:rPr>
              <a:t>, et l'écart entre les grands modèles se resserre sur les usages courants.</a:t>
            </a:r>
          </a:p>
        </p:txBody>
      </p:sp>
      <p:sp>
        <p:nvSpPr>
          <p:cNvPr id="9" name="TextBox 8"/>
          <p:cNvSpPr txBox="1"/>
          <p:nvPr/>
        </p:nvSpPr>
        <p:spPr>
          <a:xfrm>
            <a:off x="777240" y="3920743"/>
            <a:ext cx="274320" cy="274320"/>
          </a:xfrm>
          <a:prstGeom prst="rect">
            <a:avLst/>
          </a:prstGeom>
          <a:noFill/>
        </p:spPr>
        <p:txBody>
          <a:bodyPr wrap="square" lIns="0" rIns="0" tIns="0" bIns="0" anchor="t">
            <a:spAutoFit/>
          </a:bodyPr>
          <a:lstStyle/>
          <a:p>
            <a:pPr algn="l">
              <a:lnSpc>
                <a:spcPct val="112000"/>
              </a:lnSpc>
              <a:spcAft>
                <a:spcPts val="0"/>
              </a:spcAft>
            </a:pPr>
            <a:r>
              <a:rPr sz="1600" b="1" i="0">
                <a:solidFill>
                  <a:srgbClr val="A32B57"/>
                </a:solidFill>
                <a:latin typeface="Calibri"/>
              </a:rPr>
              <a:t>—</a:t>
            </a:r>
          </a:p>
        </p:txBody>
      </p:sp>
      <p:sp>
        <p:nvSpPr>
          <p:cNvPr id="10" name="TextBox 9"/>
          <p:cNvSpPr txBox="1"/>
          <p:nvPr/>
        </p:nvSpPr>
        <p:spPr>
          <a:xfrm>
            <a:off x="1088136" y="3920743"/>
            <a:ext cx="8741664" cy="365760"/>
          </a:xfrm>
          <a:prstGeom prst="rect">
            <a:avLst/>
          </a:prstGeom>
          <a:noFill/>
        </p:spPr>
        <p:txBody>
          <a:bodyPr wrap="square" lIns="0" rIns="0" tIns="0" bIns="0" anchor="t">
            <a:spAutoFit/>
          </a:bodyPr>
          <a:lstStyle/>
          <a:p>
            <a:pPr algn="l">
              <a:lnSpc>
                <a:spcPct val="114000"/>
              </a:lnSpc>
              <a:spcAft>
                <a:spcPts val="0"/>
              </a:spcAft>
            </a:pPr>
            <a:r>
              <a:rPr sz="1600" b="1" i="0">
                <a:solidFill>
                  <a:srgbClr val="12181D"/>
                </a:solidFill>
                <a:latin typeface="Calibri"/>
              </a:rPr>
              <a:t>Le coût baisse encore.</a:t>
            </a:r>
            <a:r>
              <a:rPr sz="1600" b="0" i="0">
                <a:solidFill>
                  <a:srgbClr val="545F69"/>
                </a:solidFill>
                <a:latin typeface="Calibri"/>
              </a:rPr>
              <a:t> Ce qui était réservé aux abonnements payants passe progressivement dans les offres de base.</a:t>
            </a:r>
          </a:p>
        </p:txBody>
      </p:sp>
      <p:sp>
        <p:nvSpPr>
          <p:cNvPr id="11" name="TextBox 10"/>
          <p:cNvSpPr txBox="1"/>
          <p:nvPr/>
        </p:nvSpPr>
        <p:spPr>
          <a:xfrm>
            <a:off x="777240" y="4715256"/>
            <a:ext cx="274320" cy="274320"/>
          </a:xfrm>
          <a:prstGeom prst="rect">
            <a:avLst/>
          </a:prstGeom>
          <a:noFill/>
        </p:spPr>
        <p:txBody>
          <a:bodyPr wrap="square" lIns="0" rIns="0" tIns="0" bIns="0" anchor="t">
            <a:spAutoFit/>
          </a:bodyPr>
          <a:lstStyle/>
          <a:p>
            <a:pPr algn="l">
              <a:lnSpc>
                <a:spcPct val="112000"/>
              </a:lnSpc>
              <a:spcAft>
                <a:spcPts val="0"/>
              </a:spcAft>
            </a:pPr>
            <a:r>
              <a:rPr sz="1600" b="1" i="0">
                <a:solidFill>
                  <a:srgbClr val="A32B57"/>
                </a:solidFill>
                <a:latin typeface="Calibri"/>
              </a:rPr>
              <a:t>—</a:t>
            </a:r>
          </a:p>
        </p:txBody>
      </p:sp>
      <p:sp>
        <p:nvSpPr>
          <p:cNvPr id="12" name="TextBox 11"/>
          <p:cNvSpPr txBox="1"/>
          <p:nvPr/>
        </p:nvSpPr>
        <p:spPr>
          <a:xfrm>
            <a:off x="1088136" y="4715256"/>
            <a:ext cx="8741664" cy="365760"/>
          </a:xfrm>
          <a:prstGeom prst="rect">
            <a:avLst/>
          </a:prstGeom>
          <a:noFill/>
        </p:spPr>
        <p:txBody>
          <a:bodyPr wrap="square" lIns="0" rIns="0" tIns="0" bIns="0" anchor="t">
            <a:spAutoFit/>
          </a:bodyPr>
          <a:lstStyle/>
          <a:p>
            <a:pPr algn="l">
              <a:lnSpc>
                <a:spcPct val="114000"/>
              </a:lnSpc>
              <a:spcAft>
                <a:spcPts val="0"/>
              </a:spcAft>
            </a:pPr>
            <a:r>
              <a:rPr sz="1600" b="1" i="0">
                <a:solidFill>
                  <a:srgbClr val="12181D"/>
                </a:solidFill>
                <a:latin typeface="Calibri"/>
              </a:rPr>
              <a:t>Ce qui ne changera pas</a:t>
            </a:r>
            <a:r>
              <a:rPr sz="1600" b="0" i="0">
                <a:solidFill>
                  <a:srgbClr val="545F69"/>
                </a:solidFill>
                <a:latin typeface="Calibri"/>
              </a:rPr>
              <a:t> : la nécessité de vérifier, et la responsabilité humaine.</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77240" y="402336"/>
            <a:ext cx="10637215" cy="32004"/>
          </a:xfrm>
          <a:prstGeom prst="rect">
            <a:avLst/>
          </a:prstGeom>
          <a:solidFill>
            <a:srgbClr val="12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77240" y="502920"/>
            <a:ext cx="10637215" cy="274320"/>
          </a:xfrm>
          <a:prstGeom prst="rect">
            <a:avLst/>
          </a:prstGeom>
          <a:noFill/>
        </p:spPr>
        <p:txBody>
          <a:bodyPr wrap="square" lIns="0" rIns="0" tIns="0" bIns="0" anchor="t">
            <a:spAutoFit/>
          </a:bodyPr>
          <a:lstStyle/>
          <a:p>
            <a:pPr algn="l">
              <a:lnSpc>
                <a:spcPct val="112000"/>
              </a:lnSpc>
              <a:spcAft>
                <a:spcPts val="0"/>
              </a:spcAft>
            </a:pPr>
            <a:r>
              <a:rPr sz="1050" b="1" i="0" spc="150">
                <a:solidFill>
                  <a:srgbClr val="A32B57"/>
                </a:solidFill>
                <a:latin typeface="Consolas"/>
              </a:rPr>
              <a:t>HORIZON 2 · TROIS ANS</a:t>
            </a:r>
          </a:p>
        </p:txBody>
      </p:sp>
      <p:sp>
        <p:nvSpPr>
          <p:cNvPr id="4" name="TextBox 3"/>
          <p:cNvSpPr txBox="1"/>
          <p:nvPr/>
        </p:nvSpPr>
        <p:spPr>
          <a:xfrm>
            <a:off x="777240" y="868680"/>
            <a:ext cx="10637215" cy="1371600"/>
          </a:xfrm>
          <a:prstGeom prst="rect">
            <a:avLst/>
          </a:prstGeom>
          <a:noFill/>
        </p:spPr>
        <p:txBody>
          <a:bodyPr wrap="square" lIns="0" rIns="0" tIns="0" bIns="0" anchor="t">
            <a:spAutoFit/>
          </a:bodyPr>
          <a:lstStyle/>
          <a:p>
            <a:pPr algn="l">
              <a:lnSpc>
                <a:spcPct val="95000"/>
              </a:lnSpc>
              <a:spcAft>
                <a:spcPts val="0"/>
              </a:spcAft>
            </a:pPr>
            <a:r>
              <a:rPr sz="3800" b="1" i="0">
                <a:solidFill>
                  <a:srgbClr val="12181D"/>
                </a:solidFill>
                <a:latin typeface="Trebuchet MS"/>
              </a:rPr>
              <a:t>Ce qui va se déplacer dans les métiers</a:t>
            </a:r>
          </a:p>
        </p:txBody>
      </p:sp>
      <p:sp>
        <p:nvSpPr>
          <p:cNvPr id="5" name="TextBox 4"/>
          <p:cNvSpPr txBox="1"/>
          <p:nvPr/>
        </p:nvSpPr>
        <p:spPr>
          <a:xfrm>
            <a:off x="777240" y="2331720"/>
            <a:ext cx="274320" cy="274320"/>
          </a:xfrm>
          <a:prstGeom prst="rect">
            <a:avLst/>
          </a:prstGeom>
          <a:noFill/>
        </p:spPr>
        <p:txBody>
          <a:bodyPr wrap="square" lIns="0" rIns="0" tIns="0" bIns="0" anchor="t">
            <a:spAutoFit/>
          </a:bodyPr>
          <a:lstStyle/>
          <a:p>
            <a:pPr algn="l">
              <a:lnSpc>
                <a:spcPct val="112000"/>
              </a:lnSpc>
              <a:spcAft>
                <a:spcPts val="0"/>
              </a:spcAft>
            </a:pPr>
            <a:r>
              <a:rPr sz="1600" b="1" i="0">
                <a:solidFill>
                  <a:srgbClr val="A32B57"/>
                </a:solidFill>
                <a:latin typeface="Calibri"/>
              </a:rPr>
              <a:t>—</a:t>
            </a:r>
          </a:p>
        </p:txBody>
      </p:sp>
      <p:sp>
        <p:nvSpPr>
          <p:cNvPr id="6" name="TextBox 5"/>
          <p:cNvSpPr txBox="1"/>
          <p:nvPr/>
        </p:nvSpPr>
        <p:spPr>
          <a:xfrm>
            <a:off x="1088136" y="2331720"/>
            <a:ext cx="8741664" cy="365760"/>
          </a:xfrm>
          <a:prstGeom prst="rect">
            <a:avLst/>
          </a:prstGeom>
          <a:noFill/>
        </p:spPr>
        <p:txBody>
          <a:bodyPr wrap="square" lIns="0" rIns="0" tIns="0" bIns="0" anchor="t">
            <a:spAutoFit/>
          </a:bodyPr>
          <a:lstStyle/>
          <a:p>
            <a:pPr algn="l">
              <a:lnSpc>
                <a:spcPct val="114000"/>
              </a:lnSpc>
              <a:spcAft>
                <a:spcPts val="0"/>
              </a:spcAft>
            </a:pPr>
            <a:r>
              <a:rPr sz="1600" b="1" i="0">
                <a:solidFill>
                  <a:srgbClr val="12181D"/>
                </a:solidFill>
                <a:latin typeface="Calibri"/>
              </a:rPr>
              <a:t>Ce qui disparaît</a:t>
            </a:r>
            <a:r>
              <a:rPr sz="1600" b="0" i="0">
                <a:solidFill>
                  <a:srgbClr val="545F69"/>
                </a:solidFill>
                <a:latin typeface="Calibri"/>
              </a:rPr>
              <a:t> : les tâches de production de premier jet — mise en forme, rédaction standard, saisie, tri, traduction de routine.</a:t>
            </a:r>
          </a:p>
        </p:txBody>
      </p:sp>
      <p:sp>
        <p:nvSpPr>
          <p:cNvPr id="7" name="TextBox 6"/>
          <p:cNvSpPr txBox="1"/>
          <p:nvPr/>
        </p:nvSpPr>
        <p:spPr>
          <a:xfrm>
            <a:off x="777240" y="3126232"/>
            <a:ext cx="274320" cy="274320"/>
          </a:xfrm>
          <a:prstGeom prst="rect">
            <a:avLst/>
          </a:prstGeom>
          <a:noFill/>
        </p:spPr>
        <p:txBody>
          <a:bodyPr wrap="square" lIns="0" rIns="0" tIns="0" bIns="0" anchor="t">
            <a:spAutoFit/>
          </a:bodyPr>
          <a:lstStyle/>
          <a:p>
            <a:pPr algn="l">
              <a:lnSpc>
                <a:spcPct val="112000"/>
              </a:lnSpc>
              <a:spcAft>
                <a:spcPts val="0"/>
              </a:spcAft>
            </a:pPr>
            <a:r>
              <a:rPr sz="1600" b="1" i="0">
                <a:solidFill>
                  <a:srgbClr val="A32B57"/>
                </a:solidFill>
                <a:latin typeface="Calibri"/>
              </a:rPr>
              <a:t>—</a:t>
            </a:r>
          </a:p>
        </p:txBody>
      </p:sp>
      <p:sp>
        <p:nvSpPr>
          <p:cNvPr id="8" name="TextBox 7"/>
          <p:cNvSpPr txBox="1"/>
          <p:nvPr/>
        </p:nvSpPr>
        <p:spPr>
          <a:xfrm>
            <a:off x="1088136" y="3126232"/>
            <a:ext cx="8741664" cy="365760"/>
          </a:xfrm>
          <a:prstGeom prst="rect">
            <a:avLst/>
          </a:prstGeom>
          <a:noFill/>
        </p:spPr>
        <p:txBody>
          <a:bodyPr wrap="square" lIns="0" rIns="0" tIns="0" bIns="0" anchor="t">
            <a:spAutoFit/>
          </a:bodyPr>
          <a:lstStyle/>
          <a:p>
            <a:pPr algn="l">
              <a:lnSpc>
                <a:spcPct val="114000"/>
              </a:lnSpc>
              <a:spcAft>
                <a:spcPts val="0"/>
              </a:spcAft>
            </a:pPr>
            <a:r>
              <a:rPr sz="1600" b="1" i="0">
                <a:solidFill>
                  <a:srgbClr val="12181D"/>
                </a:solidFill>
                <a:latin typeface="Calibri"/>
              </a:rPr>
              <a:t>Ce qui se transforme</a:t>
            </a:r>
            <a:r>
              <a:rPr sz="1600" b="0" i="0">
                <a:solidFill>
                  <a:srgbClr val="545F69"/>
                </a:solidFill>
                <a:latin typeface="Calibri"/>
              </a:rPr>
              <a:t> : le travail se déplace vers la formulation de la demande, la vérification et l'arbitrage. On produit moins, on valide davantage.</a:t>
            </a:r>
          </a:p>
        </p:txBody>
      </p:sp>
      <p:sp>
        <p:nvSpPr>
          <p:cNvPr id="9" name="TextBox 8"/>
          <p:cNvSpPr txBox="1"/>
          <p:nvPr/>
        </p:nvSpPr>
        <p:spPr>
          <a:xfrm>
            <a:off x="777240" y="3920743"/>
            <a:ext cx="274320" cy="274320"/>
          </a:xfrm>
          <a:prstGeom prst="rect">
            <a:avLst/>
          </a:prstGeom>
          <a:noFill/>
        </p:spPr>
        <p:txBody>
          <a:bodyPr wrap="square" lIns="0" rIns="0" tIns="0" bIns="0" anchor="t">
            <a:spAutoFit/>
          </a:bodyPr>
          <a:lstStyle/>
          <a:p>
            <a:pPr algn="l">
              <a:lnSpc>
                <a:spcPct val="112000"/>
              </a:lnSpc>
              <a:spcAft>
                <a:spcPts val="0"/>
              </a:spcAft>
            </a:pPr>
            <a:r>
              <a:rPr sz="1600" b="1" i="0">
                <a:solidFill>
                  <a:srgbClr val="A32B57"/>
                </a:solidFill>
                <a:latin typeface="Calibri"/>
              </a:rPr>
              <a:t>—</a:t>
            </a:r>
          </a:p>
        </p:txBody>
      </p:sp>
      <p:sp>
        <p:nvSpPr>
          <p:cNvPr id="10" name="TextBox 9"/>
          <p:cNvSpPr txBox="1"/>
          <p:nvPr/>
        </p:nvSpPr>
        <p:spPr>
          <a:xfrm>
            <a:off x="1088136" y="3920743"/>
            <a:ext cx="8741664" cy="365760"/>
          </a:xfrm>
          <a:prstGeom prst="rect">
            <a:avLst/>
          </a:prstGeom>
          <a:noFill/>
        </p:spPr>
        <p:txBody>
          <a:bodyPr wrap="square" lIns="0" rIns="0" tIns="0" bIns="0" anchor="t">
            <a:spAutoFit/>
          </a:bodyPr>
          <a:lstStyle/>
          <a:p>
            <a:pPr algn="l">
              <a:lnSpc>
                <a:spcPct val="114000"/>
              </a:lnSpc>
              <a:spcAft>
                <a:spcPts val="0"/>
              </a:spcAft>
            </a:pPr>
            <a:r>
              <a:rPr sz="1600" b="1" i="0">
                <a:solidFill>
                  <a:srgbClr val="12181D"/>
                </a:solidFill>
                <a:latin typeface="Calibri"/>
              </a:rPr>
              <a:t>Ce qui prend de la valeur</a:t>
            </a:r>
            <a:r>
              <a:rPr sz="1600" b="0" i="0">
                <a:solidFill>
                  <a:srgbClr val="545F69"/>
                </a:solidFill>
                <a:latin typeface="Calibri"/>
              </a:rPr>
              <a:t> : la relation, le jugement, la responsabilité, la connaissance fine d'un métier et d'un contexte — tout ce qui ne s'écrit pas dans un prompt.</a:t>
            </a:r>
          </a:p>
        </p:txBody>
      </p:sp>
      <p:sp>
        <p:nvSpPr>
          <p:cNvPr id="11" name="TextBox 10"/>
          <p:cNvSpPr txBox="1"/>
          <p:nvPr/>
        </p:nvSpPr>
        <p:spPr>
          <a:xfrm>
            <a:off x="777240" y="4715256"/>
            <a:ext cx="274320" cy="274320"/>
          </a:xfrm>
          <a:prstGeom prst="rect">
            <a:avLst/>
          </a:prstGeom>
          <a:noFill/>
        </p:spPr>
        <p:txBody>
          <a:bodyPr wrap="square" lIns="0" rIns="0" tIns="0" bIns="0" anchor="t">
            <a:spAutoFit/>
          </a:bodyPr>
          <a:lstStyle/>
          <a:p>
            <a:pPr algn="l">
              <a:lnSpc>
                <a:spcPct val="112000"/>
              </a:lnSpc>
              <a:spcAft>
                <a:spcPts val="0"/>
              </a:spcAft>
            </a:pPr>
            <a:r>
              <a:rPr sz="1600" b="1" i="0">
                <a:solidFill>
                  <a:srgbClr val="A32B57"/>
                </a:solidFill>
                <a:latin typeface="Calibri"/>
              </a:rPr>
              <a:t>—</a:t>
            </a:r>
          </a:p>
        </p:txBody>
      </p:sp>
      <p:sp>
        <p:nvSpPr>
          <p:cNvPr id="12" name="TextBox 11"/>
          <p:cNvSpPr txBox="1"/>
          <p:nvPr/>
        </p:nvSpPr>
        <p:spPr>
          <a:xfrm>
            <a:off x="1088136" y="4715256"/>
            <a:ext cx="8741664" cy="365760"/>
          </a:xfrm>
          <a:prstGeom prst="rect">
            <a:avLst/>
          </a:prstGeom>
          <a:noFill/>
        </p:spPr>
        <p:txBody>
          <a:bodyPr wrap="square" lIns="0" rIns="0" tIns="0" bIns="0" anchor="t">
            <a:spAutoFit/>
          </a:bodyPr>
          <a:lstStyle/>
          <a:p>
            <a:pPr algn="l">
              <a:lnSpc>
                <a:spcPct val="114000"/>
              </a:lnSpc>
              <a:spcAft>
                <a:spcPts val="0"/>
              </a:spcAft>
            </a:pPr>
            <a:r>
              <a:rPr sz="1600" b="1" i="0">
                <a:solidFill>
                  <a:srgbClr val="12181D"/>
                </a:solidFill>
                <a:latin typeface="Calibri"/>
              </a:rPr>
              <a:t>Ce qui apparaît</a:t>
            </a:r>
            <a:r>
              <a:rPr sz="1600" b="0" i="0">
                <a:solidFill>
                  <a:srgbClr val="545F69"/>
                </a:solidFill>
                <a:latin typeface="Calibri"/>
              </a:rPr>
              <a:t> : des rôles d'assemblage et de supervision, dans à peu près tous les services.</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77240" y="402336"/>
            <a:ext cx="10637215" cy="32004"/>
          </a:xfrm>
          <a:prstGeom prst="rect">
            <a:avLst/>
          </a:prstGeom>
          <a:solidFill>
            <a:srgbClr val="12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77240" y="502920"/>
            <a:ext cx="10637215" cy="274320"/>
          </a:xfrm>
          <a:prstGeom prst="rect">
            <a:avLst/>
          </a:prstGeom>
          <a:noFill/>
        </p:spPr>
        <p:txBody>
          <a:bodyPr wrap="square" lIns="0" rIns="0" tIns="0" bIns="0" anchor="t">
            <a:spAutoFit/>
          </a:bodyPr>
          <a:lstStyle/>
          <a:p>
            <a:pPr algn="l">
              <a:lnSpc>
                <a:spcPct val="112000"/>
              </a:lnSpc>
              <a:spcAft>
                <a:spcPts val="0"/>
              </a:spcAft>
            </a:pPr>
            <a:r>
              <a:rPr sz="1050" b="1" i="0" spc="150">
                <a:solidFill>
                  <a:srgbClr val="A32B57"/>
                </a:solidFill>
                <a:latin typeface="Consolas"/>
              </a:rPr>
              <a:t>HORIZON 3 · DIX ANS</a:t>
            </a:r>
          </a:p>
        </p:txBody>
      </p:sp>
      <p:sp>
        <p:nvSpPr>
          <p:cNvPr id="4" name="TextBox 3"/>
          <p:cNvSpPr txBox="1"/>
          <p:nvPr/>
        </p:nvSpPr>
        <p:spPr>
          <a:xfrm>
            <a:off x="777240" y="868680"/>
            <a:ext cx="10637215" cy="1371600"/>
          </a:xfrm>
          <a:prstGeom prst="rect">
            <a:avLst/>
          </a:prstGeom>
          <a:noFill/>
        </p:spPr>
        <p:txBody>
          <a:bodyPr wrap="square" lIns="0" rIns="0" tIns="0" bIns="0" anchor="t">
            <a:spAutoFit/>
          </a:bodyPr>
          <a:lstStyle/>
          <a:p>
            <a:pPr algn="l">
              <a:lnSpc>
                <a:spcPct val="95000"/>
              </a:lnSpc>
              <a:spcAft>
                <a:spcPts val="0"/>
              </a:spcAft>
            </a:pPr>
            <a:r>
              <a:rPr sz="3800" b="1" i="0">
                <a:solidFill>
                  <a:srgbClr val="12181D"/>
                </a:solidFill>
                <a:latin typeface="Trebuchet MS"/>
              </a:rPr>
              <a:t>Là, personne ne sait</a:t>
            </a:r>
          </a:p>
        </p:txBody>
      </p:sp>
      <p:sp>
        <p:nvSpPr>
          <p:cNvPr id="5" name="TextBox 4"/>
          <p:cNvSpPr txBox="1"/>
          <p:nvPr/>
        </p:nvSpPr>
        <p:spPr>
          <a:xfrm>
            <a:off x="777240" y="2331720"/>
            <a:ext cx="274320" cy="274320"/>
          </a:xfrm>
          <a:prstGeom prst="rect">
            <a:avLst/>
          </a:prstGeom>
          <a:noFill/>
        </p:spPr>
        <p:txBody>
          <a:bodyPr wrap="square" lIns="0" rIns="0" tIns="0" bIns="0" anchor="t">
            <a:spAutoFit/>
          </a:bodyPr>
          <a:lstStyle/>
          <a:p>
            <a:pPr algn="l">
              <a:lnSpc>
                <a:spcPct val="112000"/>
              </a:lnSpc>
              <a:spcAft>
                <a:spcPts val="0"/>
              </a:spcAft>
            </a:pPr>
            <a:r>
              <a:rPr sz="1650" b="1" i="0">
                <a:solidFill>
                  <a:srgbClr val="A32B57"/>
                </a:solidFill>
                <a:latin typeface="Calibri"/>
              </a:rPr>
              <a:t>—</a:t>
            </a:r>
          </a:p>
        </p:txBody>
      </p:sp>
      <p:sp>
        <p:nvSpPr>
          <p:cNvPr id="6" name="TextBox 5"/>
          <p:cNvSpPr txBox="1"/>
          <p:nvPr/>
        </p:nvSpPr>
        <p:spPr>
          <a:xfrm>
            <a:off x="1088136" y="2331720"/>
            <a:ext cx="8741664" cy="365760"/>
          </a:xfrm>
          <a:prstGeom prst="rect">
            <a:avLst/>
          </a:prstGeom>
          <a:noFill/>
        </p:spPr>
        <p:txBody>
          <a:bodyPr wrap="square" lIns="0" rIns="0" tIns="0" bIns="0" anchor="t">
            <a:spAutoFit/>
          </a:bodyPr>
          <a:lstStyle/>
          <a:p>
            <a:pPr algn="l">
              <a:lnSpc>
                <a:spcPct val="114000"/>
              </a:lnSpc>
              <a:spcAft>
                <a:spcPts val="0"/>
              </a:spcAft>
            </a:pPr>
            <a:r>
              <a:rPr sz="1650" b="0" i="0">
                <a:solidFill>
                  <a:srgbClr val="545F69"/>
                </a:solidFill>
                <a:latin typeface="Calibri"/>
              </a:rPr>
              <a:t>Les spécialistes eux-mêmes sont en désaccord profond, et les prévisions passées se sont trompées </a:t>
            </a:r>
            <a:r>
              <a:rPr sz="1650" b="1" i="0">
                <a:solidFill>
                  <a:srgbClr val="12181D"/>
                </a:solidFill>
                <a:latin typeface="Calibri"/>
              </a:rPr>
              <a:t>dans les deux sens</a:t>
            </a:r>
            <a:r>
              <a:rPr sz="1650" b="0" i="0">
                <a:solidFill>
                  <a:srgbClr val="545F69"/>
                </a:solidFill>
                <a:latin typeface="Calibri"/>
              </a:rPr>
              <a:t> : trop optimistes en 1960, beaucoup trop pessimistes en 2015.</a:t>
            </a:r>
          </a:p>
        </p:txBody>
      </p:sp>
      <p:sp>
        <p:nvSpPr>
          <p:cNvPr id="7" name="TextBox 6"/>
          <p:cNvSpPr txBox="1"/>
          <p:nvPr/>
        </p:nvSpPr>
        <p:spPr>
          <a:xfrm>
            <a:off x="777240" y="3142488"/>
            <a:ext cx="274320" cy="274320"/>
          </a:xfrm>
          <a:prstGeom prst="rect">
            <a:avLst/>
          </a:prstGeom>
          <a:noFill/>
        </p:spPr>
        <p:txBody>
          <a:bodyPr wrap="square" lIns="0" rIns="0" tIns="0" bIns="0" anchor="t">
            <a:spAutoFit/>
          </a:bodyPr>
          <a:lstStyle/>
          <a:p>
            <a:pPr algn="l">
              <a:lnSpc>
                <a:spcPct val="112000"/>
              </a:lnSpc>
              <a:spcAft>
                <a:spcPts val="0"/>
              </a:spcAft>
            </a:pPr>
            <a:r>
              <a:rPr sz="1650" b="1" i="0">
                <a:solidFill>
                  <a:srgbClr val="A32B57"/>
                </a:solidFill>
                <a:latin typeface="Calibri"/>
              </a:rPr>
              <a:t>—</a:t>
            </a:r>
          </a:p>
        </p:txBody>
      </p:sp>
      <p:sp>
        <p:nvSpPr>
          <p:cNvPr id="8" name="TextBox 7"/>
          <p:cNvSpPr txBox="1"/>
          <p:nvPr/>
        </p:nvSpPr>
        <p:spPr>
          <a:xfrm>
            <a:off x="1088136" y="3142488"/>
            <a:ext cx="8741664" cy="365760"/>
          </a:xfrm>
          <a:prstGeom prst="rect">
            <a:avLst/>
          </a:prstGeom>
          <a:noFill/>
        </p:spPr>
        <p:txBody>
          <a:bodyPr wrap="square" lIns="0" rIns="0" tIns="0" bIns="0" anchor="t">
            <a:spAutoFit/>
          </a:bodyPr>
          <a:lstStyle/>
          <a:p>
            <a:pPr algn="l">
              <a:lnSpc>
                <a:spcPct val="114000"/>
              </a:lnSpc>
              <a:spcAft>
                <a:spcPts val="0"/>
              </a:spcAft>
            </a:pPr>
            <a:r>
              <a:rPr sz="1650" b="0" i="0">
                <a:solidFill>
                  <a:srgbClr val="545F69"/>
                </a:solidFill>
                <a:latin typeface="Calibri"/>
              </a:rPr>
              <a:t>Ce qui se discute vraiment : jusqu'où va le raisonnement, ce qui restera hors de portée, et surtout </a:t>
            </a:r>
            <a:r>
              <a:rPr sz="1650" b="1" i="0">
                <a:solidFill>
                  <a:srgbClr val="12181D"/>
                </a:solidFill>
                <a:latin typeface="Calibri"/>
              </a:rPr>
              <a:t>qui décide</a:t>
            </a:r>
            <a:r>
              <a:rPr sz="1650" b="0" i="0">
                <a:solidFill>
                  <a:srgbClr val="545F69"/>
                </a:solidFill>
                <a:latin typeface="Calibri"/>
              </a:rPr>
              <a:t> de la manière dont ces systèmes sont déployés.</a:t>
            </a:r>
          </a:p>
        </p:txBody>
      </p:sp>
      <p:sp>
        <p:nvSpPr>
          <p:cNvPr id="9" name="TextBox 8"/>
          <p:cNvSpPr txBox="1"/>
          <p:nvPr/>
        </p:nvSpPr>
        <p:spPr>
          <a:xfrm>
            <a:off x="777240" y="3953256"/>
            <a:ext cx="274320" cy="274320"/>
          </a:xfrm>
          <a:prstGeom prst="rect">
            <a:avLst/>
          </a:prstGeom>
          <a:noFill/>
        </p:spPr>
        <p:txBody>
          <a:bodyPr wrap="square" lIns="0" rIns="0" tIns="0" bIns="0" anchor="t">
            <a:spAutoFit/>
          </a:bodyPr>
          <a:lstStyle/>
          <a:p>
            <a:pPr algn="l">
              <a:lnSpc>
                <a:spcPct val="112000"/>
              </a:lnSpc>
              <a:spcAft>
                <a:spcPts val="0"/>
              </a:spcAft>
            </a:pPr>
            <a:r>
              <a:rPr sz="1650" b="1" i="0">
                <a:solidFill>
                  <a:srgbClr val="A32B57"/>
                </a:solidFill>
                <a:latin typeface="Calibri"/>
              </a:rPr>
              <a:t>—</a:t>
            </a:r>
          </a:p>
        </p:txBody>
      </p:sp>
      <p:sp>
        <p:nvSpPr>
          <p:cNvPr id="10" name="TextBox 9"/>
          <p:cNvSpPr txBox="1"/>
          <p:nvPr/>
        </p:nvSpPr>
        <p:spPr>
          <a:xfrm>
            <a:off x="1088136" y="3953256"/>
            <a:ext cx="8741664" cy="365760"/>
          </a:xfrm>
          <a:prstGeom prst="rect">
            <a:avLst/>
          </a:prstGeom>
          <a:noFill/>
        </p:spPr>
        <p:txBody>
          <a:bodyPr wrap="square" lIns="0" rIns="0" tIns="0" bIns="0" anchor="t">
            <a:spAutoFit/>
          </a:bodyPr>
          <a:lstStyle/>
          <a:p>
            <a:pPr algn="l">
              <a:lnSpc>
                <a:spcPct val="114000"/>
              </a:lnSpc>
              <a:spcAft>
                <a:spcPts val="0"/>
              </a:spcAft>
            </a:pPr>
            <a:r>
              <a:rPr sz="1650" b="1" i="0">
                <a:solidFill>
                  <a:srgbClr val="12181D"/>
                </a:solidFill>
                <a:latin typeface="Calibri"/>
              </a:rPr>
              <a:t>Le seul conseil solide à dix ans</a:t>
            </a:r>
            <a:r>
              <a:rPr sz="1650" b="0" i="0">
                <a:solidFill>
                  <a:srgbClr val="545F69"/>
                </a:solidFill>
                <a:latin typeface="Calibri"/>
              </a:rPr>
              <a:t> : entretenir sa capacité à apprendre vite. Ce n'est pas une formule — c'est ce qui a protégé les gens à chaque vague technologique précédente.</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01168" cy="6858000"/>
          </a:xfrm>
          <a:prstGeom prst="rect">
            <a:avLst/>
          </a:prstGeom>
          <a:solidFill>
            <a:srgbClr val="A32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548640"/>
            <a:ext cx="2651760" cy="384048"/>
          </a:xfrm>
          <a:prstGeom prst="rect">
            <a:avLst/>
          </a:prstGeom>
          <a:solidFill>
            <a:srgbClr val="A32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41832" y="621792"/>
            <a:ext cx="2377440" cy="274320"/>
          </a:xfrm>
          <a:prstGeom prst="rect">
            <a:avLst/>
          </a:prstGeom>
          <a:noFill/>
        </p:spPr>
        <p:txBody>
          <a:bodyPr wrap="square" lIns="0" rIns="0" tIns="0" bIns="0" anchor="t">
            <a:spAutoFit/>
          </a:bodyPr>
          <a:lstStyle/>
          <a:p>
            <a:pPr algn="l">
              <a:lnSpc>
                <a:spcPct val="112000"/>
              </a:lnSpc>
              <a:spcAft>
                <a:spcPts val="0"/>
              </a:spcAft>
            </a:pPr>
            <a:r>
              <a:rPr sz="1150" b="1" i="0" spc="150">
                <a:solidFill>
                  <a:srgbClr val="FFFFFF"/>
                </a:solidFill>
                <a:latin typeface="Consolas"/>
              </a:rPr>
              <a:t>ATELIER 9 · 30 MIN</a:t>
            </a:r>
          </a:p>
        </p:txBody>
      </p:sp>
      <p:sp>
        <p:nvSpPr>
          <p:cNvPr id="6" name="TextBox 5"/>
          <p:cNvSpPr txBox="1"/>
          <p:nvPr/>
        </p:nvSpPr>
        <p:spPr>
          <a:xfrm>
            <a:off x="777240" y="1143000"/>
            <a:ext cx="10637215" cy="1371600"/>
          </a:xfrm>
          <a:prstGeom prst="rect">
            <a:avLst/>
          </a:prstGeom>
          <a:noFill/>
        </p:spPr>
        <p:txBody>
          <a:bodyPr wrap="square" lIns="0" rIns="0" tIns="0" bIns="0" anchor="t">
            <a:spAutoFit/>
          </a:bodyPr>
          <a:lstStyle/>
          <a:p>
            <a:pPr algn="l">
              <a:lnSpc>
                <a:spcPct val="95000"/>
              </a:lnSpc>
              <a:spcAft>
                <a:spcPts val="0"/>
              </a:spcAft>
            </a:pPr>
            <a:r>
              <a:rPr sz="3600" b="1" i="0">
                <a:solidFill>
                  <a:srgbClr val="12181D"/>
                </a:solidFill>
                <a:latin typeface="Trebuchet MS"/>
              </a:rPr>
              <a:t>Mon plan à trente jours</a:t>
            </a:r>
          </a:p>
        </p:txBody>
      </p:sp>
      <p:sp>
        <p:nvSpPr>
          <p:cNvPr id="7" name="TextBox 6"/>
          <p:cNvSpPr txBox="1"/>
          <p:nvPr/>
        </p:nvSpPr>
        <p:spPr>
          <a:xfrm>
            <a:off x="777240" y="2606040"/>
            <a:ext cx="2743200" cy="274320"/>
          </a:xfrm>
          <a:prstGeom prst="rect">
            <a:avLst/>
          </a:prstGeom>
          <a:noFill/>
        </p:spPr>
        <p:txBody>
          <a:bodyPr wrap="square" lIns="0" rIns="0" tIns="0" bIns="0" anchor="t">
            <a:spAutoFit/>
          </a:bodyPr>
          <a:lstStyle/>
          <a:p>
            <a:pPr algn="l">
              <a:lnSpc>
                <a:spcPct val="112000"/>
              </a:lnSpc>
              <a:spcAft>
                <a:spcPts val="0"/>
              </a:spcAft>
            </a:pPr>
            <a:r>
              <a:rPr sz="1000" b="1" i="0" spc="140">
                <a:solidFill>
                  <a:srgbClr val="A32B57"/>
                </a:solidFill>
                <a:latin typeface="Consolas"/>
              </a:rPr>
              <a:t>CONSIGNE</a:t>
            </a:r>
          </a:p>
        </p:txBody>
      </p:sp>
      <p:sp>
        <p:nvSpPr>
          <p:cNvPr id="8" name="TextBox 7"/>
          <p:cNvSpPr txBox="1"/>
          <p:nvPr/>
        </p:nvSpPr>
        <p:spPr>
          <a:xfrm>
            <a:off x="777240" y="2944368"/>
            <a:ext cx="274320" cy="274320"/>
          </a:xfrm>
          <a:prstGeom prst="rect">
            <a:avLst/>
          </a:prstGeom>
          <a:noFill/>
        </p:spPr>
        <p:txBody>
          <a:bodyPr wrap="square" lIns="0" rIns="0" tIns="0" bIns="0" anchor="t">
            <a:spAutoFit/>
          </a:bodyPr>
          <a:lstStyle/>
          <a:p>
            <a:pPr algn="l">
              <a:lnSpc>
                <a:spcPct val="112000"/>
              </a:lnSpc>
              <a:spcAft>
                <a:spcPts val="0"/>
              </a:spcAft>
            </a:pPr>
            <a:r>
              <a:rPr sz="1700" b="1" i="0">
                <a:solidFill>
                  <a:srgbClr val="A32B57"/>
                </a:solidFill>
                <a:latin typeface="Calibri"/>
              </a:rPr>
              <a:t>—</a:t>
            </a:r>
          </a:p>
        </p:txBody>
      </p:sp>
      <p:sp>
        <p:nvSpPr>
          <p:cNvPr id="9" name="TextBox 8"/>
          <p:cNvSpPr txBox="1"/>
          <p:nvPr/>
        </p:nvSpPr>
        <p:spPr>
          <a:xfrm>
            <a:off x="1088136" y="2944368"/>
            <a:ext cx="5632704" cy="365760"/>
          </a:xfrm>
          <a:prstGeom prst="rect">
            <a:avLst/>
          </a:prstGeom>
          <a:noFill/>
        </p:spPr>
        <p:txBody>
          <a:bodyPr wrap="square" lIns="0" rIns="0" tIns="0" bIns="0" anchor="t">
            <a:spAutoFit/>
          </a:bodyPr>
          <a:lstStyle/>
          <a:p>
            <a:pPr algn="l">
              <a:lnSpc>
                <a:spcPct val="114000"/>
              </a:lnSpc>
              <a:spcAft>
                <a:spcPts val="0"/>
              </a:spcAft>
            </a:pPr>
            <a:r>
              <a:rPr sz="1700" b="0" i="0">
                <a:solidFill>
                  <a:srgbClr val="12181D"/>
                </a:solidFill>
                <a:latin typeface="Calibri"/>
              </a:rPr>
              <a:t>Sur la carte qui vous a été remise, écrivez :</a:t>
            </a:r>
          </a:p>
        </p:txBody>
      </p:sp>
      <p:sp>
        <p:nvSpPr>
          <p:cNvPr id="10" name="TextBox 9"/>
          <p:cNvSpPr txBox="1"/>
          <p:nvPr/>
        </p:nvSpPr>
        <p:spPr>
          <a:xfrm>
            <a:off x="777240" y="3495040"/>
            <a:ext cx="274320" cy="274320"/>
          </a:xfrm>
          <a:prstGeom prst="rect">
            <a:avLst/>
          </a:prstGeom>
          <a:noFill/>
        </p:spPr>
        <p:txBody>
          <a:bodyPr wrap="square" lIns="0" rIns="0" tIns="0" bIns="0" anchor="t">
            <a:spAutoFit/>
          </a:bodyPr>
          <a:lstStyle/>
          <a:p>
            <a:pPr algn="l">
              <a:lnSpc>
                <a:spcPct val="112000"/>
              </a:lnSpc>
              <a:spcAft>
                <a:spcPts val="0"/>
              </a:spcAft>
            </a:pPr>
            <a:r>
              <a:rPr sz="1700" b="1" i="0">
                <a:solidFill>
                  <a:srgbClr val="A32B57"/>
                </a:solidFill>
                <a:latin typeface="Calibri"/>
              </a:rPr>
              <a:t>—</a:t>
            </a:r>
          </a:p>
        </p:txBody>
      </p:sp>
      <p:sp>
        <p:nvSpPr>
          <p:cNvPr id="11" name="TextBox 10"/>
          <p:cNvSpPr txBox="1"/>
          <p:nvPr/>
        </p:nvSpPr>
        <p:spPr>
          <a:xfrm>
            <a:off x="1088136" y="3495040"/>
            <a:ext cx="5632704" cy="365760"/>
          </a:xfrm>
          <a:prstGeom prst="rect">
            <a:avLst/>
          </a:prstGeom>
          <a:noFill/>
        </p:spPr>
        <p:txBody>
          <a:bodyPr wrap="square" lIns="0" rIns="0" tIns="0" bIns="0" anchor="t">
            <a:spAutoFit/>
          </a:bodyPr>
          <a:lstStyle/>
          <a:p>
            <a:pPr algn="l">
              <a:lnSpc>
                <a:spcPct val="114000"/>
              </a:lnSpc>
              <a:spcAft>
                <a:spcPts val="0"/>
              </a:spcAft>
            </a:pPr>
            <a:r>
              <a:rPr sz="1700" b="1" i="0">
                <a:solidFill>
                  <a:srgbClr val="12181D"/>
                </a:solidFill>
                <a:latin typeface="Calibri"/>
              </a:rPr>
              <a:t>Trois usages</a:t>
            </a:r>
            <a:r>
              <a:rPr sz="1700" b="0" i="0">
                <a:solidFill>
                  <a:srgbClr val="12181D"/>
                </a:solidFill>
                <a:latin typeface="Calibri"/>
              </a:rPr>
              <a:t> que vous mettez en place dès la semaine prochaine — précis, pas « utiliser l'IA ».</a:t>
            </a:r>
          </a:p>
        </p:txBody>
      </p:sp>
      <p:sp>
        <p:nvSpPr>
          <p:cNvPr id="12" name="TextBox 11"/>
          <p:cNvSpPr txBox="1"/>
          <p:nvPr/>
        </p:nvSpPr>
        <p:spPr>
          <a:xfrm>
            <a:off x="777240" y="4322064"/>
            <a:ext cx="274320" cy="274320"/>
          </a:xfrm>
          <a:prstGeom prst="rect">
            <a:avLst/>
          </a:prstGeom>
          <a:noFill/>
        </p:spPr>
        <p:txBody>
          <a:bodyPr wrap="square" lIns="0" rIns="0" tIns="0" bIns="0" anchor="t">
            <a:spAutoFit/>
          </a:bodyPr>
          <a:lstStyle/>
          <a:p>
            <a:pPr algn="l">
              <a:lnSpc>
                <a:spcPct val="112000"/>
              </a:lnSpc>
              <a:spcAft>
                <a:spcPts val="0"/>
              </a:spcAft>
            </a:pPr>
            <a:r>
              <a:rPr sz="1700" b="1" i="0">
                <a:solidFill>
                  <a:srgbClr val="A32B57"/>
                </a:solidFill>
                <a:latin typeface="Calibri"/>
              </a:rPr>
              <a:t>—</a:t>
            </a:r>
          </a:p>
        </p:txBody>
      </p:sp>
      <p:sp>
        <p:nvSpPr>
          <p:cNvPr id="13" name="TextBox 12"/>
          <p:cNvSpPr txBox="1"/>
          <p:nvPr/>
        </p:nvSpPr>
        <p:spPr>
          <a:xfrm>
            <a:off x="1088136" y="4322064"/>
            <a:ext cx="5632704" cy="365760"/>
          </a:xfrm>
          <a:prstGeom prst="rect">
            <a:avLst/>
          </a:prstGeom>
          <a:noFill/>
        </p:spPr>
        <p:txBody>
          <a:bodyPr wrap="square" lIns="0" rIns="0" tIns="0" bIns="0" anchor="t">
            <a:spAutoFit/>
          </a:bodyPr>
          <a:lstStyle/>
          <a:p>
            <a:pPr algn="l">
              <a:lnSpc>
                <a:spcPct val="114000"/>
              </a:lnSpc>
              <a:spcAft>
                <a:spcPts val="0"/>
              </a:spcAft>
            </a:pPr>
            <a:r>
              <a:rPr sz="1700" b="1" i="0">
                <a:solidFill>
                  <a:srgbClr val="12181D"/>
                </a:solidFill>
                <a:latin typeface="Calibri"/>
              </a:rPr>
              <a:t>Un outil</a:t>
            </a:r>
            <a:r>
              <a:rPr sz="1700" b="0" i="0">
                <a:solidFill>
                  <a:srgbClr val="12181D"/>
                </a:solidFill>
                <a:latin typeface="Calibri"/>
              </a:rPr>
              <a:t> que vous décidez de maîtriser vraiment, plutôt que d'en essayer dix.</a:t>
            </a:r>
          </a:p>
        </p:txBody>
      </p:sp>
      <p:sp>
        <p:nvSpPr>
          <p:cNvPr id="14" name="TextBox 13"/>
          <p:cNvSpPr txBox="1"/>
          <p:nvPr/>
        </p:nvSpPr>
        <p:spPr>
          <a:xfrm>
            <a:off x="777240" y="5149088"/>
            <a:ext cx="274320" cy="274320"/>
          </a:xfrm>
          <a:prstGeom prst="rect">
            <a:avLst/>
          </a:prstGeom>
          <a:noFill/>
        </p:spPr>
        <p:txBody>
          <a:bodyPr wrap="square" lIns="0" rIns="0" tIns="0" bIns="0" anchor="t">
            <a:spAutoFit/>
          </a:bodyPr>
          <a:lstStyle/>
          <a:p>
            <a:pPr algn="l">
              <a:lnSpc>
                <a:spcPct val="112000"/>
              </a:lnSpc>
              <a:spcAft>
                <a:spcPts val="0"/>
              </a:spcAft>
            </a:pPr>
            <a:r>
              <a:rPr sz="1700" b="1" i="0">
                <a:solidFill>
                  <a:srgbClr val="A32B57"/>
                </a:solidFill>
                <a:latin typeface="Calibri"/>
              </a:rPr>
              <a:t>—</a:t>
            </a:r>
          </a:p>
        </p:txBody>
      </p:sp>
      <p:sp>
        <p:nvSpPr>
          <p:cNvPr id="15" name="TextBox 14"/>
          <p:cNvSpPr txBox="1"/>
          <p:nvPr/>
        </p:nvSpPr>
        <p:spPr>
          <a:xfrm>
            <a:off x="1088136" y="5149088"/>
            <a:ext cx="5632704" cy="365760"/>
          </a:xfrm>
          <a:prstGeom prst="rect">
            <a:avLst/>
          </a:prstGeom>
          <a:noFill/>
        </p:spPr>
        <p:txBody>
          <a:bodyPr wrap="square" lIns="0" rIns="0" tIns="0" bIns="0" anchor="t">
            <a:spAutoFit/>
          </a:bodyPr>
          <a:lstStyle/>
          <a:p>
            <a:pPr algn="l">
              <a:lnSpc>
                <a:spcPct val="114000"/>
              </a:lnSpc>
              <a:spcAft>
                <a:spcPts val="0"/>
              </a:spcAft>
            </a:pPr>
            <a:r>
              <a:rPr sz="1700" b="1" i="0">
                <a:solidFill>
                  <a:srgbClr val="12181D"/>
                </a:solidFill>
                <a:latin typeface="Calibri"/>
              </a:rPr>
              <a:t>Une chose que vous ne ferez pas</a:t>
            </a:r>
            <a:r>
              <a:rPr sz="1700" b="0" i="0">
                <a:solidFill>
                  <a:srgbClr val="12181D"/>
                </a:solidFill>
                <a:latin typeface="Calibri"/>
              </a:rPr>
              <a:t>, tirée de votre charte d'hier.</a:t>
            </a:r>
          </a:p>
        </p:txBody>
      </p:sp>
      <p:sp>
        <p:nvSpPr>
          <p:cNvPr id="16" name="TextBox 15"/>
          <p:cNvSpPr txBox="1"/>
          <p:nvPr/>
        </p:nvSpPr>
        <p:spPr>
          <a:xfrm>
            <a:off x="777240" y="5976112"/>
            <a:ext cx="274320" cy="274320"/>
          </a:xfrm>
          <a:prstGeom prst="rect">
            <a:avLst/>
          </a:prstGeom>
          <a:noFill/>
        </p:spPr>
        <p:txBody>
          <a:bodyPr wrap="square" lIns="0" rIns="0" tIns="0" bIns="0" anchor="t">
            <a:spAutoFit/>
          </a:bodyPr>
          <a:lstStyle/>
          <a:p>
            <a:pPr algn="l">
              <a:lnSpc>
                <a:spcPct val="112000"/>
              </a:lnSpc>
              <a:spcAft>
                <a:spcPts val="0"/>
              </a:spcAft>
            </a:pPr>
            <a:r>
              <a:rPr sz="1700" b="1" i="0">
                <a:solidFill>
                  <a:srgbClr val="A32B57"/>
                </a:solidFill>
                <a:latin typeface="Calibri"/>
              </a:rPr>
              <a:t>—</a:t>
            </a:r>
          </a:p>
        </p:txBody>
      </p:sp>
      <p:sp>
        <p:nvSpPr>
          <p:cNvPr id="17" name="TextBox 16"/>
          <p:cNvSpPr txBox="1"/>
          <p:nvPr/>
        </p:nvSpPr>
        <p:spPr>
          <a:xfrm>
            <a:off x="1088136" y="5976112"/>
            <a:ext cx="5632704" cy="365760"/>
          </a:xfrm>
          <a:prstGeom prst="rect">
            <a:avLst/>
          </a:prstGeom>
          <a:noFill/>
        </p:spPr>
        <p:txBody>
          <a:bodyPr wrap="square" lIns="0" rIns="0" tIns="0" bIns="0" anchor="t">
            <a:spAutoFit/>
          </a:bodyPr>
          <a:lstStyle/>
          <a:p>
            <a:pPr algn="l">
              <a:lnSpc>
                <a:spcPct val="114000"/>
              </a:lnSpc>
              <a:spcAft>
                <a:spcPts val="0"/>
              </a:spcAft>
            </a:pPr>
            <a:r>
              <a:rPr sz="1700" b="1" i="0">
                <a:solidFill>
                  <a:srgbClr val="12181D"/>
                </a:solidFill>
                <a:latin typeface="Calibri"/>
              </a:rPr>
              <a:t>Une personne</a:t>
            </a:r>
            <a:r>
              <a:rPr sz="1700" b="0" i="0">
                <a:solidFill>
                  <a:srgbClr val="12181D"/>
                </a:solidFill>
                <a:latin typeface="Calibri"/>
              </a:rPr>
              <a:t> que vous embarquez avec vous — sinon vous serez seul dans trois semaines.</a:t>
            </a:r>
          </a:p>
        </p:txBody>
      </p:sp>
      <p:sp>
        <p:nvSpPr>
          <p:cNvPr id="18" name="Rectangle 17"/>
          <p:cNvSpPr/>
          <p:nvPr/>
        </p:nvSpPr>
        <p:spPr>
          <a:xfrm>
            <a:off x="777240" y="5623560"/>
            <a:ext cx="5943600" cy="822960"/>
          </a:xfrm>
          <a:prstGeom prst="rect">
            <a:avLst/>
          </a:prstGeom>
          <a:solidFill>
            <a:srgbClr val="F8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5623560"/>
            <a:ext cx="41148" cy="822960"/>
          </a:xfrm>
          <a:prstGeom prst="rect">
            <a:avLst/>
          </a:prstGeom>
          <a:solidFill>
            <a:srgbClr val="A32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33271" y="5824728"/>
            <a:ext cx="5486400" cy="228600"/>
          </a:xfrm>
          <a:prstGeom prst="rect">
            <a:avLst/>
          </a:prstGeom>
          <a:noFill/>
        </p:spPr>
        <p:txBody>
          <a:bodyPr wrap="square" lIns="0" rIns="0" tIns="0" bIns="0" anchor="t">
            <a:spAutoFit/>
          </a:bodyPr>
          <a:lstStyle/>
          <a:p>
            <a:pPr algn="l">
              <a:lnSpc>
                <a:spcPct val="112000"/>
              </a:lnSpc>
              <a:spcAft>
                <a:spcPts val="0"/>
              </a:spcAft>
            </a:pPr>
            <a:r>
              <a:rPr sz="1000" b="1" i="0" spc="140">
                <a:solidFill>
                  <a:srgbClr val="A32B57"/>
                </a:solidFill>
                <a:latin typeface="Consolas"/>
              </a:rPr>
              <a:t>LIVRABLE</a:t>
            </a:r>
          </a:p>
        </p:txBody>
      </p:sp>
      <p:sp>
        <p:nvSpPr>
          <p:cNvPr id="21" name="TextBox 20"/>
          <p:cNvSpPr txBox="1"/>
          <p:nvPr/>
        </p:nvSpPr>
        <p:spPr>
          <a:xfrm>
            <a:off x="1033271" y="6153912"/>
            <a:ext cx="5486400" cy="91439"/>
          </a:xfrm>
          <a:prstGeom prst="rect">
            <a:avLst/>
          </a:prstGeom>
          <a:noFill/>
        </p:spPr>
        <p:txBody>
          <a:bodyPr wrap="square" lIns="0" rIns="0" tIns="0" bIns="0" anchor="t">
            <a:spAutoFit/>
          </a:bodyPr>
          <a:lstStyle/>
          <a:p>
            <a:pPr algn="l">
              <a:lnSpc>
                <a:spcPct val="120000"/>
              </a:lnSpc>
              <a:spcAft>
                <a:spcPts val="0"/>
              </a:spcAft>
            </a:pPr>
            <a:r>
              <a:rPr sz="1500" b="0" i="0">
                <a:solidFill>
                  <a:srgbClr val="545F69"/>
                </a:solidFill>
                <a:latin typeface="Calibri"/>
              </a:rPr>
              <a:t>Une carte format A5, remplie, emportée — le dernier livrable de la formation.</a:t>
            </a:r>
          </a:p>
        </p:txBody>
      </p:sp>
      <p:sp>
        <p:nvSpPr>
          <p:cNvPr id="22" name="Rectangle 21"/>
          <p:cNvSpPr/>
          <p:nvPr/>
        </p:nvSpPr>
        <p:spPr>
          <a:xfrm>
            <a:off x="7269479" y="2286000"/>
            <a:ext cx="4144975" cy="3383280"/>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269479" y="2286000"/>
            <a:ext cx="41148" cy="3383280"/>
          </a:xfrm>
          <a:prstGeom prst="rect">
            <a:avLst/>
          </a:prstGeom>
          <a:solidFill>
            <a:srgbClr val="A32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525511" y="2487168"/>
            <a:ext cx="3687775" cy="228600"/>
          </a:xfrm>
          <a:prstGeom prst="rect">
            <a:avLst/>
          </a:prstGeom>
          <a:noFill/>
        </p:spPr>
        <p:txBody>
          <a:bodyPr wrap="square" lIns="0" rIns="0" tIns="0" bIns="0" anchor="t">
            <a:spAutoFit/>
          </a:bodyPr>
          <a:lstStyle/>
          <a:p>
            <a:pPr algn="l">
              <a:lnSpc>
                <a:spcPct val="112000"/>
              </a:lnSpc>
              <a:spcAft>
                <a:spcPts val="0"/>
              </a:spcAft>
            </a:pPr>
            <a:r>
              <a:rPr sz="1000" b="1" i="0" spc="140">
                <a:solidFill>
                  <a:srgbClr val="A32B57"/>
                </a:solidFill>
                <a:latin typeface="Consolas"/>
              </a:rPr>
              <a:t>DÉBRIEF EN GRAND GROUPE</a:t>
            </a:r>
          </a:p>
        </p:txBody>
      </p:sp>
      <p:sp>
        <p:nvSpPr>
          <p:cNvPr id="25" name="TextBox 24"/>
          <p:cNvSpPr txBox="1"/>
          <p:nvPr/>
        </p:nvSpPr>
        <p:spPr>
          <a:xfrm>
            <a:off x="7525511" y="2816352"/>
            <a:ext cx="3687775" cy="2651760"/>
          </a:xfrm>
          <a:prstGeom prst="rect">
            <a:avLst/>
          </a:prstGeom>
          <a:noFill/>
        </p:spPr>
        <p:txBody>
          <a:bodyPr wrap="square" lIns="0" rIns="0" tIns="0" bIns="0" anchor="t">
            <a:spAutoFit/>
          </a:bodyPr>
          <a:lstStyle/>
          <a:p>
            <a:pPr algn="l">
              <a:lnSpc>
                <a:spcPct val="120000"/>
              </a:lnSpc>
              <a:spcAft>
                <a:spcPts val="0"/>
              </a:spcAft>
            </a:pPr>
            <a:r>
              <a:rPr sz="1600" b="0" i="0">
                <a:solidFill>
                  <a:srgbClr val="545F69"/>
                </a:solidFill>
                <a:latin typeface="Calibri"/>
              </a:rPr>
              <a:t>Chacun lit à voix haute </a:t>
            </a:r>
            <a:r>
              <a:rPr sz="1600" b="1" i="0">
                <a:solidFill>
                  <a:srgbClr val="12181D"/>
                </a:solidFill>
                <a:latin typeface="Calibri"/>
              </a:rPr>
              <a:t>son unique outil</a:t>
            </a:r>
            <a:r>
              <a:rPr sz="1600" b="0" i="0">
                <a:solidFill>
                  <a:srgbClr val="545F69"/>
                </a:solidFill>
                <a:latin typeface="Calibri"/>
              </a:rPr>
              <a:t> et </a:t>
            </a:r>
            <a:r>
              <a:rPr sz="1600" b="1" i="0">
                <a:solidFill>
                  <a:srgbClr val="12181D"/>
                </a:solidFill>
                <a:latin typeface="Calibri"/>
              </a:rPr>
              <a:t>sa personne à embarquer</a:t>
            </a:r>
            <a:r>
              <a:rPr sz="1600" b="0" i="0">
                <a:solidFill>
                  <a:srgbClr val="545F69"/>
                </a:solidFill>
                <a:latin typeface="Calibri"/>
              </a:rPr>
              <a:t>. Cela crée des binômes dans la salle, et c'est ce qui fait survivre les acquis à la reprise du travail.</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77240" y="402336"/>
            <a:ext cx="10637215" cy="32004"/>
          </a:xfrm>
          <a:prstGeom prst="rect">
            <a:avLst/>
          </a:prstGeom>
          <a:solidFill>
            <a:srgbClr val="12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77240" y="502920"/>
            <a:ext cx="10637215" cy="274320"/>
          </a:xfrm>
          <a:prstGeom prst="rect">
            <a:avLst/>
          </a:prstGeom>
          <a:noFill/>
        </p:spPr>
        <p:txBody>
          <a:bodyPr wrap="square" lIns="0" rIns="0" tIns="0" bIns="0" anchor="t">
            <a:spAutoFit/>
          </a:bodyPr>
          <a:lstStyle/>
          <a:p>
            <a:pPr algn="l">
              <a:lnSpc>
                <a:spcPct val="112000"/>
              </a:lnSpc>
              <a:spcAft>
                <a:spcPts val="0"/>
              </a:spcAft>
            </a:pPr>
            <a:r>
              <a:rPr sz="1050" b="1" i="0" spc="150">
                <a:solidFill>
                  <a:srgbClr val="A32B57"/>
                </a:solidFill>
                <a:latin typeface="Consolas"/>
              </a:rPr>
              <a:t>SÉQUENCE 12</a:t>
            </a:r>
          </a:p>
        </p:txBody>
      </p:sp>
      <p:sp>
        <p:nvSpPr>
          <p:cNvPr id="4" name="TextBox 3"/>
          <p:cNvSpPr txBox="1"/>
          <p:nvPr/>
        </p:nvSpPr>
        <p:spPr>
          <a:xfrm>
            <a:off x="777240" y="868680"/>
            <a:ext cx="10637215" cy="1371600"/>
          </a:xfrm>
          <a:prstGeom prst="rect">
            <a:avLst/>
          </a:prstGeom>
          <a:noFill/>
        </p:spPr>
        <p:txBody>
          <a:bodyPr wrap="square" lIns="0" rIns="0" tIns="0" bIns="0" anchor="t">
            <a:spAutoFit/>
          </a:bodyPr>
          <a:lstStyle/>
          <a:p>
            <a:pPr algn="l">
              <a:lnSpc>
                <a:spcPct val="95000"/>
              </a:lnSpc>
              <a:spcAft>
                <a:spcPts val="0"/>
              </a:spcAft>
            </a:pPr>
            <a:r>
              <a:rPr sz="3800" b="1" i="0">
                <a:solidFill>
                  <a:srgbClr val="12181D"/>
                </a:solidFill>
                <a:latin typeface="Trebuchet MS"/>
              </a:rPr>
              <a:t>Rester à jour sans y passer ses soirées</a:t>
            </a:r>
          </a:p>
        </p:txBody>
      </p:sp>
      <p:sp>
        <p:nvSpPr>
          <p:cNvPr id="5" name="TextBox 4"/>
          <p:cNvSpPr txBox="1"/>
          <p:nvPr/>
        </p:nvSpPr>
        <p:spPr>
          <a:xfrm>
            <a:off x="777240" y="2331720"/>
            <a:ext cx="274320" cy="274320"/>
          </a:xfrm>
          <a:prstGeom prst="rect">
            <a:avLst/>
          </a:prstGeom>
          <a:noFill/>
        </p:spPr>
        <p:txBody>
          <a:bodyPr wrap="square" lIns="0" rIns="0" tIns="0" bIns="0" anchor="t">
            <a:spAutoFit/>
          </a:bodyPr>
          <a:lstStyle/>
          <a:p>
            <a:pPr algn="l">
              <a:lnSpc>
                <a:spcPct val="112000"/>
              </a:lnSpc>
              <a:spcAft>
                <a:spcPts val="0"/>
              </a:spcAft>
            </a:pPr>
            <a:r>
              <a:rPr sz="1600" b="1" i="0">
                <a:solidFill>
                  <a:srgbClr val="A32B57"/>
                </a:solidFill>
                <a:latin typeface="Calibri"/>
              </a:rPr>
              <a:t>—</a:t>
            </a:r>
          </a:p>
        </p:txBody>
      </p:sp>
      <p:sp>
        <p:nvSpPr>
          <p:cNvPr id="6" name="TextBox 5"/>
          <p:cNvSpPr txBox="1"/>
          <p:nvPr/>
        </p:nvSpPr>
        <p:spPr>
          <a:xfrm>
            <a:off x="1088136" y="2331720"/>
            <a:ext cx="8741664" cy="365760"/>
          </a:xfrm>
          <a:prstGeom prst="rect">
            <a:avLst/>
          </a:prstGeom>
          <a:noFill/>
        </p:spPr>
        <p:txBody>
          <a:bodyPr wrap="square" lIns="0" rIns="0" tIns="0" bIns="0" anchor="t">
            <a:spAutoFit/>
          </a:bodyPr>
          <a:lstStyle/>
          <a:p>
            <a:pPr algn="l">
              <a:lnSpc>
                <a:spcPct val="114000"/>
              </a:lnSpc>
              <a:spcAft>
                <a:spcPts val="0"/>
              </a:spcAft>
            </a:pPr>
            <a:r>
              <a:rPr sz="1600" b="1" i="0">
                <a:solidFill>
                  <a:srgbClr val="12181D"/>
                </a:solidFill>
                <a:latin typeface="Calibri"/>
              </a:rPr>
              <a:t>Une heure par semaine, pas plus.</a:t>
            </a:r>
            <a:r>
              <a:rPr sz="1600" b="0" i="0">
                <a:solidFill>
                  <a:srgbClr val="545F69"/>
                </a:solidFill>
                <a:latin typeface="Calibri"/>
              </a:rPr>
              <a:t> Le domaine produit plus d'actualité qu'un humain n'en peut absorber, et l'essentiel de cette actualité ne vous concerne pas.</a:t>
            </a:r>
          </a:p>
        </p:txBody>
      </p:sp>
      <p:sp>
        <p:nvSpPr>
          <p:cNvPr id="7" name="TextBox 6"/>
          <p:cNvSpPr txBox="1"/>
          <p:nvPr/>
        </p:nvSpPr>
        <p:spPr>
          <a:xfrm>
            <a:off x="777240" y="3126232"/>
            <a:ext cx="274320" cy="274320"/>
          </a:xfrm>
          <a:prstGeom prst="rect">
            <a:avLst/>
          </a:prstGeom>
          <a:noFill/>
        </p:spPr>
        <p:txBody>
          <a:bodyPr wrap="square" lIns="0" rIns="0" tIns="0" bIns="0" anchor="t">
            <a:spAutoFit/>
          </a:bodyPr>
          <a:lstStyle/>
          <a:p>
            <a:pPr algn="l">
              <a:lnSpc>
                <a:spcPct val="112000"/>
              </a:lnSpc>
              <a:spcAft>
                <a:spcPts val="0"/>
              </a:spcAft>
            </a:pPr>
            <a:r>
              <a:rPr sz="1600" b="1" i="0">
                <a:solidFill>
                  <a:srgbClr val="A32B57"/>
                </a:solidFill>
                <a:latin typeface="Calibri"/>
              </a:rPr>
              <a:t>—</a:t>
            </a:r>
          </a:p>
        </p:txBody>
      </p:sp>
      <p:sp>
        <p:nvSpPr>
          <p:cNvPr id="8" name="TextBox 7"/>
          <p:cNvSpPr txBox="1"/>
          <p:nvPr/>
        </p:nvSpPr>
        <p:spPr>
          <a:xfrm>
            <a:off x="1088136" y="3126232"/>
            <a:ext cx="8741664" cy="365760"/>
          </a:xfrm>
          <a:prstGeom prst="rect">
            <a:avLst/>
          </a:prstGeom>
          <a:noFill/>
        </p:spPr>
        <p:txBody>
          <a:bodyPr wrap="square" lIns="0" rIns="0" tIns="0" bIns="0" anchor="t">
            <a:spAutoFit/>
          </a:bodyPr>
          <a:lstStyle/>
          <a:p>
            <a:pPr algn="l">
              <a:lnSpc>
                <a:spcPct val="114000"/>
              </a:lnSpc>
              <a:spcAft>
                <a:spcPts val="0"/>
              </a:spcAft>
            </a:pPr>
            <a:r>
              <a:rPr sz="1600" b="1" i="0">
                <a:solidFill>
                  <a:srgbClr val="12181D"/>
                </a:solidFill>
                <a:latin typeface="Calibri"/>
              </a:rPr>
              <a:t>Deux ou trois sources maximum</a:t>
            </a:r>
            <a:r>
              <a:rPr sz="1600" b="0" i="0">
                <a:solidFill>
                  <a:srgbClr val="545F69"/>
                </a:solidFill>
                <a:latin typeface="Calibri"/>
              </a:rPr>
              <a:t>, choisies pour leur capacité à trier — une lettre d'information de synthèse vaut mieux que dix comptes à suivre.</a:t>
            </a:r>
          </a:p>
        </p:txBody>
      </p:sp>
      <p:sp>
        <p:nvSpPr>
          <p:cNvPr id="9" name="TextBox 8"/>
          <p:cNvSpPr txBox="1"/>
          <p:nvPr/>
        </p:nvSpPr>
        <p:spPr>
          <a:xfrm>
            <a:off x="777240" y="3920743"/>
            <a:ext cx="274320" cy="274320"/>
          </a:xfrm>
          <a:prstGeom prst="rect">
            <a:avLst/>
          </a:prstGeom>
          <a:noFill/>
        </p:spPr>
        <p:txBody>
          <a:bodyPr wrap="square" lIns="0" rIns="0" tIns="0" bIns="0" anchor="t">
            <a:spAutoFit/>
          </a:bodyPr>
          <a:lstStyle/>
          <a:p>
            <a:pPr algn="l">
              <a:lnSpc>
                <a:spcPct val="112000"/>
              </a:lnSpc>
              <a:spcAft>
                <a:spcPts val="0"/>
              </a:spcAft>
            </a:pPr>
            <a:r>
              <a:rPr sz="1600" b="1" i="0">
                <a:solidFill>
                  <a:srgbClr val="A32B57"/>
                </a:solidFill>
                <a:latin typeface="Calibri"/>
              </a:rPr>
              <a:t>—</a:t>
            </a:r>
          </a:p>
        </p:txBody>
      </p:sp>
      <p:sp>
        <p:nvSpPr>
          <p:cNvPr id="10" name="TextBox 9"/>
          <p:cNvSpPr txBox="1"/>
          <p:nvPr/>
        </p:nvSpPr>
        <p:spPr>
          <a:xfrm>
            <a:off x="1088136" y="3920743"/>
            <a:ext cx="8741664" cy="365760"/>
          </a:xfrm>
          <a:prstGeom prst="rect">
            <a:avLst/>
          </a:prstGeom>
          <a:noFill/>
        </p:spPr>
        <p:txBody>
          <a:bodyPr wrap="square" lIns="0" rIns="0" tIns="0" bIns="0" anchor="t">
            <a:spAutoFit/>
          </a:bodyPr>
          <a:lstStyle/>
          <a:p>
            <a:pPr algn="l">
              <a:lnSpc>
                <a:spcPct val="114000"/>
              </a:lnSpc>
              <a:spcAft>
                <a:spcPts val="0"/>
              </a:spcAft>
            </a:pPr>
            <a:r>
              <a:rPr sz="1600" b="1" i="0">
                <a:solidFill>
                  <a:srgbClr val="12181D"/>
                </a:solidFill>
                <a:latin typeface="Calibri"/>
              </a:rPr>
              <a:t>Le meilleur apprentissage reste l'usage.</a:t>
            </a:r>
            <a:r>
              <a:rPr sz="1600" b="0" i="0">
                <a:solidFill>
                  <a:srgbClr val="545F69"/>
                </a:solidFill>
                <a:latin typeface="Calibri"/>
              </a:rPr>
              <a:t> Une heure passée sur une vraie tâche vous apprendra plus que dix articles sur le dernier modèle sorti.</a:t>
            </a:r>
          </a:p>
        </p:txBody>
      </p:sp>
      <p:sp>
        <p:nvSpPr>
          <p:cNvPr id="11" name="TextBox 10"/>
          <p:cNvSpPr txBox="1"/>
          <p:nvPr/>
        </p:nvSpPr>
        <p:spPr>
          <a:xfrm>
            <a:off x="777240" y="4715256"/>
            <a:ext cx="274320" cy="274320"/>
          </a:xfrm>
          <a:prstGeom prst="rect">
            <a:avLst/>
          </a:prstGeom>
          <a:noFill/>
        </p:spPr>
        <p:txBody>
          <a:bodyPr wrap="square" lIns="0" rIns="0" tIns="0" bIns="0" anchor="t">
            <a:spAutoFit/>
          </a:bodyPr>
          <a:lstStyle/>
          <a:p>
            <a:pPr algn="l">
              <a:lnSpc>
                <a:spcPct val="112000"/>
              </a:lnSpc>
              <a:spcAft>
                <a:spcPts val="0"/>
              </a:spcAft>
            </a:pPr>
            <a:r>
              <a:rPr sz="1600" b="1" i="0">
                <a:solidFill>
                  <a:srgbClr val="A32B57"/>
                </a:solidFill>
                <a:latin typeface="Calibri"/>
              </a:rPr>
              <a:t>—</a:t>
            </a:r>
          </a:p>
        </p:txBody>
      </p:sp>
      <p:sp>
        <p:nvSpPr>
          <p:cNvPr id="12" name="TextBox 11"/>
          <p:cNvSpPr txBox="1"/>
          <p:nvPr/>
        </p:nvSpPr>
        <p:spPr>
          <a:xfrm>
            <a:off x="1088136" y="4715256"/>
            <a:ext cx="8741664" cy="365760"/>
          </a:xfrm>
          <a:prstGeom prst="rect">
            <a:avLst/>
          </a:prstGeom>
          <a:noFill/>
        </p:spPr>
        <p:txBody>
          <a:bodyPr wrap="square" lIns="0" rIns="0" tIns="0" bIns="0" anchor="t">
            <a:spAutoFit/>
          </a:bodyPr>
          <a:lstStyle/>
          <a:p>
            <a:pPr algn="l">
              <a:lnSpc>
                <a:spcPct val="114000"/>
              </a:lnSpc>
              <a:spcAft>
                <a:spcPts val="0"/>
              </a:spcAft>
            </a:pPr>
            <a:r>
              <a:rPr sz="1600" b="1" i="0">
                <a:solidFill>
                  <a:srgbClr val="12181D"/>
                </a:solidFill>
                <a:latin typeface="Calibri"/>
              </a:rPr>
              <a:t>Retestez tous les six mois</a:t>
            </a:r>
            <a:r>
              <a:rPr sz="1600" b="0" i="0">
                <a:solidFill>
                  <a:srgbClr val="545F69"/>
                </a:solidFill>
                <a:latin typeface="Calibri"/>
              </a:rPr>
              <a:t> ce qui n'avait pas marché. La moitié de vos échecs d'aujourd'hui seront résolus par une mise à jour que personne ne vous annoncera.</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77240" y="402336"/>
            <a:ext cx="10637215" cy="32004"/>
          </a:xfrm>
          <a:prstGeom prst="rect">
            <a:avLst/>
          </a:prstGeom>
          <a:solidFill>
            <a:srgbClr val="12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77240" y="502920"/>
            <a:ext cx="10637215" cy="274320"/>
          </a:xfrm>
          <a:prstGeom prst="rect">
            <a:avLst/>
          </a:prstGeom>
          <a:noFill/>
        </p:spPr>
        <p:txBody>
          <a:bodyPr wrap="square" lIns="0" rIns="0" tIns="0" bIns="0" anchor="t">
            <a:spAutoFit/>
          </a:bodyPr>
          <a:lstStyle/>
          <a:p>
            <a:pPr algn="l">
              <a:lnSpc>
                <a:spcPct val="112000"/>
              </a:lnSpc>
              <a:spcAft>
                <a:spcPts val="0"/>
              </a:spcAft>
            </a:pPr>
            <a:r>
              <a:rPr sz="1050" b="1" i="0" spc="150">
                <a:solidFill>
                  <a:srgbClr val="12181D"/>
                </a:solidFill>
                <a:latin typeface="Consolas"/>
              </a:rPr>
              <a:t>CLÔTURE</a:t>
            </a:r>
          </a:p>
        </p:txBody>
      </p:sp>
      <p:sp>
        <p:nvSpPr>
          <p:cNvPr id="4" name="TextBox 3"/>
          <p:cNvSpPr txBox="1"/>
          <p:nvPr/>
        </p:nvSpPr>
        <p:spPr>
          <a:xfrm>
            <a:off x="777240" y="868680"/>
            <a:ext cx="10637215" cy="1371600"/>
          </a:xfrm>
          <a:prstGeom prst="rect">
            <a:avLst/>
          </a:prstGeom>
          <a:noFill/>
        </p:spPr>
        <p:txBody>
          <a:bodyPr wrap="square" lIns="0" rIns="0" tIns="0" bIns="0" anchor="t">
            <a:spAutoFit/>
          </a:bodyPr>
          <a:lstStyle/>
          <a:p>
            <a:pPr algn="l">
              <a:lnSpc>
                <a:spcPct val="95000"/>
              </a:lnSpc>
              <a:spcAft>
                <a:spcPts val="0"/>
              </a:spcAft>
            </a:pPr>
            <a:r>
              <a:rPr sz="3800" b="1" i="0">
                <a:solidFill>
                  <a:srgbClr val="12181D"/>
                </a:solidFill>
                <a:latin typeface="Trebuchet MS"/>
              </a:rPr>
              <a:t>Quiz final — et une petite boucle</a:t>
            </a:r>
          </a:p>
        </p:txBody>
      </p:sp>
      <p:sp>
        <p:nvSpPr>
          <p:cNvPr id="5" name="Rectangle 4"/>
          <p:cNvSpPr/>
          <p:nvPr/>
        </p:nvSpPr>
        <p:spPr>
          <a:xfrm>
            <a:off x="777240" y="2286000"/>
            <a:ext cx="5120640" cy="2103120"/>
          </a:xfrm>
          <a:prstGeom prst="rect">
            <a:avLst/>
          </a:prstGeom>
          <a:solidFill>
            <a:srgbClr val="E4EF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777240" y="2286000"/>
            <a:ext cx="41148" cy="2103120"/>
          </a:xfrm>
          <a:prstGeom prst="rect">
            <a:avLst/>
          </a:prstGeom>
          <a:solidFill>
            <a:srgbClr val="0B6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33271" y="2487168"/>
            <a:ext cx="4663440" cy="228600"/>
          </a:xfrm>
          <a:prstGeom prst="rect">
            <a:avLst/>
          </a:prstGeom>
          <a:noFill/>
        </p:spPr>
        <p:txBody>
          <a:bodyPr wrap="square" lIns="0" rIns="0" tIns="0" bIns="0" anchor="t">
            <a:spAutoFit/>
          </a:bodyPr>
          <a:lstStyle/>
          <a:p>
            <a:pPr algn="l">
              <a:lnSpc>
                <a:spcPct val="112000"/>
              </a:lnSpc>
              <a:spcAft>
                <a:spcPts val="0"/>
              </a:spcAft>
            </a:pPr>
            <a:r>
              <a:rPr sz="1000" b="1" i="0" spc="140">
                <a:solidFill>
                  <a:srgbClr val="0B655E"/>
                </a:solidFill>
                <a:latin typeface="Consolas"/>
              </a:rPr>
              <a:t>COMMENT ON LE FABRIQUE</a:t>
            </a:r>
          </a:p>
        </p:txBody>
      </p:sp>
      <p:sp>
        <p:nvSpPr>
          <p:cNvPr id="8" name="TextBox 7"/>
          <p:cNvSpPr txBox="1"/>
          <p:nvPr/>
        </p:nvSpPr>
        <p:spPr>
          <a:xfrm>
            <a:off x="1033271" y="2816352"/>
            <a:ext cx="4663440" cy="1371599"/>
          </a:xfrm>
          <a:prstGeom prst="rect">
            <a:avLst/>
          </a:prstGeom>
          <a:noFill/>
        </p:spPr>
        <p:txBody>
          <a:bodyPr wrap="square" lIns="0" rIns="0" tIns="0" bIns="0" anchor="t">
            <a:spAutoFit/>
          </a:bodyPr>
          <a:lstStyle/>
          <a:p>
            <a:pPr algn="l">
              <a:lnSpc>
                <a:spcPct val="120000"/>
              </a:lnSpc>
              <a:spcAft>
                <a:spcPts val="0"/>
              </a:spcAft>
            </a:pPr>
            <a:r>
              <a:rPr sz="1600" b="0" i="0">
                <a:solidFill>
                  <a:srgbClr val="545F69"/>
                </a:solidFill>
                <a:latin typeface="Calibri"/>
              </a:rPr>
              <a:t>Je charge les supports de ces deux jours dans NotebookLM, devant vous, et je lui demande de générer un questionnaire de dix questions.</a:t>
            </a:r>
          </a:p>
          <a:p>
            <a:pPr algn="l">
              <a:lnSpc>
                <a:spcPct val="120000"/>
              </a:lnSpc>
              <a:spcAft>
                <a:spcPts val="0"/>
              </a:spcAft>
            </a:pPr>
          </a:p>
          <a:p>
            <a:pPr algn="l">
              <a:lnSpc>
                <a:spcPct val="120000"/>
              </a:lnSpc>
              <a:spcAft>
                <a:spcPts val="0"/>
              </a:spcAft>
            </a:pPr>
            <a:r>
              <a:rPr sz="1600" b="0" i="0">
                <a:solidFill>
                  <a:srgbClr val="545F69"/>
                </a:solidFill>
                <a:latin typeface="Calibri"/>
              </a:rPr>
              <a:t>Temps nécessaire : deux minutes.</a:t>
            </a:r>
          </a:p>
        </p:txBody>
      </p:sp>
      <p:sp>
        <p:nvSpPr>
          <p:cNvPr id="9" name="Rectangle 8"/>
          <p:cNvSpPr/>
          <p:nvPr/>
        </p:nvSpPr>
        <p:spPr>
          <a:xfrm>
            <a:off x="6720840" y="2286000"/>
            <a:ext cx="4572000" cy="2103120"/>
          </a:xfrm>
          <a:prstGeom prst="rect">
            <a:avLst/>
          </a:prstGeom>
          <a:solidFill>
            <a:srgbClr val="F8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6720840" y="2286000"/>
            <a:ext cx="41148" cy="2103120"/>
          </a:xfrm>
          <a:prstGeom prst="rect">
            <a:avLst/>
          </a:prstGeom>
          <a:solidFill>
            <a:srgbClr val="A32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976872" y="2487168"/>
            <a:ext cx="4114800" cy="228600"/>
          </a:xfrm>
          <a:prstGeom prst="rect">
            <a:avLst/>
          </a:prstGeom>
          <a:noFill/>
        </p:spPr>
        <p:txBody>
          <a:bodyPr wrap="square" lIns="0" rIns="0" tIns="0" bIns="0" anchor="t">
            <a:spAutoFit/>
          </a:bodyPr>
          <a:lstStyle/>
          <a:p>
            <a:pPr algn="l">
              <a:lnSpc>
                <a:spcPct val="112000"/>
              </a:lnSpc>
              <a:spcAft>
                <a:spcPts val="0"/>
              </a:spcAft>
            </a:pPr>
            <a:r>
              <a:rPr sz="1000" b="1" i="0" spc="140">
                <a:solidFill>
                  <a:srgbClr val="A32B57"/>
                </a:solidFill>
                <a:latin typeface="Consolas"/>
              </a:rPr>
              <a:t>CE QUE ÇA DÉMONTRE</a:t>
            </a:r>
          </a:p>
        </p:txBody>
      </p:sp>
      <p:sp>
        <p:nvSpPr>
          <p:cNvPr id="12" name="TextBox 11"/>
          <p:cNvSpPr txBox="1"/>
          <p:nvPr/>
        </p:nvSpPr>
        <p:spPr>
          <a:xfrm>
            <a:off x="6976872" y="2816352"/>
            <a:ext cx="4114800" cy="1371599"/>
          </a:xfrm>
          <a:prstGeom prst="rect">
            <a:avLst/>
          </a:prstGeom>
          <a:noFill/>
        </p:spPr>
        <p:txBody>
          <a:bodyPr wrap="square" lIns="0" rIns="0" tIns="0" bIns="0" anchor="t">
            <a:spAutoFit/>
          </a:bodyPr>
          <a:lstStyle/>
          <a:p>
            <a:pPr algn="l">
              <a:lnSpc>
                <a:spcPct val="120000"/>
              </a:lnSpc>
              <a:spcAft>
                <a:spcPts val="0"/>
              </a:spcAft>
            </a:pPr>
            <a:r>
              <a:rPr sz="1600" b="0" i="0">
                <a:solidFill>
                  <a:srgbClr val="545F69"/>
                </a:solidFill>
                <a:latin typeface="Calibri"/>
              </a:rPr>
              <a:t>Vous savez maintenant faire exactement cela.</a:t>
            </a:r>
          </a:p>
          <a:p>
            <a:pPr algn="l">
              <a:lnSpc>
                <a:spcPct val="120000"/>
              </a:lnSpc>
              <a:spcAft>
                <a:spcPts val="0"/>
              </a:spcAft>
            </a:pPr>
          </a:p>
          <a:p>
            <a:pPr algn="l">
              <a:lnSpc>
                <a:spcPct val="120000"/>
              </a:lnSpc>
              <a:spcAft>
                <a:spcPts val="0"/>
              </a:spcAft>
            </a:pPr>
            <a:r>
              <a:rPr sz="1600" b="0" i="0">
                <a:solidFill>
                  <a:srgbClr val="545F69"/>
                </a:solidFill>
                <a:latin typeface="Calibri"/>
              </a:rPr>
              <a:t>Pour vos propres formations, vos procédures internes, l'intégration d'un nouvel arrivant.</a:t>
            </a:r>
          </a:p>
        </p:txBody>
      </p:sp>
      <p:sp>
        <p:nvSpPr>
          <p:cNvPr id="13" name="TextBox 12"/>
          <p:cNvSpPr txBox="1"/>
          <p:nvPr/>
        </p:nvSpPr>
        <p:spPr>
          <a:xfrm>
            <a:off x="777240" y="4709160"/>
            <a:ext cx="10241280" cy="731520"/>
          </a:xfrm>
          <a:prstGeom prst="rect">
            <a:avLst/>
          </a:prstGeom>
          <a:noFill/>
        </p:spPr>
        <p:txBody>
          <a:bodyPr wrap="square" lIns="0" rIns="0" tIns="0" bIns="0" anchor="t">
            <a:spAutoFit/>
          </a:bodyPr>
          <a:lstStyle/>
          <a:p>
            <a:pPr algn="l">
              <a:lnSpc>
                <a:spcPct val="130000"/>
              </a:lnSpc>
              <a:spcAft>
                <a:spcPts val="0"/>
              </a:spcAft>
            </a:pPr>
            <a:r>
              <a:rPr sz="1900" b="1" i="0">
                <a:solidFill>
                  <a:srgbClr val="12181D"/>
                </a:solidFill>
                <a:latin typeface="Calibri"/>
              </a:rPr>
              <a:t>La question qui compte vraiment, avant de se quitter :</a:t>
            </a:r>
            <a:r>
              <a:rPr sz="1900" b="0" i="0">
                <a:solidFill>
                  <a:srgbClr val="545F69"/>
                </a:solidFill>
                <a:latin typeface="Calibri"/>
              </a:rPr>
              <a:t> qu'est-ce que vous allez faire dès demain matin ?</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77240" y="402336"/>
            <a:ext cx="10637215" cy="32004"/>
          </a:xfrm>
          <a:prstGeom prst="rect">
            <a:avLst/>
          </a:prstGeom>
          <a:solidFill>
            <a:srgbClr val="12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77240" y="502920"/>
            <a:ext cx="10637215" cy="274320"/>
          </a:xfrm>
          <a:prstGeom prst="rect">
            <a:avLst/>
          </a:prstGeom>
          <a:noFill/>
        </p:spPr>
        <p:txBody>
          <a:bodyPr wrap="square" lIns="0" rIns="0" tIns="0" bIns="0" anchor="t">
            <a:spAutoFit/>
          </a:bodyPr>
          <a:lstStyle/>
          <a:p>
            <a:pPr algn="l">
              <a:lnSpc>
                <a:spcPct val="112000"/>
              </a:lnSpc>
              <a:spcAft>
                <a:spcPts val="0"/>
              </a:spcAft>
            </a:pPr>
            <a:r>
              <a:rPr sz="1050" b="1" i="0" spc="150">
                <a:solidFill>
                  <a:srgbClr val="12181D"/>
                </a:solidFill>
                <a:latin typeface="Consolas"/>
              </a:rPr>
              <a:t>CLÔTURE</a:t>
            </a:r>
          </a:p>
        </p:txBody>
      </p:sp>
      <p:sp>
        <p:nvSpPr>
          <p:cNvPr id="4" name="TextBox 3"/>
          <p:cNvSpPr txBox="1"/>
          <p:nvPr/>
        </p:nvSpPr>
        <p:spPr>
          <a:xfrm>
            <a:off x="777240" y="868680"/>
            <a:ext cx="10637215" cy="1371600"/>
          </a:xfrm>
          <a:prstGeom prst="rect">
            <a:avLst/>
          </a:prstGeom>
          <a:noFill/>
        </p:spPr>
        <p:txBody>
          <a:bodyPr wrap="square" lIns="0" rIns="0" tIns="0" bIns="0" anchor="t">
            <a:spAutoFit/>
          </a:bodyPr>
          <a:lstStyle/>
          <a:p>
            <a:pPr algn="l">
              <a:lnSpc>
                <a:spcPct val="95000"/>
              </a:lnSpc>
              <a:spcAft>
                <a:spcPts val="0"/>
              </a:spcAft>
            </a:pPr>
            <a:r>
              <a:rPr sz="3800" b="1" i="0">
                <a:solidFill>
                  <a:srgbClr val="12181D"/>
                </a:solidFill>
                <a:latin typeface="Trebuchet MS"/>
              </a:rPr>
              <a:t>Ce que vous emportez</a:t>
            </a:r>
          </a:p>
        </p:txBody>
      </p:sp>
      <p:sp>
        <p:nvSpPr>
          <p:cNvPr id="5" name="TextBox 4"/>
          <p:cNvSpPr txBox="1"/>
          <p:nvPr/>
        </p:nvSpPr>
        <p:spPr>
          <a:xfrm>
            <a:off x="777240" y="2286000"/>
            <a:ext cx="274320" cy="274320"/>
          </a:xfrm>
          <a:prstGeom prst="rect">
            <a:avLst/>
          </a:prstGeom>
          <a:noFill/>
        </p:spPr>
        <p:txBody>
          <a:bodyPr wrap="square" lIns="0" rIns="0" tIns="0" bIns="0" anchor="t">
            <a:spAutoFit/>
          </a:bodyPr>
          <a:lstStyle/>
          <a:p>
            <a:pPr algn="l">
              <a:lnSpc>
                <a:spcPct val="112000"/>
              </a:lnSpc>
              <a:spcAft>
                <a:spcPts val="0"/>
              </a:spcAft>
            </a:pPr>
            <a:r>
              <a:rPr sz="1650" b="1" i="0">
                <a:solidFill>
                  <a:srgbClr val="12181D"/>
                </a:solidFill>
                <a:latin typeface="Calibri"/>
              </a:rPr>
              <a:t>—</a:t>
            </a:r>
          </a:p>
        </p:txBody>
      </p:sp>
      <p:sp>
        <p:nvSpPr>
          <p:cNvPr id="6" name="TextBox 5"/>
          <p:cNvSpPr txBox="1"/>
          <p:nvPr/>
        </p:nvSpPr>
        <p:spPr>
          <a:xfrm>
            <a:off x="1088136" y="2286000"/>
            <a:ext cx="4809744" cy="365760"/>
          </a:xfrm>
          <a:prstGeom prst="rect">
            <a:avLst/>
          </a:prstGeom>
          <a:noFill/>
        </p:spPr>
        <p:txBody>
          <a:bodyPr wrap="square" lIns="0" rIns="0" tIns="0" bIns="0" anchor="t">
            <a:spAutoFit/>
          </a:bodyPr>
          <a:lstStyle/>
          <a:p>
            <a:pPr algn="l">
              <a:lnSpc>
                <a:spcPct val="114000"/>
              </a:lnSpc>
              <a:spcAft>
                <a:spcPts val="0"/>
              </a:spcAft>
            </a:pPr>
            <a:r>
              <a:rPr sz="1650" b="1" i="0">
                <a:solidFill>
                  <a:srgbClr val="12181D"/>
                </a:solidFill>
                <a:latin typeface="Calibri"/>
              </a:rPr>
              <a:t>Le manuel du participant</a:t>
            </a:r>
            <a:r>
              <a:rPr sz="1650" b="0" i="0">
                <a:solidFill>
                  <a:srgbClr val="545F69"/>
                </a:solidFill>
                <a:latin typeface="Calibri"/>
              </a:rPr>
              <a:t> — tout le contenu, les exercices, les liens</a:t>
            </a:r>
          </a:p>
        </p:txBody>
      </p:sp>
      <p:sp>
        <p:nvSpPr>
          <p:cNvPr id="7" name="TextBox 6"/>
          <p:cNvSpPr txBox="1"/>
          <p:nvPr/>
        </p:nvSpPr>
        <p:spPr>
          <a:xfrm>
            <a:off x="777240" y="3096768"/>
            <a:ext cx="274320" cy="274320"/>
          </a:xfrm>
          <a:prstGeom prst="rect">
            <a:avLst/>
          </a:prstGeom>
          <a:noFill/>
        </p:spPr>
        <p:txBody>
          <a:bodyPr wrap="square" lIns="0" rIns="0" tIns="0" bIns="0" anchor="t">
            <a:spAutoFit/>
          </a:bodyPr>
          <a:lstStyle/>
          <a:p>
            <a:pPr algn="l">
              <a:lnSpc>
                <a:spcPct val="112000"/>
              </a:lnSpc>
              <a:spcAft>
                <a:spcPts val="0"/>
              </a:spcAft>
            </a:pPr>
            <a:r>
              <a:rPr sz="1650" b="1" i="0">
                <a:solidFill>
                  <a:srgbClr val="12181D"/>
                </a:solidFill>
                <a:latin typeface="Calibri"/>
              </a:rPr>
              <a:t>—</a:t>
            </a:r>
          </a:p>
        </p:txBody>
      </p:sp>
      <p:sp>
        <p:nvSpPr>
          <p:cNvPr id="8" name="TextBox 7"/>
          <p:cNvSpPr txBox="1"/>
          <p:nvPr/>
        </p:nvSpPr>
        <p:spPr>
          <a:xfrm>
            <a:off x="1088136" y="3096768"/>
            <a:ext cx="4809744" cy="365760"/>
          </a:xfrm>
          <a:prstGeom prst="rect">
            <a:avLst/>
          </a:prstGeom>
          <a:noFill/>
        </p:spPr>
        <p:txBody>
          <a:bodyPr wrap="square" lIns="0" rIns="0" tIns="0" bIns="0" anchor="t">
            <a:spAutoFit/>
          </a:bodyPr>
          <a:lstStyle/>
          <a:p>
            <a:pPr algn="l">
              <a:lnSpc>
                <a:spcPct val="114000"/>
              </a:lnSpc>
              <a:spcAft>
                <a:spcPts val="0"/>
              </a:spcAft>
            </a:pPr>
            <a:r>
              <a:rPr sz="1650" b="1" i="0">
                <a:solidFill>
                  <a:srgbClr val="12181D"/>
                </a:solidFill>
                <a:latin typeface="Calibri"/>
              </a:rPr>
              <a:t>Le cahier d'exercices</a:t>
            </a:r>
            <a:r>
              <a:rPr sz="1650" b="0" i="0">
                <a:solidFill>
                  <a:srgbClr val="545F69"/>
                </a:solidFill>
                <a:latin typeface="Calibri"/>
              </a:rPr>
              <a:t> — les fiches remplies pendant les deux jours</a:t>
            </a:r>
          </a:p>
        </p:txBody>
      </p:sp>
      <p:sp>
        <p:nvSpPr>
          <p:cNvPr id="9" name="TextBox 8"/>
          <p:cNvSpPr txBox="1"/>
          <p:nvPr/>
        </p:nvSpPr>
        <p:spPr>
          <a:xfrm>
            <a:off x="777240" y="3907536"/>
            <a:ext cx="274320" cy="274320"/>
          </a:xfrm>
          <a:prstGeom prst="rect">
            <a:avLst/>
          </a:prstGeom>
          <a:noFill/>
        </p:spPr>
        <p:txBody>
          <a:bodyPr wrap="square" lIns="0" rIns="0" tIns="0" bIns="0" anchor="t">
            <a:spAutoFit/>
          </a:bodyPr>
          <a:lstStyle/>
          <a:p>
            <a:pPr algn="l">
              <a:lnSpc>
                <a:spcPct val="112000"/>
              </a:lnSpc>
              <a:spcAft>
                <a:spcPts val="0"/>
              </a:spcAft>
            </a:pPr>
            <a:r>
              <a:rPr sz="1650" b="1" i="0">
                <a:solidFill>
                  <a:srgbClr val="12181D"/>
                </a:solidFill>
                <a:latin typeface="Calibri"/>
              </a:rPr>
              <a:t>—</a:t>
            </a:r>
          </a:p>
        </p:txBody>
      </p:sp>
      <p:sp>
        <p:nvSpPr>
          <p:cNvPr id="10" name="TextBox 9"/>
          <p:cNvSpPr txBox="1"/>
          <p:nvPr/>
        </p:nvSpPr>
        <p:spPr>
          <a:xfrm>
            <a:off x="1088136" y="3907536"/>
            <a:ext cx="4809744" cy="365760"/>
          </a:xfrm>
          <a:prstGeom prst="rect">
            <a:avLst/>
          </a:prstGeom>
          <a:noFill/>
        </p:spPr>
        <p:txBody>
          <a:bodyPr wrap="square" lIns="0" rIns="0" tIns="0" bIns="0" anchor="t">
            <a:spAutoFit/>
          </a:bodyPr>
          <a:lstStyle/>
          <a:p>
            <a:pPr algn="l">
              <a:lnSpc>
                <a:spcPct val="114000"/>
              </a:lnSpc>
              <a:spcAft>
                <a:spcPts val="0"/>
              </a:spcAft>
            </a:pPr>
            <a:r>
              <a:rPr sz="1650" b="1" i="0">
                <a:solidFill>
                  <a:srgbClr val="12181D"/>
                </a:solidFill>
                <a:latin typeface="Calibri"/>
              </a:rPr>
              <a:t>Le mémo de poche</a:t>
            </a:r>
            <a:r>
              <a:rPr sz="1650" b="0" i="0">
                <a:solidFill>
                  <a:srgbClr val="545F69"/>
                </a:solidFill>
                <a:latin typeface="Calibri"/>
              </a:rPr>
              <a:t> — C.O.P.A.I.N. et la règle des trois feux</a:t>
            </a:r>
          </a:p>
        </p:txBody>
      </p:sp>
      <p:sp>
        <p:nvSpPr>
          <p:cNvPr id="11" name="TextBox 10"/>
          <p:cNvSpPr txBox="1"/>
          <p:nvPr/>
        </p:nvSpPr>
        <p:spPr>
          <a:xfrm>
            <a:off x="777240" y="4718304"/>
            <a:ext cx="274320" cy="274320"/>
          </a:xfrm>
          <a:prstGeom prst="rect">
            <a:avLst/>
          </a:prstGeom>
          <a:noFill/>
        </p:spPr>
        <p:txBody>
          <a:bodyPr wrap="square" lIns="0" rIns="0" tIns="0" bIns="0" anchor="t">
            <a:spAutoFit/>
          </a:bodyPr>
          <a:lstStyle/>
          <a:p>
            <a:pPr algn="l">
              <a:lnSpc>
                <a:spcPct val="112000"/>
              </a:lnSpc>
              <a:spcAft>
                <a:spcPts val="0"/>
              </a:spcAft>
            </a:pPr>
            <a:r>
              <a:rPr sz="1650" b="1" i="0">
                <a:solidFill>
                  <a:srgbClr val="12181D"/>
                </a:solidFill>
                <a:latin typeface="Calibri"/>
              </a:rPr>
              <a:t>—</a:t>
            </a:r>
          </a:p>
        </p:txBody>
      </p:sp>
      <p:sp>
        <p:nvSpPr>
          <p:cNvPr id="12" name="TextBox 11"/>
          <p:cNvSpPr txBox="1"/>
          <p:nvPr/>
        </p:nvSpPr>
        <p:spPr>
          <a:xfrm>
            <a:off x="1088136" y="4718304"/>
            <a:ext cx="4809744" cy="365760"/>
          </a:xfrm>
          <a:prstGeom prst="rect">
            <a:avLst/>
          </a:prstGeom>
          <a:noFill/>
        </p:spPr>
        <p:txBody>
          <a:bodyPr wrap="square" lIns="0" rIns="0" tIns="0" bIns="0" anchor="t">
            <a:spAutoFit/>
          </a:bodyPr>
          <a:lstStyle/>
          <a:p>
            <a:pPr algn="l">
              <a:lnSpc>
                <a:spcPct val="114000"/>
              </a:lnSpc>
              <a:spcAft>
                <a:spcPts val="0"/>
              </a:spcAft>
            </a:pPr>
            <a:r>
              <a:rPr sz="1650" b="1" i="0">
                <a:solidFill>
                  <a:srgbClr val="12181D"/>
                </a:solidFill>
                <a:latin typeface="Calibri"/>
              </a:rPr>
              <a:t>Les huit infographies</a:t>
            </a:r>
            <a:r>
              <a:rPr sz="1650" b="0" i="0">
                <a:solidFill>
                  <a:srgbClr val="545F69"/>
                </a:solidFill>
                <a:latin typeface="Calibri"/>
              </a:rPr>
              <a:t> — imprimables et projetables</a:t>
            </a:r>
          </a:p>
        </p:txBody>
      </p:sp>
      <p:sp>
        <p:nvSpPr>
          <p:cNvPr id="13" name="Rectangle 12"/>
          <p:cNvSpPr/>
          <p:nvPr/>
        </p:nvSpPr>
        <p:spPr>
          <a:xfrm>
            <a:off x="6720840" y="2286000"/>
            <a:ext cx="4572000" cy="2377440"/>
          </a:xfrm>
          <a:prstGeom prst="rect">
            <a:avLst/>
          </a:prstGeom>
          <a:solidFill>
            <a:srgbClr val="E4EF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6720840" y="2286000"/>
            <a:ext cx="41148" cy="2377440"/>
          </a:xfrm>
          <a:prstGeom prst="rect">
            <a:avLst/>
          </a:prstGeom>
          <a:solidFill>
            <a:srgbClr val="0B6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976872" y="2487168"/>
            <a:ext cx="4114800" cy="228600"/>
          </a:xfrm>
          <a:prstGeom prst="rect">
            <a:avLst/>
          </a:prstGeom>
          <a:noFill/>
        </p:spPr>
        <p:txBody>
          <a:bodyPr wrap="square" lIns="0" rIns="0" tIns="0" bIns="0" anchor="t">
            <a:spAutoFit/>
          </a:bodyPr>
          <a:lstStyle/>
          <a:p>
            <a:pPr algn="l">
              <a:lnSpc>
                <a:spcPct val="112000"/>
              </a:lnSpc>
              <a:spcAft>
                <a:spcPts val="0"/>
              </a:spcAft>
            </a:pPr>
            <a:r>
              <a:rPr sz="1000" b="1" i="0" spc="140">
                <a:solidFill>
                  <a:srgbClr val="0B655E"/>
                </a:solidFill>
                <a:latin typeface="Consolas"/>
              </a:rPr>
              <a:t>ET VOS QUATRE LIVRABLES</a:t>
            </a:r>
          </a:p>
        </p:txBody>
      </p:sp>
      <p:sp>
        <p:nvSpPr>
          <p:cNvPr id="16" name="TextBox 15"/>
          <p:cNvSpPr txBox="1"/>
          <p:nvPr/>
        </p:nvSpPr>
        <p:spPr>
          <a:xfrm>
            <a:off x="6976872" y="2816352"/>
            <a:ext cx="4114800" cy="1645920"/>
          </a:xfrm>
          <a:prstGeom prst="rect">
            <a:avLst/>
          </a:prstGeom>
          <a:noFill/>
        </p:spPr>
        <p:txBody>
          <a:bodyPr wrap="square" lIns="0" rIns="0" tIns="0" bIns="0" anchor="t">
            <a:spAutoFit/>
          </a:bodyPr>
          <a:lstStyle/>
          <a:p>
            <a:pPr algn="l">
              <a:lnSpc>
                <a:spcPct val="120000"/>
              </a:lnSpc>
              <a:spcAft>
                <a:spcPts val="0"/>
              </a:spcAft>
            </a:pPr>
            <a:r>
              <a:rPr sz="1550" b="0" i="0">
                <a:solidFill>
                  <a:srgbClr val="545F69"/>
                </a:solidFill>
                <a:latin typeface="Calibri"/>
              </a:rPr>
              <a:t>Votre charte personnelle.</a:t>
            </a:r>
          </a:p>
          <a:p>
            <a:pPr algn="l">
              <a:lnSpc>
                <a:spcPct val="120000"/>
              </a:lnSpc>
              <a:spcAft>
                <a:spcPts val="0"/>
              </a:spcAft>
            </a:pPr>
            <a:r>
              <a:rPr sz="1550" b="0" i="0">
                <a:solidFill>
                  <a:srgbClr val="545F69"/>
                </a:solidFill>
                <a:latin typeface="Calibri"/>
              </a:rPr>
              <a:t>Votre assistant configuré.</a:t>
            </a:r>
          </a:p>
          <a:p>
            <a:pPr algn="l">
              <a:lnSpc>
                <a:spcPct val="120000"/>
              </a:lnSpc>
              <a:spcAft>
                <a:spcPts val="0"/>
              </a:spcAft>
            </a:pPr>
            <a:r>
              <a:rPr sz="1550" b="0" i="0">
                <a:solidFill>
                  <a:srgbClr val="545F69"/>
                </a:solidFill>
                <a:latin typeface="Calibri"/>
              </a:rPr>
              <a:t>Votre carte des tâches automatisables.</a:t>
            </a:r>
          </a:p>
          <a:p>
            <a:pPr algn="l">
              <a:lnSpc>
                <a:spcPct val="120000"/>
              </a:lnSpc>
              <a:spcAft>
                <a:spcPts val="0"/>
              </a:spcAft>
            </a:pPr>
            <a:r>
              <a:rPr sz="1550" b="0" i="0">
                <a:solidFill>
                  <a:srgbClr val="545F69"/>
                </a:solidFill>
                <a:latin typeface="Calibri"/>
              </a:rPr>
              <a:t>Votre plan à trente jours.</a:t>
            </a:r>
          </a:p>
          <a:p>
            <a:pPr algn="l">
              <a:lnSpc>
                <a:spcPct val="120000"/>
              </a:lnSpc>
              <a:spcAft>
                <a:spcPts val="0"/>
              </a:spcAft>
            </a:pPr>
          </a:p>
          <a:p>
            <a:pPr algn="l">
              <a:lnSpc>
                <a:spcPct val="120000"/>
              </a:lnSpc>
              <a:spcAft>
                <a:spcPts val="0"/>
              </a:spcAft>
            </a:pPr>
            <a:r>
              <a:rPr sz="1550" b="0" i="0">
                <a:solidFill>
                  <a:srgbClr val="545F69"/>
                </a:solidFill>
                <a:latin typeface="Calibri"/>
              </a:rPr>
              <a:t>Plus l'attestation de participation, qui documente votre conformité à l'article 4.</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777240" y="2377440"/>
            <a:ext cx="1463040" cy="54864"/>
          </a:xfrm>
          <a:prstGeom prst="rect">
            <a:avLst/>
          </a:prstGeom>
          <a:solidFill>
            <a:srgbClr val="A32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2834640"/>
            <a:ext cx="9601200" cy="1280160"/>
          </a:xfrm>
          <a:prstGeom prst="rect">
            <a:avLst/>
          </a:prstGeom>
          <a:noFill/>
        </p:spPr>
        <p:txBody>
          <a:bodyPr wrap="square" lIns="0" rIns="0" tIns="0" bIns="0" anchor="t">
            <a:spAutoFit/>
          </a:bodyPr>
          <a:lstStyle/>
          <a:p>
            <a:pPr algn="l">
              <a:lnSpc>
                <a:spcPct val="98000"/>
              </a:lnSpc>
              <a:spcAft>
                <a:spcPts val="0"/>
              </a:spcAft>
            </a:pPr>
            <a:r>
              <a:rPr sz="4800" b="1" i="0">
                <a:solidFill>
                  <a:srgbClr val="FFFFFF"/>
                </a:solidFill>
                <a:latin typeface="Trebuchet MS"/>
              </a:rPr>
              <a:t>Merci — et à vous de jouer.</a:t>
            </a:r>
          </a:p>
        </p:txBody>
      </p:sp>
      <p:sp>
        <p:nvSpPr>
          <p:cNvPr id="5" name="TextBox 4"/>
          <p:cNvSpPr txBox="1"/>
          <p:nvPr/>
        </p:nvSpPr>
        <p:spPr>
          <a:xfrm>
            <a:off x="777240" y="4114800"/>
            <a:ext cx="8686800" cy="1097280"/>
          </a:xfrm>
          <a:prstGeom prst="rect">
            <a:avLst/>
          </a:prstGeom>
          <a:noFill/>
        </p:spPr>
        <p:txBody>
          <a:bodyPr wrap="square" lIns="0" rIns="0" tIns="0" bIns="0" anchor="t">
            <a:spAutoFit/>
          </a:bodyPr>
          <a:lstStyle/>
          <a:p>
            <a:pPr algn="l">
              <a:lnSpc>
                <a:spcPct val="135000"/>
              </a:lnSpc>
              <a:spcAft>
                <a:spcPts val="0"/>
              </a:spcAft>
            </a:pPr>
            <a:r>
              <a:rPr sz="1900" b="0" i="0">
                <a:solidFill>
                  <a:srgbClr val="A8B4BC"/>
                </a:solidFill>
                <a:latin typeface="Calibri"/>
              </a:rPr>
              <a:t>Le seul indicateur qui compte n'est pas ce que vous avez compris aujourd'hui,</a:t>
            </a:r>
          </a:p>
          <a:p>
            <a:pPr algn="l">
              <a:lnSpc>
                <a:spcPct val="135000"/>
              </a:lnSpc>
              <a:spcAft>
                <a:spcPts val="0"/>
              </a:spcAft>
            </a:pPr>
            <a:r>
              <a:rPr sz="1900" b="0" i="0">
                <a:solidFill>
                  <a:srgbClr val="A8B4BC"/>
                </a:solidFill>
                <a:latin typeface="Calibri"/>
              </a:rPr>
              <a:t>mais ce que vous ferez différemment lundi matin.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